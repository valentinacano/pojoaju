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47187b7a8c44d6" /><Relationship Type="http://schemas.openxmlformats.org/officeDocument/2006/relationships/extended-properties" Target="/docProps/app.xml" Id="Ra751d8d877374294" /><Relationship Type="http://schemas.openxmlformats.org/officeDocument/2006/relationships/officeDocument" Target="/ppt/presentation.xml" Id="R04d4144cd79f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b91e562e2241c7"/>
  </p:sldMasterIdLst>
  <p:notesMasterIdLst>
    <p:notesMasterId xmlns:r="http://schemas.openxmlformats.org/officeDocument/2006/relationships" r:id="Rfa8f81fdec234456"/>
  </p:notesMasterIdLst>
  <p:sldIdLst>
    <p:sldId xmlns:r="http://schemas.openxmlformats.org/officeDocument/2006/relationships" id="256" r:id="Rd7a7b9f21af442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83536ed4c54c53" /><Relationship Type="http://schemas.openxmlformats.org/officeDocument/2006/relationships/slideMaster" Target="/ppt/slideMasters/slideMaster1.xml" Id="R6db91e562e2241c7" /><Relationship Type="http://schemas.openxmlformats.org/officeDocument/2006/relationships/notesMaster" Target="/ppt/notesMasters/notesMaster1.xml" Id="Rfa8f81fdec234456" /><Relationship Type="http://schemas.openxmlformats.org/officeDocument/2006/relationships/presProps" Target="/ppt/presProps.xml" Id="Rac1cf9869bdf4265" /><Relationship Type="http://schemas.openxmlformats.org/officeDocument/2006/relationships/tableStyles" Target="/ppt/tableStyles.xml" Id="R3b8a088e82a444cf" /><Relationship Type="http://schemas.openxmlformats.org/officeDocument/2006/relationships/slide" Target="/ppt/slides/slide1.xml" Id="Rd7a7b9f21af442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8a84628db1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69993ef494f2b" /><Relationship Type="http://schemas.openxmlformats.org/officeDocument/2006/relationships/notesMaster" Target="/ppt/notesMasters/notesMaster1.xml" Id="Ra6186b9cffd3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/Users/nicoespinola/Desktop/Projects/pojoaju/ml/model.py</a:t>
            </a:r>
          </a:p>
          <a:p xmlns:a="http://schemas.openxmlformats.org/drawingml/2006/main">
            <a:r>
              <a:t>- /Users/nicoespinola/Desktop/Projects/pojoaju/app/config.py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a34df464945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00ec254bd40b9" /><Relationship Type="http://schemas.openxmlformats.org/officeDocument/2006/relationships/slideLayout" Target="/ppt/slideLayouts/slideLayout1.xml" Id="R806bb02748a8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bb02748a8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acf3fd71b401f" /><Relationship Type="http://schemas.openxmlformats.org/officeDocument/2006/relationships/notesSlide" Target="/ppt/notesSlides/notesSlide1.xml" Id="R00e79d7bfc8d45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">
            <a:extLst xmlns:a="http://schemas.openxmlformats.org/drawingml/2006/main">
              <a:ext uri="{FF2B5EF4-FFF2-40B4-BE49-F238E27FC236}">
                <a16:creationId xmlns:a16="http://schemas.microsoft.com/office/drawing/2014/main" id="{DEED5013-3E95-4508-904C-B621D795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ARQUITECTURA DE RECONOCIMIENTO DE SEÑAS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8260C5-C634-4811-B0F2-329157E9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Las capas transforman movimiento en probabilidades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D8B0885-2E7C-4B89-A435-C9B0895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576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5761"/>
                </a:solidFill>
                <a:latin typeface="Arial"/>
                <a:ea typeface="Arial"/>
                <a:cs typeface="Arial"/>
              </a:rPr>
              <a:t>Pojoaju procesa una secuencia de 15 frames y selecciona la palabra más probable.</a:t>
            </a:r>
          </a:p>
        </p:txBody>
      </p:sp>
      <p:sp>
        <p:nvSpPr>
          <p:cNvPr id="4" name="arrow-1">
            <a:extLst xmlns:a="http://schemas.openxmlformats.org/drawingml/2006/main">
              <a:ext uri="{FF2B5EF4-FFF2-40B4-BE49-F238E27FC236}">
                <a16:creationId xmlns:a16="http://schemas.microsoft.com/office/drawing/2014/main" id="{6D22CDD2-6F3D-4EFB-9F5C-ECC7F22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47975"/>
            <a:ext cx="1809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rrow-2">
            <a:extLst xmlns:a="http://schemas.openxmlformats.org/drawingml/2006/main">
              <a:ext uri="{FF2B5EF4-FFF2-40B4-BE49-F238E27FC236}">
                <a16:creationId xmlns:a16="http://schemas.microsoft.com/office/drawing/2014/main" id="{F0EA9451-A3C4-44D5-BFBB-2F244F42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47975"/>
            <a:ext cx="1809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row-3">
            <a:extLst xmlns:a="http://schemas.openxmlformats.org/drawingml/2006/main">
              <a:ext uri="{FF2B5EF4-FFF2-40B4-BE49-F238E27FC236}">
                <a16:creationId xmlns:a16="http://schemas.microsoft.com/office/drawing/2014/main" id="{F4A97DC0-DC74-46DC-B5BE-A37DEF4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47975"/>
            <a:ext cx="1809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rrow-4">
            <a:extLst xmlns:a="http://schemas.openxmlformats.org/drawingml/2006/main">
              <a:ext uri="{FF2B5EF4-FFF2-40B4-BE49-F238E27FC236}">
                <a16:creationId xmlns:a16="http://schemas.microsoft.com/office/drawing/2014/main" id="{C6DFFDCC-1785-47A5-BEAC-D03F0F2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47975"/>
            <a:ext cx="1809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rrow-5">
            <a:extLst xmlns:a="http://schemas.openxmlformats.org/drawingml/2006/main">
              <a:ext uri="{FF2B5EF4-FFF2-40B4-BE49-F238E27FC236}">
                <a16:creationId xmlns:a16="http://schemas.microsoft.com/office/drawing/2014/main" id="{6025BA36-F162-4EB5-98A6-B9BCBC93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47975"/>
            <a:ext cx="1809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arrow-6">
            <a:extLst xmlns:a="http://schemas.openxmlformats.org/drawingml/2006/main">
              <a:ext uri="{FF2B5EF4-FFF2-40B4-BE49-F238E27FC236}">
                <a16:creationId xmlns:a16="http://schemas.microsoft.com/office/drawing/2014/main" id="{8EF68665-BC7E-42DB-96DA-864C3C21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47975"/>
            <a:ext cx="1809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tage-Entrada">
            <a:extLst xmlns:a="http://schemas.openxmlformats.org/drawingml/2006/main">
              <a:ext uri="{FF2B5EF4-FFF2-40B4-BE49-F238E27FC236}">
                <a16:creationId xmlns:a16="http://schemas.microsoft.com/office/drawing/2014/main" id="{EC2B9458-D175-4F71-BC59-021722B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1" name="title-Entrada">
            <a:extLst xmlns:a="http://schemas.openxmlformats.org/drawingml/2006/main">
              <a:ext uri="{FF2B5EF4-FFF2-40B4-BE49-F238E27FC236}">
                <a16:creationId xmlns:a16="http://schemas.microsoft.com/office/drawing/2014/main" id="{682A8324-8289-4CCC-A37E-4989B07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12" name="detail-Entrada">
            <a:extLst xmlns:a="http://schemas.openxmlformats.org/drawingml/2006/main">
              <a:ext uri="{FF2B5EF4-FFF2-40B4-BE49-F238E27FC236}">
                <a16:creationId xmlns:a16="http://schemas.microsoft.com/office/drawing/2014/main" id="{2038C239-3C31-4231-8A1B-8BA85891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15 frames</a:t>
            </a:r>
          </a:p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×</a:t>
            </a:r>
          </a:p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150 rasgos</a:t>
            </a:r>
          </a:p>
        </p:txBody>
      </p:sp>
      <p:sp>
        <p:nvSpPr>
          <p:cNvPr id="13" name="stage-LSTM 48">
            <a:extLst xmlns:a="http://schemas.openxmlformats.org/drawingml/2006/main">
              <a:ext uri="{FF2B5EF4-FFF2-40B4-BE49-F238E27FC236}">
                <a16:creationId xmlns:a16="http://schemas.microsoft.com/office/drawing/2014/main" id="{FEE43810-FECC-4569-92F0-87E34D8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4" name="title-LSTM 48">
            <a:extLst xmlns:a="http://schemas.openxmlformats.org/drawingml/2006/main">
              <a:ext uri="{FF2B5EF4-FFF2-40B4-BE49-F238E27FC236}">
                <a16:creationId xmlns:a16="http://schemas.microsoft.com/office/drawing/2014/main" id="{522F0025-3A0B-4A99-8582-AA9469CB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57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7C8"/>
                </a:solidFill>
                <a:latin typeface="Arial"/>
                <a:ea typeface="Arial"/>
                <a:cs typeface="Arial"/>
              </a:rPr>
              <a:t>LSTM 48</a:t>
            </a:r>
          </a:p>
        </p:txBody>
      </p:sp>
      <p:sp>
        <p:nvSpPr>
          <p:cNvPr id="15" name="detail-LSTM 48">
            <a:extLst xmlns:a="http://schemas.openxmlformats.org/drawingml/2006/main">
              <a:ext uri="{FF2B5EF4-FFF2-40B4-BE49-F238E27FC236}">
                <a16:creationId xmlns:a16="http://schemas.microsoft.com/office/drawing/2014/main" id="{91DDA52B-7B9D-47B1-825A-9BCC14A2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Conserva la secuencia temporal</a:t>
            </a:r>
          </a:p>
        </p:txBody>
      </p:sp>
      <p:sp>
        <p:nvSpPr>
          <p:cNvPr id="16" name="stage-BN +&#10;Dropout">
            <a:extLst xmlns:a="http://schemas.openxmlformats.org/drawingml/2006/main">
              <a:ext uri="{FF2B5EF4-FFF2-40B4-BE49-F238E27FC236}">
                <a16:creationId xmlns:a16="http://schemas.microsoft.com/office/drawing/2014/main" id="{16C67C5F-AB41-4D40-9031-52AEE49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7" name="title-BN +&#10;Dropout">
            <a:extLst xmlns:a="http://schemas.openxmlformats.org/drawingml/2006/main">
              <a:ext uri="{FF2B5EF4-FFF2-40B4-BE49-F238E27FC236}">
                <a16:creationId xmlns:a16="http://schemas.microsoft.com/office/drawing/2014/main" id="{8129848C-DF03-4F69-98D9-3A0A6BA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BN +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Dropout</a:t>
            </a:r>
          </a:p>
        </p:txBody>
      </p:sp>
      <p:sp>
        <p:nvSpPr>
          <p:cNvPr id="18" name="detail-BN +&#10;Dropout">
            <a:extLst xmlns:a="http://schemas.openxmlformats.org/drawingml/2006/main">
              <a:ext uri="{FF2B5EF4-FFF2-40B4-BE49-F238E27FC236}">
                <a16:creationId xmlns:a16="http://schemas.microsoft.com/office/drawing/2014/main" id="{A9912AFE-D198-40F6-8C82-CE75DB4A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Estabiliza y reduce el sobreajuste</a:t>
            </a:r>
          </a:p>
        </p:txBody>
      </p:sp>
      <p:sp>
        <p:nvSpPr>
          <p:cNvPr id="19" name="stage-LSTM 64">
            <a:extLst xmlns:a="http://schemas.openxmlformats.org/drawingml/2006/main">
              <a:ext uri="{FF2B5EF4-FFF2-40B4-BE49-F238E27FC236}">
                <a16:creationId xmlns:a16="http://schemas.microsoft.com/office/drawing/2014/main" id="{7440CE4E-31F5-4767-8236-86355A2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0" name="title-LSTM 64">
            <a:extLst xmlns:a="http://schemas.openxmlformats.org/drawingml/2006/main">
              <a:ext uri="{FF2B5EF4-FFF2-40B4-BE49-F238E27FC236}">
                <a16:creationId xmlns:a16="http://schemas.microsoft.com/office/drawing/2014/main" id="{D3D323C8-FFDD-43EC-A629-C880EFD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57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7C8"/>
                </a:solidFill>
                <a:latin typeface="Arial"/>
                <a:ea typeface="Arial"/>
                <a:cs typeface="Arial"/>
              </a:rPr>
              <a:t>LSTM 64</a:t>
            </a:r>
          </a:p>
        </p:txBody>
      </p:sp>
      <p:sp>
        <p:nvSpPr>
          <p:cNvPr id="21" name="detail-LSTM 64">
            <a:extLst xmlns:a="http://schemas.openxmlformats.org/drawingml/2006/main">
              <a:ext uri="{FF2B5EF4-FFF2-40B4-BE49-F238E27FC236}">
                <a16:creationId xmlns:a16="http://schemas.microsoft.com/office/drawing/2014/main" id="{5306F25D-45F5-43DF-84BF-F5C63D0E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Resume la seña completa</a:t>
            </a:r>
          </a:p>
        </p:txBody>
      </p:sp>
      <p:sp>
        <p:nvSpPr>
          <p:cNvPr id="22" name="stage-BN +&#10;Dropout">
            <a:extLst xmlns:a="http://schemas.openxmlformats.org/drawingml/2006/main">
              <a:ext uri="{FF2B5EF4-FFF2-40B4-BE49-F238E27FC236}">
                <a16:creationId xmlns:a16="http://schemas.microsoft.com/office/drawing/2014/main" id="{C6DC9760-B82C-4EF3-80C8-7246DE5E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23" name="title-BN +&#10;Dropout">
            <a:extLst xmlns:a="http://schemas.openxmlformats.org/drawingml/2006/main">
              <a:ext uri="{FF2B5EF4-FFF2-40B4-BE49-F238E27FC236}">
                <a16:creationId xmlns:a16="http://schemas.microsoft.com/office/drawing/2014/main" id="{9FA03C14-9614-474B-8CFF-07B580C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BN +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Dropout</a:t>
            </a:r>
          </a:p>
        </p:txBody>
      </p:sp>
      <p:sp>
        <p:nvSpPr>
          <p:cNvPr id="24" name="detail-BN +&#10;Dropout">
            <a:extLst xmlns:a="http://schemas.openxmlformats.org/drawingml/2006/main">
              <a:ext uri="{FF2B5EF4-FFF2-40B4-BE49-F238E27FC236}">
                <a16:creationId xmlns:a16="http://schemas.microsoft.com/office/drawing/2014/main" id="{D093AAF6-DC03-415E-9B22-506F386C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Ayuda a generalizar</a:t>
            </a:r>
          </a:p>
        </p:txBody>
      </p:sp>
      <p:sp>
        <p:nvSpPr>
          <p:cNvPr id="25" name="stage-Dense">
            <a:extLst xmlns:a="http://schemas.openxmlformats.org/drawingml/2006/main">
              <a:ext uri="{FF2B5EF4-FFF2-40B4-BE49-F238E27FC236}">
                <a16:creationId xmlns:a16="http://schemas.microsoft.com/office/drawing/2014/main" id="{99C5D9E8-96B2-46F2-8E22-1ACF63C6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26" name="title-Dense">
            <a:extLst xmlns:a="http://schemas.openxmlformats.org/drawingml/2006/main">
              <a:ext uri="{FF2B5EF4-FFF2-40B4-BE49-F238E27FC236}">
                <a16:creationId xmlns:a16="http://schemas.microsoft.com/office/drawing/2014/main" id="{76A8103E-062D-46AA-97E7-374CC61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27" name="detail-Dense">
            <a:extLst xmlns:a="http://schemas.openxmlformats.org/drawingml/2006/main">
              <a:ext uri="{FF2B5EF4-FFF2-40B4-BE49-F238E27FC236}">
                <a16:creationId xmlns:a16="http://schemas.microsoft.com/office/drawing/2014/main" id="{983A535C-7252-4333-92B3-31888BA8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64 ReLU → BN</a:t>
            </a:r>
          </a:p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→ 32 ReLU</a:t>
            </a:r>
          </a:p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Combina rasgos</a:t>
            </a:r>
          </a:p>
        </p:txBody>
      </p:sp>
      <p:sp>
        <p:nvSpPr>
          <p:cNvPr id="28" name="stage-Softmax">
            <a:extLst xmlns:a="http://schemas.openxmlformats.org/drawingml/2006/main">
              <a:ext uri="{FF2B5EF4-FFF2-40B4-BE49-F238E27FC236}">
                <a16:creationId xmlns:a16="http://schemas.microsoft.com/office/drawing/2014/main" id="{1A70BE3B-C5F2-41DF-AB76-FB1E97DC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1333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9" name="title-Softmax">
            <a:extLst xmlns:a="http://schemas.openxmlformats.org/drawingml/2006/main">
              <a:ext uri="{FF2B5EF4-FFF2-40B4-BE49-F238E27FC236}">
                <a16:creationId xmlns:a16="http://schemas.microsoft.com/office/drawing/2014/main" id="{E01C7D83-7E9B-4777-AD59-CEAC9863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90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57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7C8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30" name="detail-Softmax">
            <a:extLst xmlns:a="http://schemas.openxmlformats.org/drawingml/2006/main">
              <a:ext uri="{FF2B5EF4-FFF2-40B4-BE49-F238E27FC236}">
                <a16:creationId xmlns:a16="http://schemas.microsoft.com/office/drawing/2014/main" id="{3435C052-7628-4C9D-861D-CC59CFE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432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0343B"/>
                </a:solidFill>
                <a:latin typeface="Arial"/>
                <a:ea typeface="Arial"/>
                <a:cs typeface="Arial"/>
              </a:rPr>
              <a:t>Una probabilidad por cada palabra</a:t>
            </a:r>
          </a:p>
        </p:txBody>
      </p:sp>
      <p:sp>
        <p:nvSpPr>
          <p:cNvPr id="3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5705671-073D-4D49-ACF9-DCDDDEC9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706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8DC"/>
            </a:solidFill>
            <a:prstDash val="solid"/>
          </a:ln>
        </p:spPr>
      </p:sp>
      <p:sp>
        <p:nvSpPr>
          <p:cNvPr id="32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1059360C-5F05-4065-A5A5-BB0BC258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Cómo se reparte el trabajo</a:t>
            </a:r>
          </a:p>
        </p:txBody>
      </p:sp>
      <p:sp>
        <p:nvSpPr>
          <p:cNvPr id="33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2E877BA0-2FF7-4F1F-AEC4-FF4D16C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30343B"/>
                </a:solidFill>
                <a:latin typeface="Arial"/>
                <a:ea typeface="Arial"/>
                <a:cs typeface="Arial"/>
              </a:rPr>
              <a:t>LSTM aprende el patrón temporal  •  Dense aprende pesos y sesgos  •  Batch Normalization, Dropout y L2 ayudan a generalizar  •  Softmax convierte puntajes en probabilidades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C1FD5762-A9CD-4FB1-81EE-821AFE1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47A8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47A84"/>
                </a:solidFill>
                <a:latin typeface="Arial"/>
                <a:ea typeface="Arial"/>
                <a:cs typeface="Arial"/>
              </a:rPr>
              <a:t>Modelo actual de Pojoaju · ml/model.py</a:t>
            </a:r>
          </a:p>
        </p:txBody>
      </p:sp>
      <p:sp>
        <p:nvSpPr>
          <p:cNvPr id="3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BC1ED1-E27C-4810-BC56-870C4A27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72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47A8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47A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8122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2026-08-21T01:18:02.2750000Z</dcterms:created>
  <dcterms:modified xsi:type="dcterms:W3CDTF">2026-08-21T01:18:02.2750000Z</dcterms:modified>
</coreProperties>
</file>