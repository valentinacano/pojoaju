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9b43520f2c424e" /><Relationship Type="http://schemas.openxmlformats.org/officeDocument/2006/relationships/extended-properties" Target="/docProps/app.xml" Id="R61bcc7caccf54aeb" /><Relationship Type="http://schemas.openxmlformats.org/officeDocument/2006/relationships/officeDocument" Target="/ppt/presentation.xml" Id="Rde11781b7225448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1dc30a7e7e74146"/>
  </p:sldMasterIdLst>
  <p:notesMasterIdLst>
    <p:notesMasterId xmlns:r="http://schemas.openxmlformats.org/officeDocument/2006/relationships" r:id="R1af78d2d268e44c5"/>
  </p:notesMasterIdLst>
  <p:sldIdLst>
    <p:sldId xmlns:r="http://schemas.openxmlformats.org/officeDocument/2006/relationships" id="256" r:id="Rc288ed0a977a4153"/>
    <p:sldId xmlns:r="http://schemas.openxmlformats.org/officeDocument/2006/relationships" id="257" r:id="R27a8a17f55d94b49"/>
    <p:sldId xmlns:r="http://schemas.openxmlformats.org/officeDocument/2006/relationships" id="258" r:id="R8f087b2c75594631"/>
    <p:sldId xmlns:r="http://schemas.openxmlformats.org/officeDocument/2006/relationships" id="259" r:id="Rf0da8c740b39469e"/>
    <p:sldId xmlns:r="http://schemas.openxmlformats.org/officeDocument/2006/relationships" id="260" r:id="Rc935bdfc0c4c4fd4"/>
    <p:sldId xmlns:r="http://schemas.openxmlformats.org/officeDocument/2006/relationships" id="261" r:id="Rc72b3c433c314489"/>
    <p:sldId xmlns:r="http://schemas.openxmlformats.org/officeDocument/2006/relationships" id="262" r:id="R657d3d5e0b894fc2"/>
    <p:sldId xmlns:r="http://schemas.openxmlformats.org/officeDocument/2006/relationships" id="263" r:id="R25ad746deff44325"/>
    <p:sldId xmlns:r="http://schemas.openxmlformats.org/officeDocument/2006/relationships" id="264" r:id="R1635ffef7ed2493b"/>
    <p:sldId xmlns:r="http://schemas.openxmlformats.org/officeDocument/2006/relationships" id="265" r:id="R3a7b76a9628d49a4"/>
    <p:sldId xmlns:r="http://schemas.openxmlformats.org/officeDocument/2006/relationships" id="266" r:id="Rb084e0329c744942"/>
    <p:sldId xmlns:r="http://schemas.openxmlformats.org/officeDocument/2006/relationships" id="267" r:id="R5e3ce043ad634803"/>
    <p:sldId xmlns:r="http://schemas.openxmlformats.org/officeDocument/2006/relationships" id="268" r:id="R85575416a5de41f9"/>
    <p:sldId xmlns:r="http://schemas.openxmlformats.org/officeDocument/2006/relationships" id="269" r:id="R3f5c3e1ddc654158"/>
    <p:sldId xmlns:r="http://schemas.openxmlformats.org/officeDocument/2006/relationships" id="270" r:id="Rfe31f5c60993438f"/>
    <p:sldId xmlns:r="http://schemas.openxmlformats.org/officeDocument/2006/relationships" id="271" r:id="R286f354dc9c14123"/>
    <p:sldId xmlns:r="http://schemas.openxmlformats.org/officeDocument/2006/relationships" id="272" r:id="R30042ff11aad4799"/>
    <p:sldId xmlns:r="http://schemas.openxmlformats.org/officeDocument/2006/relationships" id="273" r:id="Rb9bde32cfdbf4f01"/>
    <p:sldId xmlns:r="http://schemas.openxmlformats.org/officeDocument/2006/relationships" id="274" r:id="R1e88acee314c4a95"/>
    <p:sldId xmlns:r="http://schemas.openxmlformats.org/officeDocument/2006/relationships" id="275" r:id="Re7d92b9b5cd341bd"/>
    <p:sldId xmlns:r="http://schemas.openxmlformats.org/officeDocument/2006/relationships" id="276" r:id="R6033164d3aa0407b"/>
    <p:sldId xmlns:r="http://schemas.openxmlformats.org/officeDocument/2006/relationships" id="277" r:id="R4fc5848fc0564936"/>
    <p:sldId xmlns:r="http://schemas.openxmlformats.org/officeDocument/2006/relationships" id="278" r:id="Rc6633626efac4ef9"/>
    <p:sldId xmlns:r="http://schemas.openxmlformats.org/officeDocument/2006/relationships" id="279" r:id="R061eb968fa3c4ab4"/>
    <p:sldId xmlns:r="http://schemas.openxmlformats.org/officeDocument/2006/relationships" id="280" r:id="R500ebfb6431d473e"/>
    <p:sldId xmlns:r="http://schemas.openxmlformats.org/officeDocument/2006/relationships" id="281" r:id="R024d757e975c4b9a"/>
    <p:sldId xmlns:r="http://schemas.openxmlformats.org/officeDocument/2006/relationships" id="282" r:id="R54614f406fff49d0"/>
    <p:sldId xmlns:r="http://schemas.openxmlformats.org/officeDocument/2006/relationships" id="283" r:id="R81e4761639f84c1a"/>
    <p:sldId xmlns:r="http://schemas.openxmlformats.org/officeDocument/2006/relationships" id="284" r:id="Re57ee79d0f614188"/>
    <p:sldId xmlns:r="http://schemas.openxmlformats.org/officeDocument/2006/relationships" id="285" r:id="Re9c265564aa940ed"/>
    <p:sldId xmlns:r="http://schemas.openxmlformats.org/officeDocument/2006/relationships" id="286" r:id="Rbd45fea8f2a14416"/>
    <p:sldId xmlns:r="http://schemas.openxmlformats.org/officeDocument/2006/relationships" id="287" r:id="R0d38844443994e72"/>
    <p:sldId xmlns:r="http://schemas.openxmlformats.org/officeDocument/2006/relationships" id="288" r:id="R4aa12cdf73304ee4"/>
    <p:sldId xmlns:r="http://schemas.openxmlformats.org/officeDocument/2006/relationships" id="289" r:id="R150402ee6e874163"/>
    <p:sldId xmlns:r="http://schemas.openxmlformats.org/officeDocument/2006/relationships" id="290" r:id="R5f8885518969490d"/>
    <p:sldId xmlns:r="http://schemas.openxmlformats.org/officeDocument/2006/relationships" id="291" r:id="R4c5f6343d57b492e"/>
    <p:sldId xmlns:r="http://schemas.openxmlformats.org/officeDocument/2006/relationships" id="292" r:id="R5f97ef8dffb844eb"/>
    <p:sldId xmlns:r="http://schemas.openxmlformats.org/officeDocument/2006/relationships" id="293" r:id="R4bf41699f1ae4055"/>
    <p:sldId xmlns:r="http://schemas.openxmlformats.org/officeDocument/2006/relationships" id="294" r:id="R747635d147d14545"/>
    <p:sldId xmlns:r="http://schemas.openxmlformats.org/officeDocument/2006/relationships" id="295" r:id="R92c1bfddf4aa41ce"/>
  </p:sldIdLst>
  <p:sldSz cx="9144000" cy="5143500"/>
  <p:notesSz cx="6858000" cy="9144000"/>
  <p:embeddedFontLst>
    <p:embeddedFont>
      <p:font typeface="Lora"/>
      <p:regular xmlns:r="http://schemas.openxmlformats.org/officeDocument/2006/relationships" r:id="Rd0f75a33e7b84a40"/>
      <p:bold xmlns:r="http://schemas.openxmlformats.org/officeDocument/2006/relationships" r:id="Rb9c4bd10c6134a53"/>
      <p:italic xmlns:r="http://schemas.openxmlformats.org/officeDocument/2006/relationships" r:id="Rab42139f616c4896"/>
      <p:boldItalic xmlns:r="http://schemas.openxmlformats.org/officeDocument/2006/relationships" r:id="R788b064bce87435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8efb2eb6114f16" /><Relationship Type="http://schemas.openxmlformats.org/officeDocument/2006/relationships/slideMaster" Target="/ppt/slideMasters/slideMaster1.xml" Id="R91dc30a7e7e74146" /><Relationship Type="http://schemas.openxmlformats.org/officeDocument/2006/relationships/notesMaster" Target="/ppt/notesMasters/notesMaster1.xml" Id="R1af78d2d268e44c5" /><Relationship Type="http://schemas.openxmlformats.org/officeDocument/2006/relationships/presProps" Target="/ppt/presProps.xml" Id="R93cb0056cb7e4e51" /><Relationship Type="http://schemas.openxmlformats.org/officeDocument/2006/relationships/tableStyles" Target="/ppt/tableStyles.xml" Id="R6592fd1ba8e449c0" /><Relationship Type="http://schemas.openxmlformats.org/officeDocument/2006/relationships/font" Target="/ppt/fonts/font.dat" Id="Rd0f75a33e7b84a40" /><Relationship Type="http://schemas.openxmlformats.org/officeDocument/2006/relationships/font" Target="/ppt/fonts/font2.dat" Id="Rb9c4bd10c6134a53" /><Relationship Type="http://schemas.openxmlformats.org/officeDocument/2006/relationships/font" Target="/ppt/fonts/font3.dat" Id="Rab42139f616c4896" /><Relationship Type="http://schemas.openxmlformats.org/officeDocument/2006/relationships/font" Target="/ppt/fonts/font4.dat" Id="R788b064bce874359" /><Relationship Type="http://schemas.openxmlformats.org/officeDocument/2006/relationships/slide" Target="/ppt/slides/slide1.xml" Id="Rc288ed0a977a4153" /><Relationship Type="http://schemas.openxmlformats.org/officeDocument/2006/relationships/slide" Target="/ppt/slides/slide2.xml" Id="R27a8a17f55d94b49" /><Relationship Type="http://schemas.openxmlformats.org/officeDocument/2006/relationships/slide" Target="/ppt/slides/slide3.xml" Id="R8f087b2c75594631" /><Relationship Type="http://schemas.openxmlformats.org/officeDocument/2006/relationships/slide" Target="/ppt/slides/slide4.xml" Id="Rf0da8c740b39469e" /><Relationship Type="http://schemas.openxmlformats.org/officeDocument/2006/relationships/slide" Target="/ppt/slides/slide5.xml" Id="Rc935bdfc0c4c4fd4" /><Relationship Type="http://schemas.openxmlformats.org/officeDocument/2006/relationships/slide" Target="/ppt/slides/slide6.xml" Id="Rc72b3c433c314489" /><Relationship Type="http://schemas.openxmlformats.org/officeDocument/2006/relationships/slide" Target="/ppt/slides/slide7.xml" Id="R657d3d5e0b894fc2" /><Relationship Type="http://schemas.openxmlformats.org/officeDocument/2006/relationships/slide" Target="/ppt/slides/slide8.xml" Id="R25ad746deff44325" /><Relationship Type="http://schemas.openxmlformats.org/officeDocument/2006/relationships/slide" Target="/ppt/slides/slide9.xml" Id="R1635ffef7ed2493b" /><Relationship Type="http://schemas.openxmlformats.org/officeDocument/2006/relationships/slide" Target="/ppt/slides/slide10.xml" Id="R3a7b76a9628d49a4" /><Relationship Type="http://schemas.openxmlformats.org/officeDocument/2006/relationships/slide" Target="/ppt/slides/slide11.xml" Id="Rb084e0329c744942" /><Relationship Type="http://schemas.openxmlformats.org/officeDocument/2006/relationships/slide" Target="/ppt/slides/slide12.xml" Id="R5e3ce043ad634803" /><Relationship Type="http://schemas.openxmlformats.org/officeDocument/2006/relationships/slide" Target="/ppt/slides/slide13.xml" Id="R85575416a5de41f9" /><Relationship Type="http://schemas.openxmlformats.org/officeDocument/2006/relationships/slide" Target="/ppt/slides/slide14.xml" Id="R3f5c3e1ddc654158" /><Relationship Type="http://schemas.openxmlformats.org/officeDocument/2006/relationships/slide" Target="/ppt/slides/slide15.xml" Id="Rfe31f5c60993438f" /><Relationship Type="http://schemas.openxmlformats.org/officeDocument/2006/relationships/slide" Target="/ppt/slides/slide16.xml" Id="R286f354dc9c14123" /><Relationship Type="http://schemas.openxmlformats.org/officeDocument/2006/relationships/slide" Target="/ppt/slides/slide17.xml" Id="R30042ff11aad4799" /><Relationship Type="http://schemas.openxmlformats.org/officeDocument/2006/relationships/slide" Target="/ppt/slides/slide18.xml" Id="Rb9bde32cfdbf4f01" /><Relationship Type="http://schemas.openxmlformats.org/officeDocument/2006/relationships/slide" Target="/ppt/slides/slide19.xml" Id="R1e88acee314c4a95" /><Relationship Type="http://schemas.openxmlformats.org/officeDocument/2006/relationships/slide" Target="/ppt/slides/slide20.xml" Id="Re7d92b9b5cd341bd" /><Relationship Type="http://schemas.openxmlformats.org/officeDocument/2006/relationships/slide" Target="/ppt/slides/slide21.xml" Id="R6033164d3aa0407b" /><Relationship Type="http://schemas.openxmlformats.org/officeDocument/2006/relationships/slide" Target="/ppt/slides/slide22.xml" Id="R4fc5848fc0564936" /><Relationship Type="http://schemas.openxmlformats.org/officeDocument/2006/relationships/slide" Target="/ppt/slides/slide23.xml" Id="Rc6633626efac4ef9" /><Relationship Type="http://schemas.openxmlformats.org/officeDocument/2006/relationships/slide" Target="/ppt/slides/slide24.xml" Id="R061eb968fa3c4ab4" /><Relationship Type="http://schemas.openxmlformats.org/officeDocument/2006/relationships/slide" Target="/ppt/slides/slide25.xml" Id="R500ebfb6431d473e" /><Relationship Type="http://schemas.openxmlformats.org/officeDocument/2006/relationships/slide" Target="/ppt/slides/slide26.xml" Id="R024d757e975c4b9a" /><Relationship Type="http://schemas.openxmlformats.org/officeDocument/2006/relationships/slide" Target="/ppt/slides/slide27.xml" Id="R54614f406fff49d0" /><Relationship Type="http://schemas.openxmlformats.org/officeDocument/2006/relationships/slide" Target="/ppt/slides/slide28.xml" Id="R81e4761639f84c1a" /><Relationship Type="http://schemas.openxmlformats.org/officeDocument/2006/relationships/slide" Target="/ppt/slides/slide29.xml" Id="Re57ee79d0f614188" /><Relationship Type="http://schemas.openxmlformats.org/officeDocument/2006/relationships/slide" Target="/ppt/slides/slide30.xml" Id="Re9c265564aa940ed" /><Relationship Type="http://schemas.openxmlformats.org/officeDocument/2006/relationships/slide" Target="/ppt/slides/slide31.xml" Id="Rbd45fea8f2a14416" /><Relationship Type="http://schemas.openxmlformats.org/officeDocument/2006/relationships/slide" Target="/ppt/slides/slide32.xml" Id="R0d38844443994e72" /><Relationship Type="http://schemas.openxmlformats.org/officeDocument/2006/relationships/slide" Target="/ppt/slides/slide33.xml" Id="R4aa12cdf73304ee4" /><Relationship Type="http://schemas.openxmlformats.org/officeDocument/2006/relationships/slide" Target="/ppt/slides/slide34.xml" Id="R150402ee6e874163" /><Relationship Type="http://schemas.openxmlformats.org/officeDocument/2006/relationships/slide" Target="/ppt/slides/slide35.xml" Id="R5f8885518969490d" /><Relationship Type="http://schemas.openxmlformats.org/officeDocument/2006/relationships/slide" Target="/ppt/slides/slide36.xml" Id="R4c5f6343d57b492e" /><Relationship Type="http://schemas.openxmlformats.org/officeDocument/2006/relationships/slide" Target="/ppt/slides/slide37.xml" Id="R5f97ef8dffb844eb" /><Relationship Type="http://schemas.openxmlformats.org/officeDocument/2006/relationships/slide" Target="/ppt/slides/slide38.xml" Id="R4bf41699f1ae4055" /><Relationship Type="http://schemas.openxmlformats.org/officeDocument/2006/relationships/slide" Target="/ppt/slides/slide39.xml" Id="R747635d147d14545" /><Relationship Type="http://schemas.openxmlformats.org/officeDocument/2006/relationships/slide" Target="/ppt/slides/slide40.xml" Id="R92c1bfddf4aa41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5969f69a6346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d191aacce3443d" /><Relationship Type="http://schemas.openxmlformats.org/officeDocument/2006/relationships/notesMaster" Target="/ppt/notesMasters/notesMaster1.xml" Id="R6f07f512a37040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321259c704a2c" /><Relationship Type="http://schemas.openxmlformats.org/officeDocument/2006/relationships/notesMaster" Target="/ppt/notesMasters/notesMaster1.xml" Id="R1ee5e701a9d840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05f5892b88498a" /><Relationship Type="http://schemas.openxmlformats.org/officeDocument/2006/relationships/notesMaster" Target="/ppt/notesMasters/notesMaster1.xml" Id="Re24cbb0f6b0e4c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f77235f0fa4dd1" /><Relationship Type="http://schemas.openxmlformats.org/officeDocument/2006/relationships/notesMaster" Target="/ppt/notesMasters/notesMaster1.xml" Id="R3ac749be25834a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f818884a604605" /><Relationship Type="http://schemas.openxmlformats.org/officeDocument/2006/relationships/notesMaster" Target="/ppt/notesMasters/notesMaster1.xml" Id="Re64dd4dfea5944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a456967caf4e9c" /><Relationship Type="http://schemas.openxmlformats.org/officeDocument/2006/relationships/notesMaster" Target="/ppt/notesMasters/notesMaster1.xml" Id="Rd5c769903a5341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abd9dc87084f07" /><Relationship Type="http://schemas.openxmlformats.org/officeDocument/2006/relationships/notesMaster" Target="/ppt/notesMasters/notesMaster1.xml" Id="R2d47289c49e546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f410dcf432449a" /><Relationship Type="http://schemas.openxmlformats.org/officeDocument/2006/relationships/notesMaster" Target="/ppt/notesMasters/notesMaster1.xml" Id="R53910edadd7b47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6e1f920e1a4ca4" /><Relationship Type="http://schemas.openxmlformats.org/officeDocument/2006/relationships/notesMaster" Target="/ppt/notesMasters/notesMaster1.xml" Id="Rcea038915ca842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3047f9b2a74934" /><Relationship Type="http://schemas.openxmlformats.org/officeDocument/2006/relationships/notesMaster" Target="/ppt/notesMasters/notesMaster1.xml" Id="Rc99651dca5f043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48880c80aa4fca" /><Relationship Type="http://schemas.openxmlformats.org/officeDocument/2006/relationships/notesMaster" Target="/ppt/notesMasters/notesMaster1.xml" Id="R508158edcc2444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f08640413d4437" /><Relationship Type="http://schemas.openxmlformats.org/officeDocument/2006/relationships/notesMaster" Target="/ppt/notesMasters/notesMaster1.xml" Id="Rf6ca864c94fe40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f6a85eb3534386" /><Relationship Type="http://schemas.openxmlformats.org/officeDocument/2006/relationships/notesMaster" Target="/ppt/notesMasters/notesMaster1.xml" Id="Rca457098233248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647892e99a448f" /><Relationship Type="http://schemas.openxmlformats.org/officeDocument/2006/relationships/notesMaster" Target="/ppt/notesMasters/notesMaster1.xml" Id="R20d481fbe76c43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4c884c8bb04d75" /><Relationship Type="http://schemas.openxmlformats.org/officeDocument/2006/relationships/notesMaster" Target="/ppt/notesMasters/notesMaster1.xml" Id="R4d1282aad0104b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1753f81cd64abf" /><Relationship Type="http://schemas.openxmlformats.org/officeDocument/2006/relationships/notesMaster" Target="/ppt/notesMasters/notesMaster1.xml" Id="R66ab8459ba1b43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8ff059bc664acf" /><Relationship Type="http://schemas.openxmlformats.org/officeDocument/2006/relationships/notesMaster" Target="/ppt/notesMasters/notesMaster1.xml" Id="R5dc8ab49adc247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62a8eab6e24cfa" /><Relationship Type="http://schemas.openxmlformats.org/officeDocument/2006/relationships/notesMaster" Target="/ppt/notesMasters/notesMaster1.xml" Id="Rfaef5687938147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85600f2d8a4745" /><Relationship Type="http://schemas.openxmlformats.org/officeDocument/2006/relationships/notesMaster" Target="/ppt/notesMasters/notesMaster1.xml" Id="Rbf9ce00ba0e644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5d0edde9554596" /><Relationship Type="http://schemas.openxmlformats.org/officeDocument/2006/relationships/notesMaster" Target="/ppt/notesMasters/notesMaster1.xml" Id="R936d348f79e443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f900272be545b1" /><Relationship Type="http://schemas.openxmlformats.org/officeDocument/2006/relationships/notesMaster" Target="/ppt/notesMasters/notesMaster1.xml" Id="R60c4c6fd8110407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f7a0ea56d54254" /><Relationship Type="http://schemas.openxmlformats.org/officeDocument/2006/relationships/notesMaster" Target="/ppt/notesMasters/notesMaster1.xml" Id="Rcb1a50c8aa2447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5cc999b8ba4616" /><Relationship Type="http://schemas.openxmlformats.org/officeDocument/2006/relationships/notesMaster" Target="/ppt/notesMasters/notesMaster1.xml" Id="R87c9525ac9eb4c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8c59e53fa664767" /><Relationship Type="http://schemas.openxmlformats.org/officeDocument/2006/relationships/notesMaster" Target="/ppt/notesMasters/notesMaster1.xml" Id="Ra62288c26e304cc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76068536354afc" /><Relationship Type="http://schemas.openxmlformats.org/officeDocument/2006/relationships/notesMaster" Target="/ppt/notesMasters/notesMaster1.xml" Id="Rcf2c6753ceb941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50fe0f4739946d7" /><Relationship Type="http://schemas.openxmlformats.org/officeDocument/2006/relationships/notesMaster" Target="/ppt/notesMasters/notesMaster1.xml" Id="Rfdca1dcf10d24f4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29c85315eab47ac" /><Relationship Type="http://schemas.openxmlformats.org/officeDocument/2006/relationships/notesMaster" Target="/ppt/notesMasters/notesMaster1.xml" Id="R74c919b2264a4b4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32ab19e124b4c96" /><Relationship Type="http://schemas.openxmlformats.org/officeDocument/2006/relationships/notesMaster" Target="/ppt/notesMasters/notesMaster1.xml" Id="R502cc349d129493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2fe43406ad4484f" /><Relationship Type="http://schemas.openxmlformats.org/officeDocument/2006/relationships/notesMaster" Target="/ppt/notesMasters/notesMaster1.xml" Id="Ra5e9d1020b71480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9c1f517dd1c4b6a" /><Relationship Type="http://schemas.openxmlformats.org/officeDocument/2006/relationships/notesMaster" Target="/ppt/notesMasters/notesMaster1.xml" Id="Rbccc50e0adf84ba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1cad06bcea432c" /><Relationship Type="http://schemas.openxmlformats.org/officeDocument/2006/relationships/notesMaster" Target="/ppt/notesMasters/notesMaster1.xml" Id="Rfcd6351829df4a5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f63648f39184ec8" /><Relationship Type="http://schemas.openxmlformats.org/officeDocument/2006/relationships/notesMaster" Target="/ppt/notesMasters/notesMaster1.xml" Id="R013d17cd8ecf460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8c1224ee674bec" /><Relationship Type="http://schemas.openxmlformats.org/officeDocument/2006/relationships/notesMaster" Target="/ppt/notesMasters/notesMaster1.xml" Id="R86b0911cec7d4f2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1eedbff42f54dfc" /><Relationship Type="http://schemas.openxmlformats.org/officeDocument/2006/relationships/notesMaster" Target="/ppt/notesMasters/notesMaster1.xml" Id="Rf5deb4d8b9e049a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c4e8ad776a548b4" /><Relationship Type="http://schemas.openxmlformats.org/officeDocument/2006/relationships/notesMaster" Target="/ppt/notesMasters/notesMaster1.xml" Id="R59fffe51f1ab4b5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c47501f893e4611" /><Relationship Type="http://schemas.openxmlformats.org/officeDocument/2006/relationships/notesMaster" Target="/ppt/notesMasters/notesMaster1.xml" Id="Re81f2e0c38534c8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367ef6575f146b6" /><Relationship Type="http://schemas.openxmlformats.org/officeDocument/2006/relationships/notesMaster" Target="/ppt/notesMasters/notesMaster1.xml" Id="Re5cd210a2e1e4ea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ea94b6d975245d4" /><Relationship Type="http://schemas.openxmlformats.org/officeDocument/2006/relationships/notesMaster" Target="/ppt/notesMasters/notesMaster1.xml" Id="Re1a3c4036a4149e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f5400edbb774f8f" /><Relationship Type="http://schemas.openxmlformats.org/officeDocument/2006/relationships/notesMaster" Target="/ppt/notesMasters/notesMaster1.xml" Id="R17dfae5b5dba4fc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5d6c874f7de4b22" /><Relationship Type="http://schemas.openxmlformats.org/officeDocument/2006/relationships/notesMaster" Target="/ppt/notesMasters/notesMaster1.xml" Id="R488f0070a563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 i="1">
                <a:latin typeface="Arial"/>
                <a:ea typeface="Arial"/>
                <a:cs typeface="Arial"/>
              </a:rPr>
              <a:t>¿Cómo procesa la neurona la información de la cámara?</a:t>
            </a:r>
            <a:r>
              <a:rPr sz="1100" i="1">
                <a:latin typeface="Arial"/>
                <a:ea typeface="Arial"/>
                <a:cs typeface="Arial"/>
              </a:rPr>
              <a:t>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i="1">
                <a:latin typeface="Arial"/>
                <a:ea typeface="Arial"/>
                <a:cs typeface="Arial"/>
              </a:rPr>
              <a:t>"Primero, MediaPipe extrae las coordenadas de los puntos clave del cuerpo ($x_i$). Cada una de estas coordenadas entra a la red neuronal y se multiplica por un </a:t>
            </a:r>
            <a:r>
              <a:rPr sz="1100" b="1" i="1">
                <a:latin typeface="Arial"/>
                <a:ea typeface="Arial"/>
                <a:cs typeface="Arial"/>
              </a:rPr>
              <a:t>peso ($w_i$)</a:t>
            </a:r>
            <a:r>
              <a:rPr sz="1100" i="1">
                <a:latin typeface="Arial"/>
                <a:ea typeface="Arial"/>
                <a:cs typeface="Arial"/>
              </a:rPr>
              <a:t>, que indica qué tan importante es esa parte del cuerpo para la seña que queremos detectar. Por ejemplo, la posición de la mano derecha va a tener mucho más peso que la posición de la cabeza."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i="1">
                <a:latin typeface="Arial"/>
                <a:ea typeface="Arial"/>
                <a:cs typeface="Arial"/>
              </a:rPr>
              <a:t>"Al multiplicar cada entrada por su peso y sumarlas, obtenemos una </a:t>
            </a:r>
            <a:r>
              <a:rPr sz="1100" b="1" i="1">
                <a:latin typeface="Arial"/>
                <a:ea typeface="Arial"/>
                <a:cs typeface="Arial"/>
              </a:rPr>
              <a:t>suma ponderada</a:t>
            </a:r>
            <a:r>
              <a:rPr sz="1100" i="1">
                <a:latin typeface="Arial"/>
                <a:ea typeface="Arial"/>
                <a:cs typeface="Arial"/>
              </a:rPr>
              <a:t>. A este resultado le añadimos el </a:t>
            </a:r>
            <a:r>
              <a:rPr sz="1100" b="1" i="1">
                <a:latin typeface="Arial"/>
                <a:ea typeface="Arial"/>
                <a:cs typeface="Arial"/>
              </a:rPr>
              <a:t>sesgo ($b$)</a:t>
            </a:r>
            <a:r>
              <a:rPr sz="1100" i="1">
                <a:latin typeface="Arial"/>
                <a:ea typeface="Arial"/>
                <a:cs typeface="Arial"/>
              </a:rPr>
              <a:t>, lo que nos da el valor final </a:t>
            </a:r>
            <a:r>
              <a:rPr sz="1100" b="1" i="1">
                <a:latin typeface="Arial"/>
                <a:ea typeface="Arial"/>
                <a:cs typeface="Arial"/>
              </a:rPr>
              <a:t>$z$</a:t>
            </a:r>
            <a:r>
              <a:rPr sz="1100" i="1">
                <a:latin typeface="Arial"/>
                <a:ea typeface="Arial"/>
                <a:cs typeface="Arial"/>
              </a:rPr>
              <a:t>, que es el número bruto sobre el cual la red va a tomar su decisión."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00" b="1">
                <a:latin typeface="Arial"/>
                <a:ea typeface="Arial"/>
                <a:cs typeface="Arial"/>
              </a:rPr>
              <a:t>2. Caso 1: Sin Sesgo (Abajo a la izquierda)</a:t>
            </a:r>
            <a:endParaRPr sz="1300" b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i="1">
                <a:latin typeface="Arial"/>
                <a:ea typeface="Arial"/>
                <a:cs typeface="Arial"/>
              </a:rPr>
              <a:t>"Para entender el rol del sesgo, veamos qué pasa cuando </a:t>
            </a:r>
            <a:r>
              <a:rPr sz="1100" b="1" i="1">
                <a:latin typeface="Arial"/>
                <a:ea typeface="Arial"/>
                <a:cs typeface="Arial"/>
              </a:rPr>
              <a:t>no lo usamos</a:t>
            </a:r>
            <a:r>
              <a:rPr sz="1100" i="1">
                <a:latin typeface="Arial"/>
                <a:ea typeface="Arial"/>
                <a:cs typeface="Arial"/>
              </a:rPr>
              <a:t>, es decir, cuando $b = 0$."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i="1">
                <a:latin typeface="Arial"/>
                <a:ea typeface="Arial"/>
                <a:cs typeface="Arial"/>
              </a:rPr>
              <a:t>"En la imagen de la izquierda, la persona solo levanta un poco la mano; la seña está incompleta. La neurona calcula la suma ponderada y nos da un resultado de $z = 0.792$. Al pasar por la función de activación, esto nos da una probabilidad del </a:t>
            </a:r>
            <a:r>
              <a:rPr sz="1100" b="1" i="1">
                <a:latin typeface="Arial"/>
                <a:ea typeface="Arial"/>
                <a:cs typeface="Arial"/>
              </a:rPr>
              <a:t>68.8%</a:t>
            </a:r>
            <a:r>
              <a:rPr sz="1100" i="1">
                <a:latin typeface="Arial"/>
                <a:ea typeface="Arial"/>
                <a:cs typeface="Arial"/>
              </a:rPr>
              <a:t> de que la seña sea un 'HOLA'."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i="1">
                <a:latin typeface="Arial"/>
                <a:ea typeface="Arial"/>
                <a:cs typeface="Arial"/>
              </a:rPr>
              <a:t>"</a:t>
            </a:r>
            <a:r>
              <a:rPr sz="1100" b="1" i="1">
                <a:latin typeface="Arial"/>
                <a:ea typeface="Arial"/>
                <a:cs typeface="Arial"/>
              </a:rPr>
              <a:t>¿Cuál es el problema aquí?</a:t>
            </a:r>
            <a:r>
              <a:rPr sz="1100" i="1">
                <a:latin typeface="Arial"/>
                <a:ea typeface="Arial"/>
                <a:cs typeface="Arial"/>
              </a:rPr>
              <a:t> Que la neurona es demasiado permisiva. Como no tiene un sesgo que la regule, un movimiento a medias genera una probabilidad alta y la red comete un falso positivo, creyendo que la persona saludó cuando en realidad la seña no estaba terminada."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00" b="1">
                <a:latin typeface="Arial"/>
                <a:ea typeface="Arial"/>
                <a:cs typeface="Arial"/>
              </a:rPr>
              <a:t>3. Caso 2: Con Sesgo (Abajo a la derecha)</a:t>
            </a:r>
            <a:endParaRPr sz="1300" b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i="1">
                <a:latin typeface="Arial"/>
                <a:ea typeface="Arial"/>
                <a:cs typeface="Arial"/>
              </a:rPr>
              <a:t>"Ahora veamos la diferencia cuando aplicamos un </a:t>
            </a:r>
            <a:r>
              <a:rPr sz="1100" b="1" i="1">
                <a:latin typeface="Arial"/>
                <a:ea typeface="Arial"/>
                <a:cs typeface="Arial"/>
              </a:rPr>
              <a:t>sesgo negativo</a:t>
            </a:r>
            <a:r>
              <a:rPr sz="1100" i="1">
                <a:latin typeface="Arial"/>
                <a:ea typeface="Arial"/>
                <a:cs typeface="Arial"/>
              </a:rPr>
              <a:t> ($b = -0.45$)."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i="1">
                <a:latin typeface="Arial"/>
                <a:ea typeface="Arial"/>
                <a:cs typeface="Arial"/>
              </a:rPr>
              <a:t>"Con el mismo movimiento incompleto, la suma ponderada sigue siendo $0.792$, pero al restarle el sesgo, nuestro valor de </a:t>
            </a:r>
            <a:r>
              <a:rPr sz="1100" b="1" i="1">
                <a:latin typeface="Arial"/>
                <a:ea typeface="Arial"/>
                <a:cs typeface="Arial"/>
              </a:rPr>
              <a:t>$z$ baja a $0.342$</a:t>
            </a:r>
            <a:r>
              <a:rPr sz="1100" i="1">
                <a:latin typeface="Arial"/>
                <a:ea typeface="Arial"/>
                <a:cs typeface="Arial"/>
              </a:rPr>
              <a:t>."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i="1">
                <a:latin typeface="Arial"/>
                <a:ea typeface="Arial"/>
                <a:cs typeface="Arial"/>
              </a:rPr>
              <a:t>"Al reducir $z$, la probabilidad final cae al </a:t>
            </a:r>
            <a:r>
              <a:rPr sz="1100" b="1" i="1">
                <a:latin typeface="Arial"/>
                <a:ea typeface="Arial"/>
                <a:cs typeface="Arial"/>
              </a:rPr>
              <a:t>58.5%</a:t>
            </a:r>
            <a:r>
              <a:rPr sz="1100" i="1">
                <a:latin typeface="Arial"/>
                <a:ea typeface="Arial"/>
                <a:cs typeface="Arial"/>
              </a:rPr>
              <a:t>. Esto hace que la neurona sea </a:t>
            </a:r>
            <a:r>
              <a:rPr sz="1100" b="1" i="1">
                <a:latin typeface="Arial"/>
                <a:ea typeface="Arial"/>
                <a:cs typeface="Arial"/>
              </a:rPr>
              <a:t>más exigente y cuidadosa</a:t>
            </a:r>
            <a:r>
              <a:rPr sz="1100" i="1">
                <a:latin typeface="Arial"/>
                <a:ea typeface="Arial"/>
                <a:cs typeface="Arial"/>
              </a:rPr>
              <a:t>: ya no se 'apresura' a confirmar que es un 'HOLA', sino que espera a ver la seña completa antes de dar una respuesta afirmativa."</a:t>
            </a:r>
            <a:endParaRPr sz="1100" i="1"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00" b="1">
                <a:latin typeface="Arial"/>
                <a:ea typeface="Arial"/>
                <a:cs typeface="Arial"/>
              </a:rPr>
              <a:t>4. Conclusión / Cierre de la diapositiva</a:t>
            </a:r>
            <a:endParaRPr sz="1300" b="1">
              <a:latin typeface="Arial"/>
              <a:ea typeface="Arial"/>
              <a:cs typeface="Arial"/>
            </a:endParaRPr>
          </a:p>
          <a:p xmlns:a="http://schemas.openxmlformats.org/drawingml/2006/main">
            <a:pPr marL="381000" marR="381000" lvl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sz="1100" i="1">
                <a:latin typeface="Arial"/>
                <a:ea typeface="Arial"/>
                <a:cs typeface="Arial"/>
              </a:rPr>
              <a:t>"En resumen: tanto los </a:t>
            </a:r>
            <a:r>
              <a:rPr sz="1100" b="1" i="1">
                <a:latin typeface="Arial"/>
                <a:ea typeface="Arial"/>
                <a:cs typeface="Arial"/>
              </a:rPr>
              <a:t>pesos ($w$)</a:t>
            </a:r>
            <a:r>
              <a:rPr sz="1100" i="1">
                <a:latin typeface="Arial"/>
                <a:ea typeface="Arial"/>
                <a:cs typeface="Arial"/>
              </a:rPr>
              <a:t> como los </a:t>
            </a:r>
            <a:r>
              <a:rPr sz="1100" b="1" i="1">
                <a:latin typeface="Arial"/>
                <a:ea typeface="Arial"/>
                <a:cs typeface="Arial"/>
              </a:rPr>
              <a:t>sesgos ($b$)</a:t>
            </a:r>
            <a:r>
              <a:rPr sz="1100" i="1">
                <a:latin typeface="Arial"/>
                <a:ea typeface="Arial"/>
                <a:cs typeface="Arial"/>
              </a:rPr>
              <a:t> son parámetros que </a:t>
            </a:r>
            <a:r>
              <a:rPr sz="1100" b="1" i="1">
                <a:latin typeface="Arial"/>
                <a:ea typeface="Arial"/>
                <a:cs typeface="Arial"/>
              </a:rPr>
              <a:t>la red aprende sola durante el entrenamiento</a:t>
            </a:r>
            <a:r>
              <a:rPr sz="1100" i="1">
                <a:latin typeface="Arial"/>
                <a:ea typeface="Arial"/>
                <a:cs typeface="Arial"/>
              </a:rPr>
              <a:t>. Los pesos le dicen en qué fijarse y los sesgos le enseñan qué tan estricta debe ser para no equivocarse.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356fefed24d0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8e35a1427b43ec" /><Relationship Type="http://schemas.openxmlformats.org/officeDocument/2006/relationships/slideLayout" Target="/ppt/slideLayouts/slideLayout1.xml" Id="Rb59605c0052d47a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9605c0052d47a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2648bb23c47a5" /><Relationship Type="http://schemas.openxmlformats.org/officeDocument/2006/relationships/image" Target="/ppt/media/image.png" Id="R9d767613ece74021" /><Relationship Type="http://schemas.openxmlformats.org/officeDocument/2006/relationships/notesSlide" Target="/ppt/notesSlides/notesSlide1.xml" Id="Raca4aa1507ee49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9feefb23e4df8" /><Relationship Type="http://schemas.openxmlformats.org/officeDocument/2006/relationships/image" Target="/ppt/media/image.png" Id="R6e5dde6c62ec4a2b" /><Relationship Type="http://schemas.openxmlformats.org/officeDocument/2006/relationships/notesSlide" Target="/ppt/notesSlides/notesSlide2.xml" Id="Rd903ea38eb92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ce79f3edf49a2" /><Relationship Type="http://schemas.openxmlformats.org/officeDocument/2006/relationships/image" Target="/ppt/media/image.png" Id="Ra07b6f616abc4d88" /><Relationship Type="http://schemas.openxmlformats.org/officeDocument/2006/relationships/image" Target="/ppt/media/image2.png" Id="Rc176083f2f50424c" /><Relationship Type="http://schemas.openxmlformats.org/officeDocument/2006/relationships/image" Target="/ppt/media/image3.png" Id="R36d52361d8c6413e" /><Relationship Type="http://schemas.openxmlformats.org/officeDocument/2006/relationships/image" Target="/ppt/media/image4.png" Id="Rdf390f46cadf4606" /><Relationship Type="http://schemas.openxmlformats.org/officeDocument/2006/relationships/notesSlide" Target="/ppt/notesSlides/notesSlide3.xml" Id="Re2b86a5afe0440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e5b51fc404d39" /><Relationship Type="http://schemas.openxmlformats.org/officeDocument/2006/relationships/image" Target="/ppt/media/image.png" Id="R8956a4ccc4404493" /><Relationship Type="http://schemas.openxmlformats.org/officeDocument/2006/relationships/image" Target="/ppt/media/image5.png" Id="R821ef2dc00704051" /><Relationship Type="http://schemas.openxmlformats.org/officeDocument/2006/relationships/image" Target="/ppt/media/image6.png" Id="R39880896bc8145de" /><Relationship Type="http://schemas.openxmlformats.org/officeDocument/2006/relationships/image" Target="/ppt/media/image3.png" Id="Rbffcce8f6ca74a61" /><Relationship Type="http://schemas.openxmlformats.org/officeDocument/2006/relationships/image" Target="/ppt/media/image4.png" Id="Refbeee62c7ee45a3" /><Relationship Type="http://schemas.openxmlformats.org/officeDocument/2006/relationships/notesSlide" Target="/ppt/notesSlides/notesSlide4.xml" Id="Rde7cacfc75a2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70f5c45f24175" /><Relationship Type="http://schemas.openxmlformats.org/officeDocument/2006/relationships/image" Target="/ppt/media/image.png" Id="Ra742fcf231a14e87" /><Relationship Type="http://schemas.openxmlformats.org/officeDocument/2006/relationships/notesSlide" Target="/ppt/notesSlides/notesSlide5.xml" Id="R2ce2e974719a47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a50e06d3a4f98" /><Relationship Type="http://schemas.openxmlformats.org/officeDocument/2006/relationships/image" Target="/ppt/media/image.png" Id="R27d0a49e452c4ce2" /><Relationship Type="http://schemas.openxmlformats.org/officeDocument/2006/relationships/notesSlide" Target="/ppt/notesSlides/notesSlide6.xml" Id="R091702649b024f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838b7dac4493a" /><Relationship Type="http://schemas.openxmlformats.org/officeDocument/2006/relationships/image" Target="/ppt/media/image.png" Id="R532077e76cdb4ae9" /><Relationship Type="http://schemas.openxmlformats.org/officeDocument/2006/relationships/image" Target="/ppt/media/image7.png" Id="Re3904c436d9b4096" /><Relationship Type="http://schemas.openxmlformats.org/officeDocument/2006/relationships/image" Target="/ppt/media/image8.png" Id="Rfd3415c90a8742cc" /><Relationship Type="http://schemas.openxmlformats.org/officeDocument/2006/relationships/notesSlide" Target="/ppt/notesSlides/notesSlide7.xml" Id="R01f219261b0e41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e0bc26b6f4068" /><Relationship Type="http://schemas.openxmlformats.org/officeDocument/2006/relationships/image" Target="/ppt/media/image.png" Id="R2af3ae9cdef544d0" /><Relationship Type="http://schemas.openxmlformats.org/officeDocument/2006/relationships/image" Target="/ppt/media/image9.png" Id="R67438b7ff5534cbc" /><Relationship Type="http://schemas.openxmlformats.org/officeDocument/2006/relationships/image" Target="/ppt/media/image10.png" Id="R0646c537595a4c80" /><Relationship Type="http://schemas.openxmlformats.org/officeDocument/2006/relationships/image" Target="/ppt/media/image11.png" Id="R21d983f722d242a1" /><Relationship Type="http://schemas.openxmlformats.org/officeDocument/2006/relationships/image" Target="/ppt/media/image12.png" Id="R4d3e35b0529e444d" /><Relationship Type="http://schemas.openxmlformats.org/officeDocument/2006/relationships/notesSlide" Target="/ppt/notesSlides/notesSlide8.xml" Id="R03634e1a86c94d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2af4e93a84358" /><Relationship Type="http://schemas.openxmlformats.org/officeDocument/2006/relationships/image" Target="/ppt/media/image.png" Id="R5c595d3288f645ed" /><Relationship Type="http://schemas.openxmlformats.org/officeDocument/2006/relationships/image" Target="/ppt/media/image9.png" Id="R0257624156fd46bf" /><Relationship Type="http://schemas.openxmlformats.org/officeDocument/2006/relationships/image" Target="/ppt/media/image13.png" Id="R0e807f2ced604988" /><Relationship Type="http://schemas.openxmlformats.org/officeDocument/2006/relationships/image" Target="/ppt/media/image14.png" Id="R1e6fee7930204ff9" /><Relationship Type="http://schemas.openxmlformats.org/officeDocument/2006/relationships/image" Target="/ppt/media/image15.png" Id="R80aed3aeaf4d4448" /><Relationship Type="http://schemas.openxmlformats.org/officeDocument/2006/relationships/notesSlide" Target="/ppt/notesSlides/notesSlide9.xml" Id="R0d79d768e9644c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432f9c4f240b8" /><Relationship Type="http://schemas.openxmlformats.org/officeDocument/2006/relationships/image" Target="/ppt/media/image.png" Id="R6f236936c4be489c" /><Relationship Type="http://schemas.openxmlformats.org/officeDocument/2006/relationships/notesSlide" Target="/ppt/notesSlides/notesSlide10.xml" Id="Rcdfb388c20aa4d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22f5c14174427" /><Relationship Type="http://schemas.openxmlformats.org/officeDocument/2006/relationships/image" Target="/ppt/media/image.png" Id="R99ade617b72f464e" /><Relationship Type="http://schemas.openxmlformats.org/officeDocument/2006/relationships/notesSlide" Target="/ppt/notesSlides/notesSlide11.xml" Id="R5242d5f14fd24b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b276216e7455c" /><Relationship Type="http://schemas.openxmlformats.org/officeDocument/2006/relationships/image" Target="/ppt/media/image.png" Id="R5032a4905d9f4ddd" /><Relationship Type="http://schemas.openxmlformats.org/officeDocument/2006/relationships/notesSlide" Target="/ppt/notesSlides/notesSlide12.xml" Id="R6a93757da39c48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def4c8cad4f0c" /><Relationship Type="http://schemas.openxmlformats.org/officeDocument/2006/relationships/image" Target="/ppt/media/image.png" Id="Rca0da370fedc4c8f" /><Relationship Type="http://schemas.openxmlformats.org/officeDocument/2006/relationships/notesSlide" Target="/ppt/notesSlides/notesSlide13.xml" Id="R9a6c1845491140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315aaa2d44048" /><Relationship Type="http://schemas.openxmlformats.org/officeDocument/2006/relationships/image" Target="/ppt/media/image.png" Id="Rf2561dc17ede49c0" /><Relationship Type="http://schemas.openxmlformats.org/officeDocument/2006/relationships/notesSlide" Target="/ppt/notesSlides/notesSlide14.xml" Id="R9562c6a7b41745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76071707d45ad" /><Relationship Type="http://schemas.openxmlformats.org/officeDocument/2006/relationships/image" Target="/ppt/media/image.png" Id="Re0afe042391c4d42" /><Relationship Type="http://schemas.openxmlformats.org/officeDocument/2006/relationships/image" Target="/ppt/media/image16.png" Id="R3049d6842d324485" /><Relationship Type="http://schemas.openxmlformats.org/officeDocument/2006/relationships/image" Target="/ppt/media/image17.png" Id="Rc27cf267e3164727" /><Relationship Type="http://schemas.openxmlformats.org/officeDocument/2006/relationships/image" Target="/ppt/media/image18.png" Id="Rb7423e4576f74981" /><Relationship Type="http://schemas.openxmlformats.org/officeDocument/2006/relationships/image" Target="/ppt/media/image19.png" Id="Re769d0eab16942c3" /><Relationship Type="http://schemas.openxmlformats.org/officeDocument/2006/relationships/image" Target="/ppt/media/image20.png" Id="Rd0ea485966c84761" /><Relationship Type="http://schemas.openxmlformats.org/officeDocument/2006/relationships/image" Target="/ppt/media/image21.png" Id="R2be198545de44f80" /><Relationship Type="http://schemas.openxmlformats.org/officeDocument/2006/relationships/image" Target="/ppt/media/image22.png" Id="Rc147c72b5e0443c2" /><Relationship Type="http://schemas.openxmlformats.org/officeDocument/2006/relationships/notesSlide" Target="/ppt/notesSlides/notesSlide15.xml" Id="R79439c0b1d3e46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13b1a23bd4e3b" /><Relationship Type="http://schemas.openxmlformats.org/officeDocument/2006/relationships/image" Target="/ppt/media/image.png" Id="Rb01e2cfac77447e3" /><Relationship Type="http://schemas.openxmlformats.org/officeDocument/2006/relationships/image" Target="/ppt/media/image23.png" Id="R1d567b234774443d" /><Relationship Type="http://schemas.openxmlformats.org/officeDocument/2006/relationships/image" Target="/ppt/media/image24.png" Id="R99693fa53d964b5f" /><Relationship Type="http://schemas.openxmlformats.org/officeDocument/2006/relationships/image" Target="/ppt/media/image25.png" Id="Rf372a4b2368b4b30" /><Relationship Type="http://schemas.openxmlformats.org/officeDocument/2006/relationships/image" Target="/ppt/media/image26.png" Id="Rf37a5a65b4b14045" /><Relationship Type="http://schemas.openxmlformats.org/officeDocument/2006/relationships/image" Target="/ppt/media/image27.png" Id="R5ff49409ef8243aa" /><Relationship Type="http://schemas.openxmlformats.org/officeDocument/2006/relationships/image" Target="/ppt/media/image28.png" Id="R14087c5be28f44a5" /><Relationship Type="http://schemas.openxmlformats.org/officeDocument/2006/relationships/notesSlide" Target="/ppt/notesSlides/notesSlide16.xml" Id="R9e3042f3d2c744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941bd9dcf4e49" /><Relationship Type="http://schemas.openxmlformats.org/officeDocument/2006/relationships/image" Target="/ppt/media/image.png" Id="R5837fb32048c4c34" /><Relationship Type="http://schemas.openxmlformats.org/officeDocument/2006/relationships/image" Target="/ppt/media/image29.png" Id="R6cac92bfae964adb" /><Relationship Type="http://schemas.openxmlformats.org/officeDocument/2006/relationships/image" Target="/ppt/media/image30.png" Id="R348b013b0e934fd4" /><Relationship Type="http://schemas.openxmlformats.org/officeDocument/2006/relationships/image" Target="/ppt/media/image31.png" Id="R6482d784cdce4516" /><Relationship Type="http://schemas.openxmlformats.org/officeDocument/2006/relationships/image" Target="/ppt/media/image32.png" Id="R26c93377b22e4be1" /><Relationship Type="http://schemas.openxmlformats.org/officeDocument/2006/relationships/image" Target="/ppt/media/image33.png" Id="R201c5ab4207445d3" /><Relationship Type="http://schemas.openxmlformats.org/officeDocument/2006/relationships/notesSlide" Target="/ppt/notesSlides/notesSlide17.xml" Id="Rd5813dad77774f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47838f5564965" /><Relationship Type="http://schemas.openxmlformats.org/officeDocument/2006/relationships/image" Target="/ppt/media/image.png" Id="Rb42cf88a368d4d07" /><Relationship Type="http://schemas.openxmlformats.org/officeDocument/2006/relationships/image" Target="/ppt/media/image34.png" Id="Rebccf03096f24df2" /><Relationship Type="http://schemas.openxmlformats.org/officeDocument/2006/relationships/image" Target="/ppt/media/image35.png" Id="R04555f167d7241f7" /><Relationship Type="http://schemas.openxmlformats.org/officeDocument/2006/relationships/image" Target="/ppt/media/image36.png" Id="R9545f73ff6f64532" /><Relationship Type="http://schemas.openxmlformats.org/officeDocument/2006/relationships/notesSlide" Target="/ppt/notesSlides/notesSlide18.xml" Id="R852dd5a0f5e14b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aa32871664f20" /><Relationship Type="http://schemas.openxmlformats.org/officeDocument/2006/relationships/image" Target="/ppt/media/image.png" Id="R7e0342beddb245bc" /><Relationship Type="http://schemas.openxmlformats.org/officeDocument/2006/relationships/notesSlide" Target="/ppt/notesSlides/notesSlide19.xml" Id="R5f1421b426f44f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2fb7e98e74818" /><Relationship Type="http://schemas.openxmlformats.org/officeDocument/2006/relationships/image" Target="/ppt/media/image.png" Id="Rc400710280e64fd0" /><Relationship Type="http://schemas.openxmlformats.org/officeDocument/2006/relationships/notesSlide" Target="/ppt/notesSlides/notesSlide20.xml" Id="Rad3131d6331547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063c816f643d2" /><Relationship Type="http://schemas.openxmlformats.org/officeDocument/2006/relationships/image" Target="/ppt/media/image.png" Id="R80b3858870b84b3f" /><Relationship Type="http://schemas.openxmlformats.org/officeDocument/2006/relationships/image" Target="/ppt/media/image37.png" Id="Ra22eb88e1af84a34" /><Relationship Type="http://schemas.openxmlformats.org/officeDocument/2006/relationships/image" Target="/ppt/media/image15.png" Id="Reddf2661c425496a" /><Relationship Type="http://schemas.openxmlformats.org/officeDocument/2006/relationships/image" Target="/ppt/media/image38.png" Id="R90ad429dfb50414b" /><Relationship Type="http://schemas.openxmlformats.org/officeDocument/2006/relationships/image" Target="/ppt/media/image39.png" Id="R06967c4a31fd4f07" /><Relationship Type="http://schemas.openxmlformats.org/officeDocument/2006/relationships/notesSlide" Target="/ppt/notesSlides/notesSlide21.xml" Id="R29a2944483a245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54ef341e34332" /><Relationship Type="http://schemas.openxmlformats.org/officeDocument/2006/relationships/image" Target="/ppt/media/image.png" Id="Rca27103e5ddb42c9" /><Relationship Type="http://schemas.openxmlformats.org/officeDocument/2006/relationships/notesSlide" Target="/ppt/notesSlides/notesSlide22.xml" Id="R02d29351b81d4b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ba7ed054d4e95" /><Relationship Type="http://schemas.openxmlformats.org/officeDocument/2006/relationships/image" Target="/ppt/media/image.png" Id="R820e9bd788614098" /><Relationship Type="http://schemas.openxmlformats.org/officeDocument/2006/relationships/notesSlide" Target="/ppt/notesSlides/notesSlide23.xml" Id="Rd87a324150384a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cf6106cb8435f" /><Relationship Type="http://schemas.openxmlformats.org/officeDocument/2006/relationships/image" Target="/ppt/media/image.png" Id="R4b6cbfac22d74dbf" /><Relationship Type="http://schemas.openxmlformats.org/officeDocument/2006/relationships/notesSlide" Target="/ppt/notesSlides/notesSlide24.xml" Id="R09631598c14e425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f95ac079243cd" /><Relationship Type="http://schemas.openxmlformats.org/officeDocument/2006/relationships/image" Target="/ppt/media/image.png" Id="R284272a94a534b39" /><Relationship Type="http://schemas.openxmlformats.org/officeDocument/2006/relationships/image" Target="/ppt/media/image5.png" Id="Ra11878cd32364739" /><Relationship Type="http://schemas.openxmlformats.org/officeDocument/2006/relationships/image" Target="/ppt/media/image9.png" Id="R2348776ea5dd40ff" /><Relationship Type="http://schemas.openxmlformats.org/officeDocument/2006/relationships/image" Target="/ppt/media/image38.png" Id="Rd72fdc0f65ed4003" /><Relationship Type="http://schemas.openxmlformats.org/officeDocument/2006/relationships/image" Target="/ppt/media/image14.png" Id="Re16ebc5a7f674cb4" /><Relationship Type="http://schemas.openxmlformats.org/officeDocument/2006/relationships/image" Target="/ppt/media/image11.png" Id="R4c9e2072a33d4e97" /><Relationship Type="http://schemas.openxmlformats.org/officeDocument/2006/relationships/image" Target="/ppt/media/image40.png" Id="Rf0c74b3eee54480a" /><Relationship Type="http://schemas.openxmlformats.org/officeDocument/2006/relationships/notesSlide" Target="/ppt/notesSlides/notesSlide25.xml" Id="Rff0e0f5b08a34b0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95b3ce0124512" /><Relationship Type="http://schemas.openxmlformats.org/officeDocument/2006/relationships/image" Target="/ppt/media/image.png" Id="R32dbbdab49924a26" /><Relationship Type="http://schemas.openxmlformats.org/officeDocument/2006/relationships/notesSlide" Target="/ppt/notesSlides/notesSlide26.xml" Id="R9da145b7708145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2a65e3f4e4e52" /><Relationship Type="http://schemas.openxmlformats.org/officeDocument/2006/relationships/image" Target="/ppt/media/image.png" Id="Re64e4769fe0f41c4" /><Relationship Type="http://schemas.openxmlformats.org/officeDocument/2006/relationships/notesSlide" Target="/ppt/notesSlides/notesSlide27.xml" Id="R5d88ce032eb94f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064836d574aea" /><Relationship Type="http://schemas.openxmlformats.org/officeDocument/2006/relationships/image" Target="/ppt/media/image.png" Id="Rb97619bdf6004c18" /><Relationship Type="http://schemas.openxmlformats.org/officeDocument/2006/relationships/notesSlide" Target="/ppt/notesSlides/notesSlide28.xml" Id="Re87454ea1b3c4f6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904e3a90c499b" /><Relationship Type="http://schemas.openxmlformats.org/officeDocument/2006/relationships/image" Target="/ppt/media/image.png" Id="Rfbdfdefef4e74e28" /><Relationship Type="http://schemas.openxmlformats.org/officeDocument/2006/relationships/notesSlide" Target="/ppt/notesSlides/notesSlide29.xml" Id="Rbaf5adfa368d47e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de866457b4aa3" /><Relationship Type="http://schemas.openxmlformats.org/officeDocument/2006/relationships/image" Target="/ppt/media/image.png" Id="Rdea48160e0364b36" /><Relationship Type="http://schemas.openxmlformats.org/officeDocument/2006/relationships/notesSlide" Target="/ppt/notesSlides/notesSlide30.xml" Id="Rff00c4a697a64e2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c6ec22bfe4f66" /><Relationship Type="http://schemas.openxmlformats.org/officeDocument/2006/relationships/image" Target="/ppt/media/image.png" Id="R9f0cc72fada94eca" /><Relationship Type="http://schemas.openxmlformats.org/officeDocument/2006/relationships/image" Target="/ppt/media/image41.png" Id="Rec2e838f4437494e" /><Relationship Type="http://schemas.openxmlformats.org/officeDocument/2006/relationships/notesSlide" Target="/ppt/notesSlides/notesSlide31.xml" Id="Raf823d1c0db745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a18e1873d4b9f" /><Relationship Type="http://schemas.openxmlformats.org/officeDocument/2006/relationships/image" Target="/ppt/media/image.png" Id="R0ae957c228a24a3d" /><Relationship Type="http://schemas.openxmlformats.org/officeDocument/2006/relationships/image" Target="/ppt/media/image5.png" Id="Rc7af77c673824d65" /><Relationship Type="http://schemas.openxmlformats.org/officeDocument/2006/relationships/image" Target="/ppt/media/image3.png" Id="R7612009220d6449d" /><Relationship Type="http://schemas.openxmlformats.org/officeDocument/2006/relationships/image" Target="/ppt/media/image37.png" Id="Rbab123fcf2bb46e2" /><Relationship Type="http://schemas.openxmlformats.org/officeDocument/2006/relationships/image" Target="/ppt/media/image42.png" Id="R4c9e753dd0f34a15" /><Relationship Type="http://schemas.openxmlformats.org/officeDocument/2006/relationships/image" Target="/ppt/media/image39.png" Id="R794eece2a970422a" /><Relationship Type="http://schemas.openxmlformats.org/officeDocument/2006/relationships/image" Target="/ppt/media/image2.png" Id="Rf2b627f685654bb4" /><Relationship Type="http://schemas.openxmlformats.org/officeDocument/2006/relationships/notesSlide" Target="/ppt/notesSlides/notesSlide32.xml" Id="R7d4345dccbfa494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ea434c6a943c0" /><Relationship Type="http://schemas.openxmlformats.org/officeDocument/2006/relationships/image" Target="/ppt/media/image.png" Id="R66173a4e710d4f96" /><Relationship Type="http://schemas.openxmlformats.org/officeDocument/2006/relationships/notesSlide" Target="/ppt/notesSlides/notesSlide33.xml" Id="R64b417816bce4d2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f7e40db22419d" /><Relationship Type="http://schemas.openxmlformats.org/officeDocument/2006/relationships/image" Target="/ppt/media/image.png" Id="Rd0f911d86ece4924" /><Relationship Type="http://schemas.openxmlformats.org/officeDocument/2006/relationships/notesSlide" Target="/ppt/notesSlides/notesSlide34.xml" Id="Re164a14091dd485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364774e014070" /><Relationship Type="http://schemas.openxmlformats.org/officeDocument/2006/relationships/image" Target="/ppt/media/image.png" Id="Re1ed25d7e80a477e" /><Relationship Type="http://schemas.openxmlformats.org/officeDocument/2006/relationships/image" Target="/ppt/media/image43.png" Id="Rfbe34c2041a7451c" /><Relationship Type="http://schemas.openxmlformats.org/officeDocument/2006/relationships/image" Target="/ppt/media/image42.png" Id="R7be61bd23edc4ca8" /><Relationship Type="http://schemas.openxmlformats.org/officeDocument/2006/relationships/image" Target="/ppt/media/image6.png" Id="R0083de807b484955" /><Relationship Type="http://schemas.openxmlformats.org/officeDocument/2006/relationships/image" Target="/ppt/media/image13.png" Id="R364a549a882a4dd9" /><Relationship Type="http://schemas.openxmlformats.org/officeDocument/2006/relationships/image" Target="/ppt/media/image14.png" Id="Reb191cb8498e47e8" /><Relationship Type="http://schemas.openxmlformats.org/officeDocument/2006/relationships/image" Target="/ppt/media/image40.png" Id="Rd32560b2b4884507" /><Relationship Type="http://schemas.openxmlformats.org/officeDocument/2006/relationships/image" Target="/ppt/media/image39.png" Id="Rb160568975284656" /><Relationship Type="http://schemas.openxmlformats.org/officeDocument/2006/relationships/notesSlide" Target="/ppt/notesSlides/notesSlide35.xml" Id="R1311b4a870f1434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25415575243e6" /><Relationship Type="http://schemas.openxmlformats.org/officeDocument/2006/relationships/image" Target="/ppt/media/image.png" Id="Re800797d0cec4de8" /><Relationship Type="http://schemas.openxmlformats.org/officeDocument/2006/relationships/image" Target="/ppt/media/image44.png" Id="R461367cda38446d9" /><Relationship Type="http://schemas.openxmlformats.org/officeDocument/2006/relationships/image" Target="/ppt/media/image3.png" Id="R816290b1fdd64a85" /><Relationship Type="http://schemas.openxmlformats.org/officeDocument/2006/relationships/notesSlide" Target="/ppt/notesSlides/notesSlide36.xml" Id="R39410ea5bb074a8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25489daa1454f" /><Relationship Type="http://schemas.openxmlformats.org/officeDocument/2006/relationships/image" Target="/ppt/media/image.png" Id="R846c5bcd0dcf4399" /><Relationship Type="http://schemas.openxmlformats.org/officeDocument/2006/relationships/notesSlide" Target="/ppt/notesSlides/notesSlide37.xml" Id="R04a5aaa18e4e438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a95df3b81428d" /><Relationship Type="http://schemas.openxmlformats.org/officeDocument/2006/relationships/image" Target="/ppt/media/image.png" Id="Rc0d66732f3dd4655" /><Relationship Type="http://schemas.openxmlformats.org/officeDocument/2006/relationships/notesSlide" Target="/ppt/notesSlides/notesSlide38.xml" Id="R0e6bee1a2b3540a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964db55de4f48" /><Relationship Type="http://schemas.openxmlformats.org/officeDocument/2006/relationships/image" Target="/ppt/media/image.png" Id="R2b4637d45ffd4223" /><Relationship Type="http://schemas.openxmlformats.org/officeDocument/2006/relationships/notesSlide" Target="/ppt/notesSlides/notesSlide39.xml" Id="R36297adc4086475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67c3dfea14b21" /><Relationship Type="http://schemas.openxmlformats.org/officeDocument/2006/relationships/image" Target="/ppt/media/image.png" Id="R7c8b808065654be7" /><Relationship Type="http://schemas.openxmlformats.org/officeDocument/2006/relationships/image" Target="/ppt/media/image45.png" Id="Reb80b76203934d85" /><Relationship Type="http://schemas.openxmlformats.org/officeDocument/2006/relationships/image" Target="/ppt/media/image46.png" Id="Rb683019e31ac4aad" /><Relationship Type="http://schemas.openxmlformats.org/officeDocument/2006/relationships/image" Target="/ppt/media/image47.png" Id="R3e1515b61037464c" /><Relationship Type="http://schemas.openxmlformats.org/officeDocument/2006/relationships/notesSlide" Target="/ppt/notesSlides/notesSlide40.xml" Id="R9cb8b3f110594d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Google Shape;17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767613ece740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306824" y="146304"/>
            <a:ext cx="530352" cy="7955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F92B24FE-6C09-4F17-AC3C-458238BD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005840"/>
            <a:ext cx="8229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Universidad Nacional de Asunción  ·  Facultad Politécnica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E8B92654-F06E-4762-BFB9-ABA1C6C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25296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Carrera de Ingeniería en Informática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144C40B4-2308-425A-8DB8-B70A97F0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72768"/>
            <a:ext cx="82296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4200"/>
              <a:buFont typeface="Cambria"/>
              <a:buNone/>
            </a:pPr>
            <a:r>
              <a:rPr sz="42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POJOAJU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485E045A-A6E7-49C3-B5E8-0A1F9E85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2249424"/>
            <a:ext cx="74980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Traductor y Entrenador Automático de la Lengua de Señas Paraguaya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mediante Redes Neuronales Recurrentes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6C053698-73E2-4F9D-B1E4-6E332931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89504"/>
            <a:ext cx="8229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Trabajo Final de Grado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6775E3EC-7F0E-4B59-AABB-2079A27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401568"/>
            <a:ext cx="82296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Valentina María Cano López   ·   Sergio Nicolás Espinola Bogado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Orientador: Prof. MSc. Luis Gilberto Salinas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7EC1DEA5-02B9-4CE3-AB12-E2A0AC1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315968"/>
            <a:ext cx="8229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Asunción, Paraguay  —  2026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5606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2">
            <a:extLst xmlns:a="http://schemas.openxmlformats.org/drawingml/2006/main">
              <a:ext uri="{FF2B5EF4-FFF2-40B4-BE49-F238E27FC236}">
                <a16:creationId xmlns:a16="http://schemas.microsoft.com/office/drawing/2014/main" id="{E541924F-F397-4488-B96B-0F4B2661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Contenido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4" name="Google Shape;31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5dde6c62ec4a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Google Shape;32;p2">
            <a:extLst xmlns:a="http://schemas.openxmlformats.org/drawingml/2006/main">
              <a:ext uri="{FF2B5EF4-FFF2-40B4-BE49-F238E27FC236}">
                <a16:creationId xmlns:a16="http://schemas.microsoft.com/office/drawing/2014/main" id="{A23F5A1A-8BBD-40EE-B269-2FB8805E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2">
            <a:extLst xmlns:a="http://schemas.openxmlformats.org/drawingml/2006/main">
              <a:ext uri="{FF2B5EF4-FFF2-40B4-BE49-F238E27FC236}">
                <a16:creationId xmlns:a16="http://schemas.microsoft.com/office/drawing/2014/main" id="{68C2B267-1C09-4359-908F-79F6744A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2">
            <a:extLst xmlns:a="http://schemas.openxmlformats.org/drawingml/2006/main">
              <a:ext uri="{FF2B5EF4-FFF2-40B4-BE49-F238E27FC236}">
                <a16:creationId xmlns:a16="http://schemas.microsoft.com/office/drawing/2014/main" id="{BCEAFEAC-965F-426F-8BEE-65B5AC5C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2344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1.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2">
            <a:extLst xmlns:a="http://schemas.openxmlformats.org/drawingml/2006/main">
              <a:ext uri="{FF2B5EF4-FFF2-40B4-BE49-F238E27FC236}">
                <a16:creationId xmlns:a16="http://schemas.microsoft.com/office/drawing/2014/main" id="{1D457BB9-1EED-46BB-A5ED-F36A71A2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968" y="1234440"/>
            <a:ext cx="775411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El problema y su contexto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2">
            <a:extLst xmlns:a="http://schemas.openxmlformats.org/drawingml/2006/main">
              <a:ext uri="{FF2B5EF4-FFF2-40B4-BE49-F238E27FC236}">
                <a16:creationId xmlns:a16="http://schemas.microsoft.com/office/drawing/2014/main" id="{3BDA0DC5-E5BF-43FE-A94C-6E661C4B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7465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2.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Google Shape;39;p2">
            <a:extLst xmlns:a="http://schemas.openxmlformats.org/drawingml/2006/main">
              <a:ext uri="{FF2B5EF4-FFF2-40B4-BE49-F238E27FC236}">
                <a16:creationId xmlns:a16="http://schemas.microsoft.com/office/drawing/2014/main" id="{DE71E4F9-2E57-4FC0-8E7F-099EB92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968" y="1746504"/>
            <a:ext cx="775411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La lengua de señas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2">
            <a:extLst xmlns:a="http://schemas.openxmlformats.org/drawingml/2006/main">
              <a:ext uri="{FF2B5EF4-FFF2-40B4-BE49-F238E27FC236}">
                <a16:creationId xmlns:a16="http://schemas.microsoft.com/office/drawing/2014/main" id="{0FB9D249-784A-4F1D-B750-61CC98D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25856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3.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F8F2020A-A679-4EE2-9066-2D87BB14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968" y="2258568"/>
            <a:ext cx="775411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Objetivos y metodología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6AE42214-785F-4177-A719-F7DF5C8B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770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4.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BA09EF5-0670-4344-A795-9F7D07A5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968" y="2770632"/>
            <a:ext cx="775411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Pojoaju: diseño e implementación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C98AF3F4-EC52-4B6E-B146-9661AB4E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3282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5.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65B9B15F-34DB-4189-BA28-EA7D1379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968" y="3282696"/>
            <a:ext cx="775411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Evaluación del modelo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2">
            <a:extLst xmlns:a="http://schemas.openxmlformats.org/drawingml/2006/main">
              <a:ext uri="{FF2B5EF4-FFF2-40B4-BE49-F238E27FC236}">
                <a16:creationId xmlns:a16="http://schemas.microsoft.com/office/drawing/2014/main" id="{E50CC0E1-E5D8-43A5-9CD9-4E31E75D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37947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6.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2">
            <a:extLst xmlns:a="http://schemas.openxmlformats.org/drawingml/2006/main">
              <a:ext uri="{FF2B5EF4-FFF2-40B4-BE49-F238E27FC236}">
                <a16:creationId xmlns:a16="http://schemas.microsoft.com/office/drawing/2014/main" id="{F35DEB04-538D-458F-9169-D00A6FAE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968" y="3794760"/>
            <a:ext cx="775411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Conclusiones y líneas futuras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5497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4">
            <a:extLst xmlns:a="http://schemas.openxmlformats.org/drawingml/2006/main">
              <a:ext uri="{FF2B5EF4-FFF2-40B4-BE49-F238E27FC236}">
                <a16:creationId xmlns:a16="http://schemas.microsoft.com/office/drawing/2014/main" id="{E0495533-2150-41DB-B5BD-AD2F08E8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El problema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4">
            <a:extLst xmlns:a="http://schemas.openxmlformats.org/drawingml/2006/main">
              <a:ext uri="{FF2B5EF4-FFF2-40B4-BE49-F238E27FC236}">
                <a16:creationId xmlns:a16="http://schemas.microsoft.com/office/drawing/2014/main" id="{0584ED3B-15B1-4113-8AB3-9CE61445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Una barrera de comunicación cotidiana, sin herramientas de uso diario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0" name="Google Shape;8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7b6f616abc4d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Google Shape;85;p4">
            <a:extLst xmlns:a="http://schemas.openxmlformats.org/drawingml/2006/main">
              <a:ext uri="{FF2B5EF4-FFF2-40B4-BE49-F238E27FC236}">
                <a16:creationId xmlns:a16="http://schemas.microsoft.com/office/drawing/2014/main" id="{2E85F307-8F63-4AF7-BFD8-76D00DFD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4">
            <a:extLst xmlns:a="http://schemas.openxmlformats.org/drawingml/2006/main">
              <a:ext uri="{FF2B5EF4-FFF2-40B4-BE49-F238E27FC236}">
                <a16:creationId xmlns:a16="http://schemas.microsoft.com/office/drawing/2014/main" id="{D995E8C5-13B8-4420-B8CF-B482D65D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4">
            <a:extLst xmlns:a="http://schemas.openxmlformats.org/drawingml/2006/main">
              <a:ext uri="{FF2B5EF4-FFF2-40B4-BE49-F238E27FC236}">
                <a16:creationId xmlns:a16="http://schemas.microsoft.com/office/drawing/2014/main" id="{A857B90C-B4B6-4DB1-A1A5-63865EDA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288036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4">
            <a:extLst xmlns:a="http://schemas.openxmlformats.org/drawingml/2006/main">
              <a:ext uri="{FF2B5EF4-FFF2-40B4-BE49-F238E27FC236}">
                <a16:creationId xmlns:a16="http://schemas.microsoft.com/office/drawing/2014/main" id="{ED0AD01F-0EB0-4CE5-89DA-CB55A28F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24231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5000"/>
              <a:buFont typeface="Cambria"/>
              <a:buNone/>
            </a:pPr>
            <a:r>
              <a:rPr sz="5000" b="1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68.964</a:t>
            </a:r>
            <a:endParaRPr sz="5000" b="0" i="0" u="none" cap="none">
              <a:solidFill>
                <a:srgbClr val="2222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4">
            <a:extLst xmlns:a="http://schemas.openxmlformats.org/drawingml/2006/main">
              <a:ext uri="{FF2B5EF4-FFF2-40B4-BE49-F238E27FC236}">
                <a16:creationId xmlns:a16="http://schemas.microsoft.com/office/drawing/2014/main" id="{3FFD2B02-C9FD-47F1-88A0-A0147AA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57984"/>
            <a:ext cx="24231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personas con discapacidad auditiva en Paraguay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4">
            <a:extLst xmlns:a="http://schemas.openxmlformats.org/drawingml/2006/main">
              <a:ext uri="{FF2B5EF4-FFF2-40B4-BE49-F238E27FC236}">
                <a16:creationId xmlns:a16="http://schemas.microsoft.com/office/drawing/2014/main" id="{17D9AD7C-1381-4CC8-ACA5-2EEAFF76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242316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Censo Nacional de Población y Viviendas </a:t>
            </a:r>
            <a:r>
              <a:rPr sz="1050" b="0" i="1" u="none" cap="none">
                <a:solidFill>
                  <a:srgbClr val="6B7086"/>
                </a:solidFill>
                <a:latin typeface="Georgia"/>
                <a:ea typeface="Georgia"/>
                <a:cs typeface="Georgia"/>
              </a:rPr>
              <a:t>2022</a:t>
            </a:r>
            <a:r>
              <a:rPr sz="10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 (INE, </a:t>
            </a:r>
            <a:r>
              <a:rPr sz="1050" b="0" i="1" u="none" cap="none">
                <a:solidFill>
                  <a:srgbClr val="6B7086"/>
                </a:solidFill>
                <a:latin typeface="Georgia"/>
                <a:ea typeface="Georgia"/>
                <a:cs typeface="Georgia"/>
              </a:rPr>
              <a:t>2024</a:t>
            </a:r>
            <a:r>
              <a:rPr sz="10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) — una cifra comparable a la población de una ciudad intermedia paraguaya.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4">
            <a:extLst xmlns:a="http://schemas.openxmlformats.org/drawingml/2006/main">
              <a:ext uri="{FF2B5EF4-FFF2-40B4-BE49-F238E27FC236}">
                <a16:creationId xmlns:a16="http://schemas.microsoft.com/office/drawing/2014/main" id="{AA954F2E-8D26-468C-9906-DB6E29AC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097280"/>
            <a:ext cx="4937760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8" name="Google Shape;92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76083f2f5042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13632" y="1280160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3" name="Google Shape;93;p4">
            <a:extLst xmlns:a="http://schemas.openxmlformats.org/drawingml/2006/main">
              <a:ext uri="{FF2B5EF4-FFF2-40B4-BE49-F238E27FC236}">
                <a16:creationId xmlns:a16="http://schemas.microsoft.com/office/drawing/2014/main" id="{763B1CB1-F3B2-4C0D-BE1F-D036042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43584"/>
            <a:ext cx="40233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Educación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4">
            <a:extLst xmlns:a="http://schemas.openxmlformats.org/drawingml/2006/main">
              <a:ext uri="{FF2B5EF4-FFF2-40B4-BE49-F238E27FC236}">
                <a16:creationId xmlns:a16="http://schemas.microsoft.com/office/drawing/2014/main" id="{B713D415-86ED-4C50-9B45-9A41DD2E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17904"/>
            <a:ext cx="406908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Faltan intérpretes, materiales y docentes capacitados en LSPy; el efecto es acumulativo desde la infancia.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4">
            <a:extLst xmlns:a="http://schemas.openxmlformats.org/drawingml/2006/main">
              <a:ext uri="{FF2B5EF4-FFF2-40B4-BE49-F238E27FC236}">
                <a16:creationId xmlns:a16="http://schemas.microsoft.com/office/drawing/2014/main" id="{990DE5BF-02AD-41B4-B3BB-E3533DAE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139696"/>
            <a:ext cx="4937760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2" name="Google Shape;9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d52361d8c6413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13632" y="2322576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7" name="Google Shape;97;p4">
            <a:extLst xmlns:a="http://schemas.openxmlformats.org/drawingml/2006/main">
              <a:ext uri="{FF2B5EF4-FFF2-40B4-BE49-F238E27FC236}">
                <a16:creationId xmlns:a16="http://schemas.microsoft.com/office/drawing/2014/main" id="{95093BD3-24E2-44A4-9D7D-17574E0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40233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Familia y sociedad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4">
            <a:extLst xmlns:a="http://schemas.openxmlformats.org/drawingml/2006/main">
              <a:ext uri="{FF2B5EF4-FFF2-40B4-BE49-F238E27FC236}">
                <a16:creationId xmlns:a16="http://schemas.microsoft.com/office/drawing/2014/main" id="{23840B9D-04F8-408D-90E9-59BAB3CC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60320"/>
            <a:ext cx="406908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Muchos padres oyentes no dominan la lengua: la barrera empieza dentro de la propia casa.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4">
            <a:extLst xmlns:a="http://schemas.openxmlformats.org/drawingml/2006/main">
              <a:ext uri="{FF2B5EF4-FFF2-40B4-BE49-F238E27FC236}">
                <a16:creationId xmlns:a16="http://schemas.microsoft.com/office/drawing/2014/main" id="{33C1A794-8B5E-49CD-BAE9-12265347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182112"/>
            <a:ext cx="4937760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6" name="Google Shape;10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390f46cadf46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13632" y="3364992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1" name="Google Shape;101;p4">
            <a:extLst xmlns:a="http://schemas.openxmlformats.org/drawingml/2006/main">
              <a:ext uri="{FF2B5EF4-FFF2-40B4-BE49-F238E27FC236}">
                <a16:creationId xmlns:a16="http://schemas.microsoft.com/office/drawing/2014/main" id="{06357998-C630-418C-AF96-FDA0503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28416"/>
            <a:ext cx="40233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Ley sin herramientas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4">
            <a:extLst xmlns:a="http://schemas.openxmlformats.org/drawingml/2006/main">
              <a:ext uri="{FF2B5EF4-FFF2-40B4-BE49-F238E27FC236}">
                <a16:creationId xmlns:a16="http://schemas.microsoft.com/office/drawing/2014/main" id="{F1FCF124-93E6-43BA-B682-F0401604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2736"/>
            <a:ext cx="406908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La Ley </a:t>
            </a:r>
            <a:r>
              <a:rPr sz="1150" b="0" i="0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6530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150" b="0" i="0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2020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reconoce la LSPy, pero el reconocimiento legal por sí solo no crea herramientas de uso diario.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4">
            <a:extLst xmlns:a="http://schemas.openxmlformats.org/drawingml/2006/main">
              <a:ext uri="{FF2B5EF4-FFF2-40B4-BE49-F238E27FC236}">
                <a16:creationId xmlns:a16="http://schemas.microsoft.com/office/drawing/2014/main" id="{2B7366A3-B124-470D-B922-E4BEF52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Hoy no hay una herramienta que permita entender una seña en el momento, ni aprender el vocabulario básico para comunicarse.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647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5">
            <a:extLst xmlns:a="http://schemas.openxmlformats.org/drawingml/2006/main">
              <a:ext uri="{FF2B5EF4-FFF2-40B4-BE49-F238E27FC236}">
                <a16:creationId xmlns:a16="http://schemas.microsoft.com/office/drawing/2014/main" id="{9DFF706A-BCDC-47D2-BD12-5466DC0B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Qué existe hoy para la LSPy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51B96F5A-3517-45BF-A9B0-20EC0083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Recursos valiosos, pero estáticos o unidireccionales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4" name="Google Shape;137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56a4ccc44044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8" name="Google Shape;138;p5">
            <a:extLst xmlns:a="http://schemas.openxmlformats.org/drawingml/2006/main">
              <a:ext uri="{FF2B5EF4-FFF2-40B4-BE49-F238E27FC236}">
                <a16:creationId xmlns:a16="http://schemas.microsoft.com/office/drawing/2014/main" id="{9DB3CE40-B59A-4F0A-A9AD-7CB7504A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6E050AA1-9B97-410F-A9FE-2D304605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5">
            <a:extLst xmlns:a="http://schemas.openxmlformats.org/drawingml/2006/main">
              <a:ext uri="{FF2B5EF4-FFF2-40B4-BE49-F238E27FC236}">
                <a16:creationId xmlns:a16="http://schemas.microsoft.com/office/drawing/2014/main" id="{3AD47974-B80F-4C50-93FE-337ABBD8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7764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68" name="Google Shape;14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1ef2dc007040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2376" y="1298448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725F2DAD-EEBE-4E00-AF44-30F3FE48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61872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Signario Bilingüe (SNLSP, </a:t>
            </a:r>
            <a:r>
              <a:rPr sz="13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2023</a:t>
            </a: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66CFCD55-128C-409F-BA3A-40D1D2AB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664208"/>
            <a:ext cx="353872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El recurso de referencia para la estandarización. Documento de consulta: sirve si ya se sabe qué palabra buscar, pero no ofrece interacción ni práctica.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5">
            <a:extLst xmlns:a="http://schemas.openxmlformats.org/drawingml/2006/main">
              <a:ext uri="{FF2B5EF4-FFF2-40B4-BE49-F238E27FC236}">
                <a16:creationId xmlns:a16="http://schemas.microsoft.com/office/drawing/2014/main" id="{A13DF76A-EC2D-4B40-963C-B84C14E7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97280"/>
            <a:ext cx="397764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2" name="Google Shape;145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880896bc8145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82896" y="1298448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5">
            <a:extLst xmlns:a="http://schemas.openxmlformats.org/drawingml/2006/main">
              <a:ext uri="{FF2B5EF4-FFF2-40B4-BE49-F238E27FC236}">
                <a16:creationId xmlns:a16="http://schemas.microsoft.com/office/drawing/2014/main" id="{E92A8F69-F610-40E1-B1D2-FB0542F2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261872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Materiales audiovisuales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5">
            <a:extLst xmlns:a="http://schemas.openxmlformats.org/drawingml/2006/main">
              <a:ext uri="{FF2B5EF4-FFF2-40B4-BE49-F238E27FC236}">
                <a16:creationId xmlns:a16="http://schemas.microsoft.com/office/drawing/2014/main" id="{F282B643-F439-4346-A599-8D1AA09E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1664208"/>
            <a:ext cx="353872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SENADIS produce audiovisuales instructivos y En Lengua de Señas TV integra intérpretes en transmisiones en vivo desde 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2024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5">
            <a:extLst xmlns:a="http://schemas.openxmlformats.org/drawingml/2006/main">
              <a:ext uri="{FF2B5EF4-FFF2-40B4-BE49-F238E27FC236}">
                <a16:creationId xmlns:a16="http://schemas.microsoft.com/office/drawing/2014/main" id="{3EBBC969-DA72-4979-B34A-F2454C76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397764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6" name="Google Shape;149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fcce8f6ca74a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2376" y="2944368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5">
            <a:extLst xmlns:a="http://schemas.openxmlformats.org/drawingml/2006/main">
              <a:ext uri="{FF2B5EF4-FFF2-40B4-BE49-F238E27FC236}">
                <a16:creationId xmlns:a16="http://schemas.microsoft.com/office/drawing/2014/main" id="{C00E48D5-6BB9-4CA4-A960-FCA0B403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7792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Producción de la comunidad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Google Shape;151;p5">
            <a:extLst xmlns:a="http://schemas.openxmlformats.org/drawingml/2006/main">
              <a:ext uri="{FF2B5EF4-FFF2-40B4-BE49-F238E27FC236}">
                <a16:creationId xmlns:a16="http://schemas.microsoft.com/office/drawing/2014/main" id="{482AB4AE-C9E4-4BF3-ACF0-B8544EB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310128"/>
            <a:ext cx="353872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Po Arandu, junto a Paraguay Educa, lanzó la primera Historia del Paraguay en LSPy; canales como Lengua de Señas LSPy y CODA Dos Lenguas enseñan la lengua en video.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5">
            <a:extLst xmlns:a="http://schemas.openxmlformats.org/drawingml/2006/main">
              <a:ext uri="{FF2B5EF4-FFF2-40B4-BE49-F238E27FC236}">
                <a16:creationId xmlns:a16="http://schemas.microsoft.com/office/drawing/2014/main" id="{DA8B806C-7EA9-4635-98E7-EAA0C0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397764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0" name="Google Shape;153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beee62c7ee45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82896" y="2944368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" name="Google Shape;154;p5">
            <a:extLst xmlns:a="http://schemas.openxmlformats.org/drawingml/2006/main">
              <a:ext uri="{FF2B5EF4-FFF2-40B4-BE49-F238E27FC236}">
                <a16:creationId xmlns:a16="http://schemas.microsoft.com/office/drawing/2014/main" id="{91460665-7A36-4ACE-9464-FD4E7E7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907792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Marco legal amplio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5">
            <a:extLst xmlns:a="http://schemas.openxmlformats.org/drawingml/2006/main">
              <a:ext uri="{FF2B5EF4-FFF2-40B4-BE49-F238E27FC236}">
                <a16:creationId xmlns:a16="http://schemas.microsoft.com/office/drawing/2014/main" id="{B5911861-32EA-4743-B8C9-6F86D5D1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3310128"/>
            <a:ext cx="353872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Ley 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6530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2020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(reconocimiento de la LSPy), Ley de Lenguas 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4251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2010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, accesibilidad 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3585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2008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y cupo laboral 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2479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2004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5">
            <a:extLst xmlns:a="http://schemas.openxmlformats.org/drawingml/2006/main">
              <a:ext uri="{FF2B5EF4-FFF2-40B4-BE49-F238E27FC236}">
                <a16:creationId xmlns:a16="http://schemas.microsoft.com/office/drawing/2014/main" id="{DDCB724E-67C0-42FB-A247-1C21C954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7939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El vacío no es de reconocimiento legal ni de materiales: es de herramientas interactivas, con retroalimentación inmediata.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5740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6" name="Google Shape;161;p3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42fcf231a14e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2" name="Google Shape;162;p35">
            <a:extLst xmlns:a="http://schemas.openxmlformats.org/drawingml/2006/main">
              <a:ext uri="{FF2B5EF4-FFF2-40B4-BE49-F238E27FC236}">
                <a16:creationId xmlns:a16="http://schemas.microsoft.com/office/drawing/2014/main" id="{00E9AB1A-DEBC-49F1-8A0B-69484997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Panorama regional en Sudamérica</a:t>
            </a:r>
            <a:endParaRPr sz="260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63" name="Google Shape;163;p35">
            <a:extLst xmlns:a="http://schemas.openxmlformats.org/drawingml/2006/main">
              <a:ext uri="{FF2B5EF4-FFF2-40B4-BE49-F238E27FC236}">
                <a16:creationId xmlns:a16="http://schemas.microsoft.com/office/drawing/2014/main" id="{FF1F8774-3594-4597-8E91-25EC1B1B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El reconocimiento legal de las lenguas de señas avanzó de forma despareja en la región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35">
            <a:extLst xmlns:a="http://schemas.openxmlformats.org/drawingml/2006/main">
              <a:ext uri="{FF2B5EF4-FFF2-40B4-BE49-F238E27FC236}">
                <a16:creationId xmlns:a16="http://schemas.microsoft.com/office/drawing/2014/main" id="{1751C177-4C79-4718-B409-8F070F3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35">
            <a:extLst xmlns:a="http://schemas.openxmlformats.org/drawingml/2006/main">
              <a:ext uri="{FF2B5EF4-FFF2-40B4-BE49-F238E27FC236}">
                <a16:creationId xmlns:a16="http://schemas.microsoft.com/office/drawing/2014/main" id="{6511ADA1-D8A9-48FE-A4E3-42B833B4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8138160" cy="1572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35">
            <a:extLst xmlns:a="http://schemas.openxmlformats.org/drawingml/2006/main">
              <a:ext uri="{FF2B5EF4-FFF2-40B4-BE49-F238E27FC236}">
                <a16:creationId xmlns:a16="http://schemas.microsoft.com/office/drawing/2014/main" id="{D9D5DECC-3B75-4FEA-BB14-03EE15D7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47088"/>
            <a:ext cx="6537960" cy="201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7E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35">
            <a:extLst xmlns:a="http://schemas.openxmlformats.org/drawingml/2006/main">
              <a:ext uri="{FF2B5EF4-FFF2-40B4-BE49-F238E27FC236}">
                <a16:creationId xmlns:a16="http://schemas.microsoft.com/office/drawing/2014/main" id="{3B4DD27B-4CE3-4EB1-9717-EF4EB8C5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" y="177942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AEB2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Google Shape;168;p35">
            <a:extLst xmlns:a="http://schemas.openxmlformats.org/drawingml/2006/main">
              <a:ext uri="{FF2B5EF4-FFF2-40B4-BE49-F238E27FC236}">
                <a16:creationId xmlns:a16="http://schemas.microsoft.com/office/drawing/2014/main" id="{2FEA94E6-5933-4CA3-98CD-2B6D30C7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89888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2001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35">
            <a:extLst xmlns:a="http://schemas.openxmlformats.org/drawingml/2006/main">
              <a:ext uri="{FF2B5EF4-FFF2-40B4-BE49-F238E27FC236}">
                <a16:creationId xmlns:a16="http://schemas.microsoft.com/office/drawing/2014/main" id="{B37C10A8-2630-4DFD-B054-90C259EB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48256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Uruguay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35">
            <a:extLst xmlns:a="http://schemas.openxmlformats.org/drawingml/2006/main">
              <a:ext uri="{FF2B5EF4-FFF2-40B4-BE49-F238E27FC236}">
                <a16:creationId xmlns:a16="http://schemas.microsoft.com/office/drawing/2014/main" id="{14436252-7973-4154-96BA-28DBDD4C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267712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Ley 17.378 — LSU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p35">
            <a:extLst xmlns:a="http://schemas.openxmlformats.org/drawingml/2006/main">
              <a:ext uri="{FF2B5EF4-FFF2-40B4-BE49-F238E27FC236}">
                <a16:creationId xmlns:a16="http://schemas.microsoft.com/office/drawing/2014/main" id="{411170B1-1752-47C8-BEF1-A480B563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6" y="177942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AEB2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35">
            <a:extLst xmlns:a="http://schemas.openxmlformats.org/drawingml/2006/main">
              <a:ext uri="{FF2B5EF4-FFF2-40B4-BE49-F238E27FC236}">
                <a16:creationId xmlns:a16="http://schemas.microsoft.com/office/drawing/2014/main" id="{1DB2DD31-76A6-42B1-B0AC-B904CCF8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" y="1389888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2009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35">
            <a:extLst xmlns:a="http://schemas.openxmlformats.org/drawingml/2006/main">
              <a:ext uri="{FF2B5EF4-FFF2-40B4-BE49-F238E27FC236}">
                <a16:creationId xmlns:a16="http://schemas.microsoft.com/office/drawing/2014/main" id="{713C4641-72CA-4EE8-A1B4-2A147022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" y="2048256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Paraguay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35">
            <a:extLst xmlns:a="http://schemas.openxmlformats.org/drawingml/2006/main">
              <a:ext uri="{FF2B5EF4-FFF2-40B4-BE49-F238E27FC236}">
                <a16:creationId xmlns:a16="http://schemas.microsoft.com/office/drawing/2014/main" id="{4ABE81EA-FC29-40EE-8AF4-953F7F7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" y="2267712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Res. MEC 43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35">
            <a:extLst xmlns:a="http://schemas.openxmlformats.org/drawingml/2006/main">
              <a:ext uri="{FF2B5EF4-FFF2-40B4-BE49-F238E27FC236}">
                <a16:creationId xmlns:a16="http://schemas.microsoft.com/office/drawing/2014/main" id="{04747665-A683-422C-B12C-FB37E0BF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175199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Google Shape;176;p35">
            <a:extLst xmlns:a="http://schemas.openxmlformats.org/drawingml/2006/main">
              <a:ext uri="{FF2B5EF4-FFF2-40B4-BE49-F238E27FC236}">
                <a16:creationId xmlns:a16="http://schemas.microsoft.com/office/drawing/2014/main" id="{2772A8D5-B5E3-44C7-AFD9-72260B73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89888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2020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Google Shape;177;p35">
            <a:extLst xmlns:a="http://schemas.openxmlformats.org/drawingml/2006/main">
              <a:ext uri="{FF2B5EF4-FFF2-40B4-BE49-F238E27FC236}">
                <a16:creationId xmlns:a16="http://schemas.microsoft.com/office/drawing/2014/main" id="{C25E8197-43DB-4671-A447-BD868F61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48256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Paraguay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35">
            <a:extLst xmlns:a="http://schemas.openxmlformats.org/drawingml/2006/main">
              <a:ext uri="{FF2B5EF4-FFF2-40B4-BE49-F238E27FC236}">
                <a16:creationId xmlns:a16="http://schemas.microsoft.com/office/drawing/2014/main" id="{35A759F1-913E-4E88-90F3-83242D2E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7712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Ley 6530 — LSPy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35">
            <a:extLst xmlns:a="http://schemas.openxmlformats.org/drawingml/2006/main">
              <a:ext uri="{FF2B5EF4-FFF2-40B4-BE49-F238E27FC236}">
                <a16:creationId xmlns:a16="http://schemas.microsoft.com/office/drawing/2014/main" id="{30328110-7E08-4A80-94C4-1107AD7C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306" y="177942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AEB2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35">
            <a:extLst xmlns:a="http://schemas.openxmlformats.org/drawingml/2006/main">
              <a:ext uri="{FF2B5EF4-FFF2-40B4-BE49-F238E27FC236}">
                <a16:creationId xmlns:a16="http://schemas.microsoft.com/office/drawing/2014/main" id="{C77637C1-339D-4466-8083-25807D7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1389888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2023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35">
            <a:extLst xmlns:a="http://schemas.openxmlformats.org/drawingml/2006/main">
              <a:ext uri="{FF2B5EF4-FFF2-40B4-BE49-F238E27FC236}">
                <a16:creationId xmlns:a16="http://schemas.microsoft.com/office/drawing/2014/main" id="{C15417E0-1EC5-4055-B52D-2DB5AE6E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048256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Argentina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Google Shape;182;p35">
            <a:extLst xmlns:a="http://schemas.openxmlformats.org/drawingml/2006/main">
              <a:ext uri="{FF2B5EF4-FFF2-40B4-BE49-F238E27FC236}">
                <a16:creationId xmlns:a16="http://schemas.microsoft.com/office/drawing/2014/main" id="{96EEE94D-05A8-4C07-BDF5-7513A34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267712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Ley 27.710 — LSA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35">
            <a:extLst xmlns:a="http://schemas.openxmlformats.org/drawingml/2006/main">
              <a:ext uri="{FF2B5EF4-FFF2-40B4-BE49-F238E27FC236}">
                <a16:creationId xmlns:a16="http://schemas.microsoft.com/office/drawing/2014/main" id="{C60AB88F-7316-475B-8B69-33E24D13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796" y="177942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AEB2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35">
            <a:extLst xmlns:a="http://schemas.openxmlformats.org/drawingml/2006/main">
              <a:ext uri="{FF2B5EF4-FFF2-40B4-BE49-F238E27FC236}">
                <a16:creationId xmlns:a16="http://schemas.microsoft.com/office/drawing/2014/main" id="{548173BE-C8EF-4039-B2AF-6B2E64F3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389888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2025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35">
            <a:extLst xmlns:a="http://schemas.openxmlformats.org/drawingml/2006/main">
              <a:ext uri="{FF2B5EF4-FFF2-40B4-BE49-F238E27FC236}">
                <a16:creationId xmlns:a16="http://schemas.microsoft.com/office/drawing/2014/main" id="{6C4B18B0-C3CE-4292-B0A3-A5099926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048256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Bolivia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Google Shape;186;p35">
            <a:extLst xmlns:a="http://schemas.openxmlformats.org/drawingml/2006/main">
              <a:ext uri="{FF2B5EF4-FFF2-40B4-BE49-F238E27FC236}">
                <a16:creationId xmlns:a16="http://schemas.microsoft.com/office/drawing/2014/main" id="{50CBB57B-DC27-444F-953F-985FAE74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267712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Ley 1658 — LSB oficial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Google Shape;187;p35">
            <a:extLst xmlns:a="http://schemas.openxmlformats.org/drawingml/2006/main">
              <a:ext uri="{FF2B5EF4-FFF2-40B4-BE49-F238E27FC236}">
                <a16:creationId xmlns:a16="http://schemas.microsoft.com/office/drawing/2014/main" id="{39ABC41C-79B0-4763-9397-4819519B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79776"/>
            <a:ext cx="3977640" cy="1298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35">
            <a:extLst xmlns:a="http://schemas.openxmlformats.org/drawingml/2006/main">
              <a:ext uri="{FF2B5EF4-FFF2-40B4-BE49-F238E27FC236}">
                <a16:creationId xmlns:a16="http://schemas.microsoft.com/office/drawing/2014/main" id="{8BF3A1DD-DF7A-4DE1-A194-FA744867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44368"/>
            <a:ext cx="3566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Brasil: un marco ya consolidado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35">
            <a:extLst xmlns:a="http://schemas.openxmlformats.org/drawingml/2006/main">
              <a:ext uri="{FF2B5EF4-FFF2-40B4-BE49-F238E27FC236}">
                <a16:creationId xmlns:a16="http://schemas.microsoft.com/office/drawing/2014/main" id="{8DB8B0E6-60AA-4B79-BF9D-0D7BC4A1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255264"/>
            <a:ext cx="352044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Garantiza por ley la enseñanza de la Lengua Brasileña de Señas (Libras) en instituciones públicas, junto con programas nacionales de accesibilidad educativa.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Google Shape;190;p35">
            <a:extLst xmlns:a="http://schemas.openxmlformats.org/drawingml/2006/main">
              <a:ext uri="{FF2B5EF4-FFF2-40B4-BE49-F238E27FC236}">
                <a16:creationId xmlns:a16="http://schemas.microsoft.com/office/drawing/2014/main" id="{FF9DC788-F2B4-41CD-A525-A4999C9A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79776"/>
            <a:ext cx="397764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35">
            <a:extLst xmlns:a="http://schemas.openxmlformats.org/drawingml/2006/main">
              <a:ext uri="{FF2B5EF4-FFF2-40B4-BE49-F238E27FC236}">
                <a16:creationId xmlns:a16="http://schemas.microsoft.com/office/drawing/2014/main" id="{AE182AEC-107F-4BDE-AD6F-28BCB9FA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944368"/>
            <a:ext cx="3566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Qué muestra el panorama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35">
            <a:extLst xmlns:a="http://schemas.openxmlformats.org/drawingml/2006/main">
              <a:ext uri="{FF2B5EF4-FFF2-40B4-BE49-F238E27FC236}">
                <a16:creationId xmlns:a16="http://schemas.microsoft.com/office/drawing/2014/main" id="{5C610D5B-1D8D-4800-A928-02DAD8F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255264"/>
            <a:ext cx="35204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No hubo un proceso regional coordinado: cada país llegó por su cuenta.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Paraguay reconoció la LSPy veinte años después que Uruguay, y Bolivia todavía más tarde.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Google Shape;193;p35">
            <a:extLst xmlns:a="http://schemas.openxmlformats.org/drawingml/2006/main">
              <a:ext uri="{FF2B5EF4-FFF2-40B4-BE49-F238E27FC236}">
                <a16:creationId xmlns:a16="http://schemas.microsoft.com/office/drawing/2014/main" id="{E6E59082-B764-4FB0-998B-BDD279C1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Paraguay está dentro de la tendencia regional, pero llegó tarde: el retraso normativo explica en parte el retraso en herramientas.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" name="Google Shape;194;p35">
            <a:extLst xmlns:a="http://schemas.openxmlformats.org/drawingml/2006/main">
              <a:ext uri="{FF2B5EF4-FFF2-40B4-BE49-F238E27FC236}">
                <a16:creationId xmlns:a16="http://schemas.microsoft.com/office/drawing/2014/main" id="{14718C10-1FD6-4C8A-8603-2A4ABC09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72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" name="Google Shape;200;p6">
            <a:extLst xmlns:a="http://schemas.openxmlformats.org/drawingml/2006/main">
              <a:ext uri="{FF2B5EF4-FFF2-40B4-BE49-F238E27FC236}">
                <a16:creationId xmlns:a16="http://schemas.microsoft.com/office/drawing/2014/main" id="{A2612900-B747-45C9-83E9-DBE49E94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Antecedente técnico directo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6">
            <a:extLst xmlns:a="http://schemas.openxmlformats.org/drawingml/2006/main">
              <a:ext uri="{FF2B5EF4-FFF2-40B4-BE49-F238E27FC236}">
                <a16:creationId xmlns:a16="http://schemas.microsoft.com/office/drawing/2014/main" id="{75A5E98C-C220-426E-8204-B6E1274F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 trabajo previo en la FP-UNA y la decisión de diseño que distingue a Pojoaju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17" name="Google Shape;2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d0a49e452c4c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6">
            <a:extLst xmlns:a="http://schemas.openxmlformats.org/drawingml/2006/main">
              <a:ext uri="{FF2B5EF4-FFF2-40B4-BE49-F238E27FC236}">
                <a16:creationId xmlns:a16="http://schemas.microsoft.com/office/drawing/2014/main" id="{3BD0C3AE-BACE-437E-8752-9C2877D0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6">
            <a:extLst xmlns:a="http://schemas.openxmlformats.org/drawingml/2006/main">
              <a:ext uri="{FF2B5EF4-FFF2-40B4-BE49-F238E27FC236}">
                <a16:creationId xmlns:a16="http://schemas.microsoft.com/office/drawing/2014/main" id="{AF81EF5A-7879-4F86-8A5C-B739CD5B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6">
            <a:extLst xmlns:a="http://schemas.openxmlformats.org/drawingml/2006/main">
              <a:ext uri="{FF2B5EF4-FFF2-40B4-BE49-F238E27FC236}">
                <a16:creationId xmlns:a16="http://schemas.microsoft.com/office/drawing/2014/main" id="{18B9D628-8A77-4C07-AEBB-F2CF54D5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78992"/>
            <a:ext cx="813816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Google Shape;206;p6">
            <a:extLst xmlns:a="http://schemas.openxmlformats.org/drawingml/2006/main">
              <a:ext uri="{FF2B5EF4-FFF2-40B4-BE49-F238E27FC236}">
                <a16:creationId xmlns:a16="http://schemas.microsoft.com/office/drawing/2014/main" id="{27F671ED-6E41-4BC4-9852-9646FDA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243584"/>
            <a:ext cx="75895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Gutiérrez, Alfonzo, Paciello &amp; Von Lücken (FP-UNA, </a:t>
            </a:r>
            <a:r>
              <a:rPr sz="14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2024</a:t>
            </a:r>
            <a:r>
              <a:rPr sz="14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6">
            <a:extLst xmlns:a="http://schemas.openxmlformats.org/drawingml/2006/main">
              <a:ext uri="{FF2B5EF4-FFF2-40B4-BE49-F238E27FC236}">
                <a16:creationId xmlns:a16="http://schemas.microsoft.com/office/drawing/2014/main" id="{759EE449-DCD1-4E4F-9732-B6AD3241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554480"/>
            <a:ext cx="7626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Es el primer trabajo académico documentado de reconocimiento automático de LSPy con aprendizaje profundo: una arquitectura </a:t>
            </a:r>
            <a:r>
              <a:rPr sz="12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CNN</a:t>
            </a:r>
            <a:r>
              <a:rPr sz="12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12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RNN</a:t>
            </a:r>
            <a:r>
              <a:rPr sz="12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que opera directamente sobre las imágenes de video. Abrió esta línea de investigación para el proyecto y fija el punto de partida de nuestro trabajo.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6">
            <a:extLst xmlns:a="http://schemas.openxmlformats.org/drawingml/2006/main">
              <a:ext uri="{FF2B5EF4-FFF2-40B4-BE49-F238E27FC236}">
                <a16:creationId xmlns:a16="http://schemas.microsoft.com/office/drawing/2014/main" id="{1646034D-FD5F-4CFC-A598-D7704E76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3977640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Google Shape;209;p6">
            <a:extLst xmlns:a="http://schemas.openxmlformats.org/drawingml/2006/main">
              <a:ext uri="{FF2B5EF4-FFF2-40B4-BE49-F238E27FC236}">
                <a16:creationId xmlns:a16="http://schemas.microsoft.com/office/drawing/2014/main" id="{194194D7-D756-4FE3-A8BB-56681995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734056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Pojoaju parte de otra representación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6">
            <a:extLst xmlns:a="http://schemas.openxmlformats.org/drawingml/2006/main">
              <a:ext uri="{FF2B5EF4-FFF2-40B4-BE49-F238E27FC236}">
                <a16:creationId xmlns:a16="http://schemas.microsoft.com/office/drawing/2014/main" id="{1D8D40A7-2B2F-4CF0-B7B6-AC683DE5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044952"/>
            <a:ext cx="3538728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En lugar de clasificar imágenes, extrae primero los puntos clave del cuerpo y clasifica la secuencia de coordenadas. Es un camino distinto pero que aborda el mismo problema.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6">
            <a:extLst xmlns:a="http://schemas.openxmlformats.org/drawingml/2006/main">
              <a:ext uri="{FF2B5EF4-FFF2-40B4-BE49-F238E27FC236}">
                <a16:creationId xmlns:a16="http://schemas.microsoft.com/office/drawing/2014/main" id="{046F0F9C-EAE5-4B52-921E-3199DBF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60320"/>
            <a:ext cx="3977640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Google Shape;212;p6">
            <a:extLst xmlns:a="http://schemas.openxmlformats.org/drawingml/2006/main">
              <a:ext uri="{FF2B5EF4-FFF2-40B4-BE49-F238E27FC236}">
                <a16:creationId xmlns:a16="http://schemas.microsoft.com/office/drawing/2014/main" id="{29458D8A-CA73-40AC-93FC-4B7CFFE5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734056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En qué se diferencia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6">
            <a:extLst xmlns:a="http://schemas.openxmlformats.org/drawingml/2006/main">
              <a:ext uri="{FF2B5EF4-FFF2-40B4-BE49-F238E27FC236}">
                <a16:creationId xmlns:a16="http://schemas.microsoft.com/office/drawing/2014/main" id="{A1947580-3B7E-4A3E-BBDE-551115C0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17520"/>
            <a:ext cx="35204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Keypoints de MediaPipe, no imágenes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Segmentación automática sobre video en vivo</a:t>
            </a:r>
            <a:endParaRPr sz="1150" b="0" i="0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Texto y voz ↔ seña animada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Corrección gramatical de frases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0785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Google Shape;242;p8">
            <a:extLst xmlns:a="http://schemas.openxmlformats.org/drawingml/2006/main">
              <a:ext uri="{FF2B5EF4-FFF2-40B4-BE49-F238E27FC236}">
                <a16:creationId xmlns:a16="http://schemas.microsoft.com/office/drawing/2014/main" id="{5A852D20-3C52-4ABB-BA83-1AE14858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La lengua de señas tiene gramática propia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8">
            <a:extLst xmlns:a="http://schemas.openxmlformats.org/drawingml/2006/main">
              <a:ext uri="{FF2B5EF4-FFF2-40B4-BE49-F238E27FC236}">
                <a16:creationId xmlns:a16="http://schemas.microsoft.com/office/drawing/2014/main" id="{3062263A-3DFA-4C75-B273-5FCE16D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Es una lengua natural, con fonología y gramática propias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4" name="Google Shape;24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2077e76cdb4a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5" name="Google Shape;245;p8">
            <a:extLst xmlns:a="http://schemas.openxmlformats.org/drawingml/2006/main">
              <a:ext uri="{FF2B5EF4-FFF2-40B4-BE49-F238E27FC236}">
                <a16:creationId xmlns:a16="http://schemas.microsoft.com/office/drawing/2014/main" id="{2A80F6A3-68D6-4933-AA03-8C210C9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7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8">
            <a:extLst xmlns:a="http://schemas.openxmlformats.org/drawingml/2006/main">
              <a:ext uri="{FF2B5EF4-FFF2-40B4-BE49-F238E27FC236}">
                <a16:creationId xmlns:a16="http://schemas.microsoft.com/office/drawing/2014/main" id="{4478F9CC-D304-4D8A-BBA1-D41008AB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8">
            <a:extLst xmlns:a="http://schemas.openxmlformats.org/drawingml/2006/main">
              <a:ext uri="{FF2B5EF4-FFF2-40B4-BE49-F238E27FC236}">
                <a16:creationId xmlns:a16="http://schemas.microsoft.com/office/drawing/2014/main" id="{2C1DA025-0E45-4D53-BA86-3353C915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78992"/>
            <a:ext cx="397764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78" name="Google Shape;248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904c436d9b40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2376" y="1261872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9" name="Google Shape;249;p8">
            <a:extLst xmlns:a="http://schemas.openxmlformats.org/drawingml/2006/main">
              <a:ext uri="{FF2B5EF4-FFF2-40B4-BE49-F238E27FC236}">
                <a16:creationId xmlns:a16="http://schemas.microsoft.com/office/drawing/2014/main" id="{2EB4B4FF-251F-4693-BF41-8C7B6731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34440"/>
            <a:ext cx="32004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De qué está hecha una seña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Google Shape;250;p8">
            <a:extLst xmlns:a="http://schemas.openxmlformats.org/drawingml/2006/main">
              <a:ext uri="{FF2B5EF4-FFF2-40B4-BE49-F238E27FC236}">
                <a16:creationId xmlns:a16="http://schemas.microsoft.com/office/drawing/2014/main" id="{24F22BB4-BFC1-4C12-A7E7-BFF8E82A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68207"/>
            <a:ext cx="3566100" cy="10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Forma de la mano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Ubicación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Movimiento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Orientación de la palma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Gestos no manuales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8">
            <a:extLst xmlns:a="http://schemas.openxmlformats.org/drawingml/2006/main">
              <a:ext uri="{FF2B5EF4-FFF2-40B4-BE49-F238E27FC236}">
                <a16:creationId xmlns:a16="http://schemas.microsoft.com/office/drawing/2014/main" id="{0C3A4563-C574-4A8B-B167-DC5FF958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697588"/>
            <a:ext cx="3538800" cy="47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Cambiar uno solo de estos elementos puede cambiar el significado por completo, como cambiar una letra en una palabra.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8">
            <a:extLst xmlns:a="http://schemas.openxmlformats.org/drawingml/2006/main">
              <a:ext uri="{FF2B5EF4-FFF2-40B4-BE49-F238E27FC236}">
                <a16:creationId xmlns:a16="http://schemas.microsoft.com/office/drawing/2014/main" id="{03BC357D-E295-4710-91D8-4684451B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78992"/>
            <a:ext cx="397764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3" name="Google Shape;253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3415c90a8742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82896" y="1261872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8">
            <a:extLst xmlns:a="http://schemas.openxmlformats.org/drawingml/2006/main">
              <a:ext uri="{FF2B5EF4-FFF2-40B4-BE49-F238E27FC236}">
                <a16:creationId xmlns:a16="http://schemas.microsoft.com/office/drawing/2014/main" id="{BBCB9411-A14D-46BC-A9EA-D665772F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234440"/>
            <a:ext cx="32004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Gramática propia (LSPy)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8">
            <a:extLst xmlns:a="http://schemas.openxmlformats.org/drawingml/2006/main">
              <a:ext uri="{FF2B5EF4-FFF2-40B4-BE49-F238E27FC236}">
                <a16:creationId xmlns:a16="http://schemas.microsoft.com/office/drawing/2014/main" id="{988816EA-0ED3-419C-B496-B8001ACB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645920"/>
            <a:ext cx="3520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Los artículos y "ser/estar" se omiten en la seña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La posesión va después: </a:t>
            </a: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MAMÁ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MÍA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= "mi mamá"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El tiempo va primero: </a:t>
            </a: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AYER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CASA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IR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= "ayer fui a casa"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8">
            <a:extLst xmlns:a="http://schemas.openxmlformats.org/drawingml/2006/main">
              <a:ext uri="{FF2B5EF4-FFF2-40B4-BE49-F238E27FC236}">
                <a16:creationId xmlns:a16="http://schemas.microsoft.com/office/drawing/2014/main" id="{4B2D46B2-E88F-4A0B-99A5-D3D99D46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761488"/>
            <a:ext cx="353872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Estas son las reglas que el sistema debe aplicar al traducir frases completas.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8">
            <a:extLst xmlns:a="http://schemas.openxmlformats.org/drawingml/2006/main">
              <a:ext uri="{FF2B5EF4-FFF2-40B4-BE49-F238E27FC236}">
                <a16:creationId xmlns:a16="http://schemas.microsoft.com/office/drawing/2014/main" id="{BA9463CE-CA59-47EF-9444-96397082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3474720"/>
            <a:ext cx="81381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Google Shape;259;p8">
            <a:extLst xmlns:a="http://schemas.openxmlformats.org/drawingml/2006/main">
              <a:ext uri="{FF2B5EF4-FFF2-40B4-BE49-F238E27FC236}">
                <a16:creationId xmlns:a16="http://schemas.microsoft.com/office/drawing/2014/main" id="{E96676A2-F960-4FBE-B1D6-EEF36CC9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952" y="3657600"/>
            <a:ext cx="93268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Google Shape;260;p8">
            <a:extLst xmlns:a="http://schemas.openxmlformats.org/drawingml/2006/main">
              <a:ext uri="{FF2B5EF4-FFF2-40B4-BE49-F238E27FC236}">
                <a16:creationId xmlns:a16="http://schemas.microsoft.com/office/drawing/2014/main" id="{FA4EFD20-0E9D-42BB-8988-9EEF896B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952" y="3657600"/>
            <a:ext cx="932688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312E81"/>
                </a:solidFill>
                <a:latin typeface="Georgia"/>
                <a:ea typeface="Georgia"/>
                <a:cs typeface="Georgia"/>
              </a:rPr>
              <a:t>MAMÁ</a:t>
            </a:r>
            <a:endParaRPr sz="1150" b="0" i="1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61" name="Google Shape;261;p8">
            <a:extLst xmlns:a="http://schemas.openxmlformats.org/drawingml/2006/main">
              <a:ext uri="{FF2B5EF4-FFF2-40B4-BE49-F238E27FC236}">
                <a16:creationId xmlns:a16="http://schemas.microsoft.com/office/drawing/2014/main" id="{2EFCBC94-660D-4BB3-8FBB-5C2B54BE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080" y="3657600"/>
            <a:ext cx="93268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Google Shape;262;p8">
            <a:extLst xmlns:a="http://schemas.openxmlformats.org/drawingml/2006/main">
              <a:ext uri="{FF2B5EF4-FFF2-40B4-BE49-F238E27FC236}">
                <a16:creationId xmlns:a16="http://schemas.microsoft.com/office/drawing/2014/main" id="{94A11E23-6AF2-4F96-A1A2-98AD429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080" y="3657600"/>
            <a:ext cx="932688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312E81"/>
                </a:solidFill>
                <a:latin typeface="Georgia"/>
                <a:ea typeface="Georgia"/>
                <a:cs typeface="Georgia"/>
              </a:rPr>
              <a:t>MÍA</a:t>
            </a:r>
            <a:endParaRPr sz="1150" b="0" i="1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63" name="Google Shape;263;p8">
            <a:extLst xmlns:a="http://schemas.openxmlformats.org/drawingml/2006/main">
              <a:ext uri="{FF2B5EF4-FFF2-40B4-BE49-F238E27FC236}">
                <a16:creationId xmlns:a16="http://schemas.microsoft.com/office/drawing/2014/main" id="{CC828202-DCA1-470E-9571-6722F85D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7208" y="3657600"/>
            <a:ext cx="93268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Google Shape;264;p8">
            <a:extLst xmlns:a="http://schemas.openxmlformats.org/drawingml/2006/main">
              <a:ext uri="{FF2B5EF4-FFF2-40B4-BE49-F238E27FC236}">
                <a16:creationId xmlns:a16="http://schemas.microsoft.com/office/drawing/2014/main" id="{9D665837-C72A-4BFE-B359-E8177170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7208" y="3657600"/>
            <a:ext cx="932688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312E81"/>
                </a:solidFill>
                <a:latin typeface="Georgia"/>
                <a:ea typeface="Georgia"/>
                <a:cs typeface="Georgia"/>
              </a:rPr>
              <a:t>LINDA</a:t>
            </a:r>
            <a:endParaRPr sz="1150" b="0" i="1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65" name="Google Shape;265;p8">
            <a:extLst xmlns:a="http://schemas.openxmlformats.org/drawingml/2006/main">
              <a:ext uri="{FF2B5EF4-FFF2-40B4-BE49-F238E27FC236}">
                <a16:creationId xmlns:a16="http://schemas.microsoft.com/office/drawing/2014/main" id="{1385CC03-9260-47C7-89F5-4684CAD4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1336" y="3657600"/>
            <a:ext cx="93268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Google Shape;266;p8">
            <a:extLst xmlns:a="http://schemas.openxmlformats.org/drawingml/2006/main">
              <a:ext uri="{FF2B5EF4-FFF2-40B4-BE49-F238E27FC236}">
                <a16:creationId xmlns:a16="http://schemas.microsoft.com/office/drawing/2014/main" id="{97186010-E846-4518-AF63-075D6366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1336" y="3657600"/>
            <a:ext cx="932688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312E81"/>
                </a:solidFill>
                <a:latin typeface="Georgia"/>
                <a:ea typeface="Georgia"/>
                <a:cs typeface="Georgia"/>
              </a:rPr>
              <a:t>MUCHO</a:t>
            </a:r>
            <a:endParaRPr sz="1150" b="0" i="1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67" name="Google Shape;267;p8">
            <a:extLst xmlns:a="http://schemas.openxmlformats.org/drawingml/2006/main">
              <a:ext uri="{FF2B5EF4-FFF2-40B4-BE49-F238E27FC236}">
                <a16:creationId xmlns:a16="http://schemas.microsoft.com/office/drawing/2014/main" id="{816EE7CF-EEA3-45C3-ACBC-92FDC40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8888" y="3657600"/>
            <a:ext cx="4572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8">
            <a:extLst xmlns:a="http://schemas.openxmlformats.org/drawingml/2006/main">
              <a:ext uri="{FF2B5EF4-FFF2-40B4-BE49-F238E27FC236}">
                <a16:creationId xmlns:a16="http://schemas.microsoft.com/office/drawing/2014/main" id="{7EB32C93-6B3C-406E-B3CC-3776695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5439" y="3666750"/>
            <a:ext cx="3703200" cy="4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0" i="1" u="none" cap="none">
                <a:solidFill>
                  <a:srgbClr val="312E81"/>
                </a:solidFill>
                <a:latin typeface="Arial"/>
                <a:ea typeface="Arial"/>
                <a:cs typeface="Arial"/>
              </a:rPr>
              <a:t>"Mi mamá es muy linda"</a:t>
            </a:r>
            <a:endParaRPr sz="1350" b="0" i="1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2582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7" name="Google Shape;297;p10">
            <a:extLst xmlns:a="http://schemas.openxmlformats.org/drawingml/2006/main">
              <a:ext uri="{FF2B5EF4-FFF2-40B4-BE49-F238E27FC236}">
                <a16:creationId xmlns:a16="http://schemas.microsoft.com/office/drawing/2014/main" id="{8F50D9D7-AB5F-4071-93B3-B1FCB328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Objetivo general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29" name="Google Shape;298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f3ae9cdef544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9" name="Google Shape;299;p10">
            <a:extLst xmlns:a="http://schemas.openxmlformats.org/drawingml/2006/main">
              <a:ext uri="{FF2B5EF4-FFF2-40B4-BE49-F238E27FC236}">
                <a16:creationId xmlns:a16="http://schemas.microsoft.com/office/drawing/2014/main" id="{8C7A03A7-B80E-4515-8F51-402A85BB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8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Google Shape;300;p10">
            <a:extLst xmlns:a="http://schemas.openxmlformats.org/drawingml/2006/main">
              <a:ext uri="{FF2B5EF4-FFF2-40B4-BE49-F238E27FC236}">
                <a16:creationId xmlns:a16="http://schemas.microsoft.com/office/drawing/2014/main" id="{1427D45F-BF72-4186-B4CB-B5571922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1" name="Google Shape;301;p10">
            <a:extLst xmlns:a="http://schemas.openxmlformats.org/drawingml/2006/main">
              <a:ext uri="{FF2B5EF4-FFF2-40B4-BE49-F238E27FC236}">
                <a16:creationId xmlns:a16="http://schemas.microsoft.com/office/drawing/2014/main" id="{F15B2A1F-0B06-40BC-B499-B0FEDDFA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0120"/>
            <a:ext cx="813816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Google Shape;302;p10">
            <a:extLst xmlns:a="http://schemas.openxmlformats.org/drawingml/2006/main">
              <a:ext uri="{FF2B5EF4-FFF2-40B4-BE49-F238E27FC236}">
                <a16:creationId xmlns:a16="http://schemas.microsoft.com/office/drawing/2014/main" id="{D768D977-7113-46BF-9DFE-45E5374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33856"/>
            <a:ext cx="749808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450"/>
              <a:buFont typeface="Calibri"/>
              <a:buNone/>
            </a:pPr>
            <a:r>
              <a:rPr sz="14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Desarrollar un sistema de reconocimiento automático de la Lengua de Señas Paraguaya basado en redes neuronales recurrentes, capaz de traducir señas a texto y voz en tiempo real —y de hacer también el camino inverso— sobre una base técnica expansible.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4" name="Google Shape;304;p10">
            <a:extLst xmlns:a="http://schemas.openxmlformats.org/drawingml/2006/main">
              <a:ext uri="{FF2B5EF4-FFF2-40B4-BE49-F238E27FC236}">
                <a16:creationId xmlns:a16="http://schemas.microsoft.com/office/drawing/2014/main" id="{851B699C-608C-4CC2-A807-F2A59250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331720"/>
            <a:ext cx="8138160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5" name="Google Shape;30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438b7ff5534c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822960" y="266090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6" name="Google Shape;306;p10">
            <a:extLst xmlns:a="http://schemas.openxmlformats.org/drawingml/2006/main">
              <a:ext uri="{FF2B5EF4-FFF2-40B4-BE49-F238E27FC236}">
                <a16:creationId xmlns:a16="http://schemas.microsoft.com/office/drawing/2014/main" id="{E4B32ACF-9EB2-44F0-85A1-ECBF504F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2551176"/>
            <a:ext cx="21945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Persona haciendo una seña (cámara)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Google Shape;307;p10">
            <a:extLst xmlns:a="http://schemas.openxmlformats.org/drawingml/2006/main">
              <a:ext uri="{FF2B5EF4-FFF2-40B4-BE49-F238E27FC236}">
                <a16:creationId xmlns:a16="http://schemas.microsoft.com/office/drawing/2014/main" id="{A016FA2C-E557-4A2C-AF81-846DD634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720" y="2551176"/>
            <a:ext cx="457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p10">
            <a:extLst xmlns:a="http://schemas.openxmlformats.org/drawingml/2006/main">
              <a:ext uri="{FF2B5EF4-FFF2-40B4-BE49-F238E27FC236}">
                <a16:creationId xmlns:a16="http://schemas.microsoft.com/office/drawing/2014/main" id="{9F4CF273-1448-4872-A804-1C6723CD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6200" y="2606040"/>
            <a:ext cx="14630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POJOAJU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" name="Google Shape;309;p10">
            <a:extLst xmlns:a="http://schemas.openxmlformats.org/drawingml/2006/main">
              <a:ext uri="{FF2B5EF4-FFF2-40B4-BE49-F238E27FC236}">
                <a16:creationId xmlns:a16="http://schemas.microsoft.com/office/drawing/2014/main" id="{8AE7E040-48DB-4E1C-893E-A0B17B65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240" y="2551176"/>
            <a:ext cx="457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40" name="Google Shape;31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46c537595a4c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5852160" y="266090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1" name="Google Shape;311;p10">
            <a:extLst xmlns:a="http://schemas.openxmlformats.org/drawingml/2006/main">
              <a:ext uri="{FF2B5EF4-FFF2-40B4-BE49-F238E27FC236}">
                <a16:creationId xmlns:a16="http://schemas.microsoft.com/office/drawing/2014/main" id="{65200C11-D5A3-4423-93D1-E20555C0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640" y="2551176"/>
            <a:ext cx="21031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Texto y voz en español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p10">
            <a:extLst xmlns:a="http://schemas.openxmlformats.org/drawingml/2006/main">
              <a:ext uri="{FF2B5EF4-FFF2-40B4-BE49-F238E27FC236}">
                <a16:creationId xmlns:a16="http://schemas.microsoft.com/office/drawing/2014/main" id="{13A296D4-6CC9-49FA-8792-D66DE463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6200" y="2935224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reconoce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Google Shape;314;p10">
            <a:extLst xmlns:a="http://schemas.openxmlformats.org/drawingml/2006/main">
              <a:ext uri="{FF2B5EF4-FFF2-40B4-BE49-F238E27FC236}">
                <a16:creationId xmlns:a16="http://schemas.microsoft.com/office/drawing/2014/main" id="{6AC5AA6A-1D11-4A54-97F9-026EA1E1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3401568"/>
            <a:ext cx="8138160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44" name="Google Shape;31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d983f722d242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822960" y="3730752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6" name="Google Shape;316;p10">
            <a:extLst xmlns:a="http://schemas.openxmlformats.org/drawingml/2006/main">
              <a:ext uri="{FF2B5EF4-FFF2-40B4-BE49-F238E27FC236}">
                <a16:creationId xmlns:a16="http://schemas.microsoft.com/office/drawing/2014/main" id="{9DCBB255-8B12-4D60-85CF-C578CB1E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3621024"/>
            <a:ext cx="21945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Palabra escrita o hablada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7" name="Google Shape;317;p10">
            <a:extLst xmlns:a="http://schemas.openxmlformats.org/drawingml/2006/main">
              <a:ext uri="{FF2B5EF4-FFF2-40B4-BE49-F238E27FC236}">
                <a16:creationId xmlns:a16="http://schemas.microsoft.com/office/drawing/2014/main" id="{C29760A5-75AB-4E56-8915-06ABC90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720" y="3621024"/>
            <a:ext cx="457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8" name="Google Shape;318;p10">
            <a:extLst xmlns:a="http://schemas.openxmlformats.org/drawingml/2006/main">
              <a:ext uri="{FF2B5EF4-FFF2-40B4-BE49-F238E27FC236}">
                <a16:creationId xmlns:a16="http://schemas.microsoft.com/office/drawing/2014/main" id="{263635FC-0C94-4052-AB2E-E899B18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6200" y="3675888"/>
            <a:ext cx="14630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POJOAJU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Google Shape;319;p10">
            <a:extLst xmlns:a="http://schemas.openxmlformats.org/drawingml/2006/main">
              <a:ext uri="{FF2B5EF4-FFF2-40B4-BE49-F238E27FC236}">
                <a16:creationId xmlns:a16="http://schemas.microsoft.com/office/drawing/2014/main" id="{1A855ADC-A34D-44DD-B82A-C657757D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240" y="3621024"/>
            <a:ext cx="457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49" name="Google Shape;32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3e35b0529e44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5852160" y="3730752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1" name="Google Shape;321;p10">
            <a:extLst xmlns:a="http://schemas.openxmlformats.org/drawingml/2006/main">
              <a:ext uri="{FF2B5EF4-FFF2-40B4-BE49-F238E27FC236}">
                <a16:creationId xmlns:a16="http://schemas.microsoft.com/office/drawing/2014/main" id="{D1D9B11F-C72A-4EB9-83F8-FF0B0095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640" y="3621024"/>
            <a:ext cx="21031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Animación de la seña (stickman)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2" name="Google Shape;322;p10">
            <a:extLst xmlns:a="http://schemas.openxmlformats.org/drawingml/2006/main">
              <a:ext uri="{FF2B5EF4-FFF2-40B4-BE49-F238E27FC236}">
                <a16:creationId xmlns:a16="http://schemas.microsoft.com/office/drawing/2014/main" id="{D0261949-4EB5-410C-8876-93EBABD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6200" y="4005072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genera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8656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8" name="Google Shape;328;p11">
            <a:extLst xmlns:a="http://schemas.openxmlformats.org/drawingml/2006/main">
              <a:ext uri="{FF2B5EF4-FFF2-40B4-BE49-F238E27FC236}">
                <a16:creationId xmlns:a16="http://schemas.microsoft.com/office/drawing/2014/main" id="{A823241E-E8E4-4780-8A88-E0C955A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Objetivos específicos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Google Shape;329;p11">
            <a:extLst xmlns:a="http://schemas.openxmlformats.org/drawingml/2006/main">
              <a:ext uri="{FF2B5EF4-FFF2-40B4-BE49-F238E27FC236}">
                <a16:creationId xmlns:a16="http://schemas.microsoft.com/office/drawing/2014/main" id="{4E8A0AEF-BD3D-484C-AA7D-D17812F6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Corresponden a las cuatro etapas técnicas del proyecto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60" name="Google Shape;33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595d3288f645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1" name="Google Shape;331;p11">
            <a:extLst xmlns:a="http://schemas.openxmlformats.org/drawingml/2006/main">
              <a:ext uri="{FF2B5EF4-FFF2-40B4-BE49-F238E27FC236}">
                <a16:creationId xmlns:a16="http://schemas.microsoft.com/office/drawing/2014/main" id="{7BF2CFD9-73D5-41C4-AE71-6BB92F69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" name="Google Shape;332;p11">
            <a:extLst xmlns:a="http://schemas.openxmlformats.org/drawingml/2006/main">
              <a:ext uri="{FF2B5EF4-FFF2-40B4-BE49-F238E27FC236}">
                <a16:creationId xmlns:a16="http://schemas.microsoft.com/office/drawing/2014/main" id="{EBDF77B9-0F4D-4A36-A5D7-40E571AF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Google Shape;334;p11">
            <a:extLst xmlns:a="http://schemas.openxmlformats.org/drawingml/2006/main">
              <a:ext uri="{FF2B5EF4-FFF2-40B4-BE49-F238E27FC236}">
                <a16:creationId xmlns:a16="http://schemas.microsoft.com/office/drawing/2014/main" id="{F45E0761-DB34-406E-BD34-3A971082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14300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4" name="Google Shape;335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57624156fd46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2376" y="1362456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6" name="Google Shape;336;p11">
            <a:extLst xmlns:a="http://schemas.openxmlformats.org/drawingml/2006/main">
              <a:ext uri="{FF2B5EF4-FFF2-40B4-BE49-F238E27FC236}">
                <a16:creationId xmlns:a16="http://schemas.microsoft.com/office/drawing/2014/main" id="{A0B460D7-3DC2-45D7-B14A-B21DFD94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32588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Pipeline de datos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p11">
            <a:extLst xmlns:a="http://schemas.openxmlformats.org/drawingml/2006/main">
              <a:ext uri="{FF2B5EF4-FFF2-40B4-BE49-F238E27FC236}">
                <a16:creationId xmlns:a16="http://schemas.microsoft.com/office/drawing/2014/main" id="{494D7380-2A52-4EB1-8909-6A4859C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76" y="1746504"/>
            <a:ext cx="35387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Capturar muestras de video y extraer los puntos clave corporales (pose, rostro y manos) con visión por computadora.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9" name="Google Shape;339;p11">
            <a:extLst xmlns:a="http://schemas.openxmlformats.org/drawingml/2006/main">
              <a:ext uri="{FF2B5EF4-FFF2-40B4-BE49-F238E27FC236}">
                <a16:creationId xmlns:a16="http://schemas.microsoft.com/office/drawing/2014/main" id="{69F6EBE6-587C-4DC7-B889-93C2DC7A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40" y="114300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8" name="Google Shape;34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807f2ced6049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82896" y="1362456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1" name="Google Shape;341;p11">
            <a:extLst xmlns:a="http://schemas.openxmlformats.org/drawingml/2006/main">
              <a:ext uri="{FF2B5EF4-FFF2-40B4-BE49-F238E27FC236}">
                <a16:creationId xmlns:a16="http://schemas.microsoft.com/office/drawing/2014/main" id="{60E56B1D-96B6-46D5-A6DA-71B9F914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0" y="132588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Modelo LSTM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2" name="Google Shape;342;p11">
            <a:extLst xmlns:a="http://schemas.openxmlformats.org/drawingml/2006/main">
              <a:ext uri="{FF2B5EF4-FFF2-40B4-BE49-F238E27FC236}">
                <a16:creationId xmlns:a16="http://schemas.microsoft.com/office/drawing/2014/main" id="{0508581C-2831-4072-934F-2A2BF9F8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2896" y="1746504"/>
            <a:ext cx="35387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Entrenar una red recurrente que reconozca la seña a partir de una secuencia de puntos clave.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4" name="Google Shape;344;p11">
            <a:extLst xmlns:a="http://schemas.openxmlformats.org/drawingml/2006/main">
              <a:ext uri="{FF2B5EF4-FFF2-40B4-BE49-F238E27FC236}">
                <a16:creationId xmlns:a16="http://schemas.microsoft.com/office/drawing/2014/main" id="{1499562E-B502-4566-AACB-D922C4EB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761488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2" name="Google Shape;345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6fee7930204f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2376" y="298094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6" name="Google Shape;346;p11">
            <a:extLst xmlns:a="http://schemas.openxmlformats.org/drawingml/2006/main">
              <a:ext uri="{FF2B5EF4-FFF2-40B4-BE49-F238E27FC236}">
                <a16:creationId xmlns:a16="http://schemas.microsoft.com/office/drawing/2014/main" id="{A969B781-C594-4244-809C-79E4C330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944368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Traducción en tiempo real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7" name="Google Shape;347;p11">
            <a:extLst xmlns:a="http://schemas.openxmlformats.org/drawingml/2006/main">
              <a:ext uri="{FF2B5EF4-FFF2-40B4-BE49-F238E27FC236}">
                <a16:creationId xmlns:a16="http://schemas.microsoft.com/office/drawing/2014/main" id="{883016B7-2D1D-4446-9615-9C717B34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76" y="3364992"/>
            <a:ext cx="35387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Reconocer señas desde la cámara y convertirlas en texto y voz, más los módulos de texto a seña y voz a seña.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9" name="Google Shape;349;p11">
            <a:extLst xmlns:a="http://schemas.openxmlformats.org/drawingml/2006/main">
              <a:ext uri="{FF2B5EF4-FFF2-40B4-BE49-F238E27FC236}">
                <a16:creationId xmlns:a16="http://schemas.microsoft.com/office/drawing/2014/main" id="{E06FD418-E2A5-43D7-B66F-7558204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40" y="2761488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6" name="Google Shape;35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aed3aeaf4d44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82896" y="298094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1" name="Google Shape;351;p11">
            <a:extLst xmlns:a="http://schemas.openxmlformats.org/drawingml/2006/main">
              <a:ext uri="{FF2B5EF4-FFF2-40B4-BE49-F238E27FC236}">
                <a16:creationId xmlns:a16="http://schemas.microsoft.com/office/drawing/2014/main" id="{6E4ADCDA-0323-4D7B-B041-28C3BB04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0" y="2944368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Evaluación cuantitativa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2" name="Google Shape;352;p11">
            <a:extLst xmlns:a="http://schemas.openxmlformats.org/drawingml/2006/main">
              <a:ext uri="{FF2B5EF4-FFF2-40B4-BE49-F238E27FC236}">
                <a16:creationId xmlns:a16="http://schemas.microsoft.com/office/drawing/2014/main" id="{10ED7B86-F9C4-4CCD-A78E-A9AE30D2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2896" y="3364992"/>
            <a:ext cx="35387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Medir el desempeño con accuracy, matriz de confusión y análisis de las confusiones más frecuentes.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9637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8" name="Google Shape;358;p12">
            <a:extLst xmlns:a="http://schemas.openxmlformats.org/drawingml/2006/main">
              <a:ext uri="{FF2B5EF4-FFF2-40B4-BE49-F238E27FC236}">
                <a16:creationId xmlns:a16="http://schemas.microsoft.com/office/drawing/2014/main" id="{C00669B4-7198-4689-887A-DF20864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Metodología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9" name="Google Shape;359;p12">
            <a:extLst xmlns:a="http://schemas.openxmlformats.org/drawingml/2006/main">
              <a:ext uri="{FF2B5EF4-FFF2-40B4-BE49-F238E27FC236}">
                <a16:creationId xmlns:a16="http://schemas.microsoft.com/office/drawing/2014/main" id="{2F1D43CD-DD24-4FA2-A5B7-51C97E2A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Ciclo Regulatorio (Wieringa, 2009) — Investigación de la Ciencia del Diseño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86" name="Google Shape;360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236936c4be489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1" name="Google Shape;361;p12">
            <a:extLst xmlns:a="http://schemas.openxmlformats.org/drawingml/2006/main">
              <a:ext uri="{FF2B5EF4-FFF2-40B4-BE49-F238E27FC236}">
                <a16:creationId xmlns:a16="http://schemas.microsoft.com/office/drawing/2014/main" id="{36E8BE4F-9B85-4537-931C-DCDDD7B4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10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2" name="Google Shape;362;p12">
            <a:extLst xmlns:a="http://schemas.openxmlformats.org/drawingml/2006/main">
              <a:ext uri="{FF2B5EF4-FFF2-40B4-BE49-F238E27FC236}">
                <a16:creationId xmlns:a16="http://schemas.microsoft.com/office/drawing/2014/main" id="{D37A3228-235F-4616-A9B8-43096E2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3" name="Google Shape;363;p12">
            <a:extLst xmlns:a="http://schemas.openxmlformats.org/drawingml/2006/main">
              <a:ext uri="{FF2B5EF4-FFF2-40B4-BE49-F238E27FC236}">
                <a16:creationId xmlns:a16="http://schemas.microsoft.com/office/drawing/2014/main" id="{7E548CF9-BC79-4D95-8DC4-9359A96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59992"/>
            <a:ext cx="1518000" cy="84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Google Shape;364;p12">
            <a:extLst xmlns:a="http://schemas.openxmlformats.org/drawingml/2006/main">
              <a:ext uri="{FF2B5EF4-FFF2-40B4-BE49-F238E27FC236}">
                <a16:creationId xmlns:a16="http://schemas.microsoft.com/office/drawing/2014/main" id="{53FE9B3F-A5EB-428D-8EE5-8424ADC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96568"/>
            <a:ext cx="274200" cy="2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12">
            <a:extLst xmlns:a="http://schemas.openxmlformats.org/drawingml/2006/main">
              <a:ext uri="{FF2B5EF4-FFF2-40B4-BE49-F238E27FC236}">
                <a16:creationId xmlns:a16="http://schemas.microsoft.com/office/drawing/2014/main" id="{170192CA-6C1B-4AD7-834D-85D9CEA9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69720"/>
            <a:ext cx="15180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Investigación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del Problema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Google Shape;366;p12">
            <a:extLst xmlns:a="http://schemas.openxmlformats.org/drawingml/2006/main">
              <a:ext uri="{FF2B5EF4-FFF2-40B4-BE49-F238E27FC236}">
                <a16:creationId xmlns:a16="http://schemas.microsoft.com/office/drawing/2014/main" id="{8CA8FE9E-712E-429F-9493-CE5A8DFD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248" y="1459992"/>
            <a:ext cx="205800" cy="8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7" name="Google Shape;367;p12">
            <a:extLst xmlns:a="http://schemas.openxmlformats.org/drawingml/2006/main">
              <a:ext uri="{FF2B5EF4-FFF2-40B4-BE49-F238E27FC236}">
                <a16:creationId xmlns:a16="http://schemas.microsoft.com/office/drawing/2014/main" id="{BE34206E-EDF2-4655-9C39-A397683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412" y="1459992"/>
            <a:ext cx="1518000" cy="84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8" name="Google Shape;368;p12">
            <a:extLst xmlns:a="http://schemas.openxmlformats.org/drawingml/2006/main">
              <a:ext uri="{FF2B5EF4-FFF2-40B4-BE49-F238E27FC236}">
                <a16:creationId xmlns:a16="http://schemas.microsoft.com/office/drawing/2014/main" id="{58A478E1-19D1-4B34-AE69-8FBCFDA4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852" y="1496568"/>
            <a:ext cx="274200" cy="2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" name="Google Shape;369;p12">
            <a:extLst xmlns:a="http://schemas.openxmlformats.org/drawingml/2006/main">
              <a:ext uri="{FF2B5EF4-FFF2-40B4-BE49-F238E27FC236}">
                <a16:creationId xmlns:a16="http://schemas.microsoft.com/office/drawing/2014/main" id="{2FFE04C3-6D64-46DF-85F1-4A12D9D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412" y="1569720"/>
            <a:ext cx="15180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Diseño de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la Solución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Google Shape;370;p12">
            <a:extLst xmlns:a="http://schemas.openxmlformats.org/drawingml/2006/main">
              <a:ext uri="{FF2B5EF4-FFF2-40B4-BE49-F238E27FC236}">
                <a16:creationId xmlns:a16="http://schemas.microsoft.com/office/drawing/2014/main" id="{BED4FB4B-4E94-404F-80C0-ED46CA7C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740" y="1459992"/>
            <a:ext cx="205800" cy="8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1" name="Google Shape;371;p12">
            <a:extLst xmlns:a="http://schemas.openxmlformats.org/drawingml/2006/main">
              <a:ext uri="{FF2B5EF4-FFF2-40B4-BE49-F238E27FC236}">
                <a16:creationId xmlns:a16="http://schemas.microsoft.com/office/drawing/2014/main" id="{818B08AE-524B-4582-9ED7-457CA4D6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1459992"/>
            <a:ext cx="1518000" cy="84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2" name="Google Shape;372;p12">
            <a:extLst xmlns:a="http://schemas.openxmlformats.org/drawingml/2006/main">
              <a:ext uri="{FF2B5EF4-FFF2-40B4-BE49-F238E27FC236}">
                <a16:creationId xmlns:a16="http://schemas.microsoft.com/office/drawing/2014/main" id="{B80CA53B-FBEA-4501-A34C-5CCBBB35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4" y="1496568"/>
            <a:ext cx="274200" cy="2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3" name="Google Shape;373;p12">
            <a:extLst xmlns:a="http://schemas.openxmlformats.org/drawingml/2006/main">
              <a:ext uri="{FF2B5EF4-FFF2-40B4-BE49-F238E27FC236}">
                <a16:creationId xmlns:a16="http://schemas.microsoft.com/office/drawing/2014/main" id="{F0C7B8A7-C5FB-40A1-9AF2-13838F4D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1569720"/>
            <a:ext cx="15180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Validación de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la Solución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4" name="Google Shape;374;p12">
            <a:extLst xmlns:a="http://schemas.openxmlformats.org/drawingml/2006/main">
              <a:ext uri="{FF2B5EF4-FFF2-40B4-BE49-F238E27FC236}">
                <a16:creationId xmlns:a16="http://schemas.microsoft.com/office/drawing/2014/main" id="{EDD91CA8-D09B-4D2D-A136-2D40287E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459992"/>
            <a:ext cx="205800" cy="8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5" name="Google Shape;375;p12">
            <a:extLst xmlns:a="http://schemas.openxmlformats.org/drawingml/2006/main">
              <a:ext uri="{FF2B5EF4-FFF2-40B4-BE49-F238E27FC236}">
                <a16:creationId xmlns:a16="http://schemas.microsoft.com/office/drawing/2014/main" id="{4A83A98C-AD28-412E-89CC-85E8219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396" y="1459992"/>
            <a:ext cx="1518000" cy="84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12700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6" name="Google Shape;376;p12">
            <a:extLst xmlns:a="http://schemas.openxmlformats.org/drawingml/2006/main">
              <a:ext uri="{FF2B5EF4-FFF2-40B4-BE49-F238E27FC236}">
                <a16:creationId xmlns:a16="http://schemas.microsoft.com/office/drawing/2014/main" id="{26F71961-33A0-4CEB-B362-1E81D618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836" y="1496568"/>
            <a:ext cx="274200" cy="2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A3D8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9FA3D8"/>
                </a:solidFill>
                <a:latin typeface="Calibri"/>
                <a:ea typeface="Calibri"/>
                <a:cs typeface="Calibri"/>
              </a:rPr>
              <a:t>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7" name="Google Shape;377;p12">
            <a:extLst xmlns:a="http://schemas.openxmlformats.org/drawingml/2006/main">
              <a:ext uri="{FF2B5EF4-FFF2-40B4-BE49-F238E27FC236}">
                <a16:creationId xmlns:a16="http://schemas.microsoft.com/office/drawing/2014/main" id="{582C45AD-7E60-403A-9446-A94A249C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396" y="1569720"/>
            <a:ext cx="15180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Implementación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8" name="Google Shape;378;p12">
            <a:extLst xmlns:a="http://schemas.openxmlformats.org/drawingml/2006/main">
              <a:ext uri="{FF2B5EF4-FFF2-40B4-BE49-F238E27FC236}">
                <a16:creationId xmlns:a16="http://schemas.microsoft.com/office/drawing/2014/main" id="{27D359EE-3FE1-4555-9C0A-ED1F816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724" y="1459992"/>
            <a:ext cx="205800" cy="8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9" name="Google Shape;379;p12">
            <a:extLst xmlns:a="http://schemas.openxmlformats.org/drawingml/2006/main">
              <a:ext uri="{FF2B5EF4-FFF2-40B4-BE49-F238E27FC236}">
                <a16:creationId xmlns:a16="http://schemas.microsoft.com/office/drawing/2014/main" id="{6A51B664-F909-42D9-A64D-316B9A7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88" y="1459992"/>
            <a:ext cx="1518000" cy="84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Google Shape;380;p12">
            <a:extLst xmlns:a="http://schemas.openxmlformats.org/drawingml/2006/main">
              <a:ext uri="{FF2B5EF4-FFF2-40B4-BE49-F238E27FC236}">
                <a16:creationId xmlns:a16="http://schemas.microsoft.com/office/drawing/2014/main" id="{B45577E1-799B-4B82-B112-B3A014D1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1496568"/>
            <a:ext cx="274200" cy="2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5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1" name="Google Shape;381;p12">
            <a:extLst xmlns:a="http://schemas.openxmlformats.org/drawingml/2006/main">
              <a:ext uri="{FF2B5EF4-FFF2-40B4-BE49-F238E27FC236}">
                <a16:creationId xmlns:a16="http://schemas.microsoft.com/office/drawing/2014/main" id="{2497991D-1730-4078-8D8F-02AA16AA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88" y="1569720"/>
            <a:ext cx="15180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Evaluación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2" name="Google Shape;382;p12">
            <a:extLst xmlns:a="http://schemas.openxmlformats.org/drawingml/2006/main">
              <a:ext uri="{FF2B5EF4-FFF2-40B4-BE49-F238E27FC236}">
                <a16:creationId xmlns:a16="http://schemas.microsoft.com/office/drawing/2014/main" id="{D448E522-13C4-4220-9B4E-B98ADEB7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28316"/>
            <a:ext cx="81381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 Evaluación puede motivar una nueva iteración: es un ciclo, no una secuencia lineal.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9335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6" name="Google Shape;416;p13">
            <a:extLst xmlns:a="http://schemas.openxmlformats.org/drawingml/2006/main">
              <a:ext uri="{FF2B5EF4-FFF2-40B4-BE49-F238E27FC236}">
                <a16:creationId xmlns:a16="http://schemas.microsoft.com/office/drawing/2014/main" id="{60A87D5B-D053-4D23-8887-01E87E2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Validación de la solución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7" name="Google Shape;417;p13">
            <a:extLst xmlns:a="http://schemas.openxmlformats.org/drawingml/2006/main">
              <a:ext uri="{FF2B5EF4-FFF2-40B4-BE49-F238E27FC236}">
                <a16:creationId xmlns:a16="http://schemas.microsoft.com/office/drawing/2014/main" id="{AC5CFBB2-195D-42E6-B78F-ECDD152C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Las tres preguntas del esquema de Wieringa, antes de construir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38" name="Google Shape;41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ade617b72f46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9" name="Google Shape;419;p13">
            <a:extLst xmlns:a="http://schemas.openxmlformats.org/drawingml/2006/main">
              <a:ext uri="{FF2B5EF4-FFF2-40B4-BE49-F238E27FC236}">
                <a16:creationId xmlns:a16="http://schemas.microsoft.com/office/drawing/2014/main" id="{34168FBE-9E79-430B-A705-7A89A823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0" name="Google Shape;420;p13">
            <a:extLst xmlns:a="http://schemas.openxmlformats.org/drawingml/2006/main">
              <a:ext uri="{FF2B5EF4-FFF2-40B4-BE49-F238E27FC236}">
                <a16:creationId xmlns:a16="http://schemas.microsoft.com/office/drawing/2014/main" id="{17E25142-83E6-4F76-9828-7D2C0C2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1" name="Google Shape;421;p13">
            <a:extLst xmlns:a="http://schemas.openxmlformats.org/drawingml/2006/main">
              <a:ext uri="{FF2B5EF4-FFF2-40B4-BE49-F238E27FC236}">
                <a16:creationId xmlns:a16="http://schemas.microsoft.com/office/drawing/2014/main" id="{2C7662CE-15C4-455F-BFEF-5ED936F1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8138160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2" name="Google Shape;422;p13">
            <a:extLst xmlns:a="http://schemas.openxmlformats.org/drawingml/2006/main">
              <a:ext uri="{FF2B5EF4-FFF2-40B4-BE49-F238E27FC236}">
                <a16:creationId xmlns:a16="http://schemas.microsoft.com/office/drawing/2014/main" id="{CBC65E55-82A9-4BCB-9AD1-0D6D92C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2984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9F8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E6E9F8"/>
                </a:solidFill>
                <a:latin typeface="Cambria"/>
                <a:ea typeface="Cambria"/>
                <a:cs typeface="Cambria"/>
              </a:rPr>
              <a:t>1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3" name="Google Shape;423;p13">
            <a:extLst xmlns:a="http://schemas.openxmlformats.org/drawingml/2006/main">
              <a:ext uri="{FF2B5EF4-FFF2-40B4-BE49-F238E27FC236}">
                <a16:creationId xmlns:a16="http://schemas.microsoft.com/office/drawing/2014/main" id="{6B5D7ADB-7AFE-4B5E-8DC5-DE9A0D5E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280160"/>
            <a:ext cx="71323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¿Esta solución, en este contexto, satisface los criterios?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4" name="Google Shape;424;p13">
            <a:extLst xmlns:a="http://schemas.openxmlformats.org/drawingml/2006/main">
              <a:ext uri="{FF2B5EF4-FFF2-40B4-BE49-F238E27FC236}">
                <a16:creationId xmlns:a16="http://schemas.microsoft.com/office/drawing/2014/main" id="{6423FAF5-E187-4CE7-8B25-1B033E1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591056"/>
            <a:ext cx="7178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Sí: MediaPipe + </a:t>
            </a: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LSTM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es una combinación validada en la literatura de reconocimiento de gestos, con antecedente aplicado en Paraguay.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6" name="Google Shape;426;p13">
            <a:extLst xmlns:a="http://schemas.openxmlformats.org/drawingml/2006/main">
              <a:ext uri="{FF2B5EF4-FFF2-40B4-BE49-F238E27FC236}">
                <a16:creationId xmlns:a16="http://schemas.microsoft.com/office/drawing/2014/main" id="{04511077-284F-4991-8D29-03BC5D9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194560"/>
            <a:ext cx="8138160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Google Shape;427;p13">
            <a:extLst xmlns:a="http://schemas.openxmlformats.org/drawingml/2006/main">
              <a:ext uri="{FF2B5EF4-FFF2-40B4-BE49-F238E27FC236}">
                <a16:creationId xmlns:a16="http://schemas.microsoft.com/office/drawing/2014/main" id="{2F7A0089-07AD-4876-86A1-6B8AF27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088" y="23774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9F8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E6E9F8"/>
                </a:solidFill>
                <a:latin typeface="Cambria"/>
                <a:ea typeface="Cambria"/>
                <a:cs typeface="Cambria"/>
              </a:rPr>
              <a:t>2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8" name="Google Shape;428;p13">
            <a:extLst xmlns:a="http://schemas.openxmlformats.org/drawingml/2006/main">
              <a:ext uri="{FF2B5EF4-FFF2-40B4-BE49-F238E27FC236}">
                <a16:creationId xmlns:a16="http://schemas.microsoft.com/office/drawing/2014/main" id="{8D6CB2B1-E847-4A47-A611-24811220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6152" y="2359152"/>
            <a:ext cx="71323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¿Qué soluciones alternativas se consideraron?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9" name="Google Shape;429;p13">
            <a:extLst xmlns:a="http://schemas.openxmlformats.org/drawingml/2006/main">
              <a:ext uri="{FF2B5EF4-FFF2-40B4-BE49-F238E27FC236}">
                <a16:creationId xmlns:a16="http://schemas.microsoft.com/office/drawing/2014/main" id="{E154B558-5978-485C-B380-83B5A35F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6152" y="2670048"/>
            <a:ext cx="7178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CNN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sobre imágenes crudas (descartada por la cantidad de datos que exige) y el alfabeto dactilológico completo (decisión de alcance revisada durante el desarrollo).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1" name="Google Shape;431;p13">
            <a:extLst xmlns:a="http://schemas.openxmlformats.org/drawingml/2006/main">
              <a:ext uri="{FF2B5EF4-FFF2-40B4-BE49-F238E27FC236}">
                <a16:creationId xmlns:a16="http://schemas.microsoft.com/office/drawing/2014/main" id="{2C7C26CD-F01D-475D-8FCC-D52B3CDF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3273552"/>
            <a:ext cx="8138160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Google Shape;432;p13">
            <a:extLst xmlns:a="http://schemas.openxmlformats.org/drawingml/2006/main">
              <a:ext uri="{FF2B5EF4-FFF2-40B4-BE49-F238E27FC236}">
                <a16:creationId xmlns:a16="http://schemas.microsoft.com/office/drawing/2014/main" id="{96F79FE7-D433-4D48-B972-B601D011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088" y="34564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9F8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E6E9F8"/>
                </a:solidFill>
                <a:latin typeface="Cambria"/>
                <a:ea typeface="Cambria"/>
                <a:cs typeface="Cambria"/>
              </a:rPr>
              <a:t>3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3" name="Google Shape;433;p13">
            <a:extLst xmlns:a="http://schemas.openxmlformats.org/drawingml/2006/main">
              <a:ext uri="{FF2B5EF4-FFF2-40B4-BE49-F238E27FC236}">
                <a16:creationId xmlns:a16="http://schemas.microsoft.com/office/drawing/2014/main" id="{C89A74C5-C8C4-49F7-AA85-EA45290D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6152" y="3438144"/>
            <a:ext cx="71323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¿Funciona en contextos ligeramente distintos?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4" name="Google Shape;434;p13">
            <a:extLst xmlns:a="http://schemas.openxmlformats.org/drawingml/2006/main">
              <a:ext uri="{FF2B5EF4-FFF2-40B4-BE49-F238E27FC236}">
                <a16:creationId xmlns:a16="http://schemas.microsoft.com/office/drawing/2014/main" id="{392E6E4C-DB9E-4391-8EED-CC19BD4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6152" y="3749040"/>
            <a:ext cx="7178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El enfoque no es específico de la LSPy: con datos propios, la misma arquitectura sirve para otras lenguas de señas.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6957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9" name="Google Shape;609;p17">
            <a:extLst xmlns:a="http://schemas.openxmlformats.org/drawingml/2006/main">
              <a:ext uri="{FF2B5EF4-FFF2-40B4-BE49-F238E27FC236}">
                <a16:creationId xmlns:a16="http://schemas.microsoft.com/office/drawing/2014/main" id="{802A4043-DC67-42CC-9690-A5EF80F2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Arquitectura del sistema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0" name="Google Shape;610;p17">
            <a:extLst xmlns:a="http://schemas.openxmlformats.org/drawingml/2006/main">
              <a:ext uri="{FF2B5EF4-FFF2-40B4-BE49-F238E27FC236}">
                <a16:creationId xmlns:a16="http://schemas.microsoft.com/office/drawing/2014/main" id="{D0689B28-B6F8-48D0-9CD5-7565282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Todo pasa por Flask: el navegador nunca toca la base de datos, el pipeline ni Gemini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75" name="Google Shape;611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32a4905d9f4d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2" name="Google Shape;612;p17">
            <a:extLst xmlns:a="http://schemas.openxmlformats.org/drawingml/2006/main">
              <a:ext uri="{FF2B5EF4-FFF2-40B4-BE49-F238E27FC236}">
                <a16:creationId xmlns:a16="http://schemas.microsoft.com/office/drawing/2014/main" id="{C075F63C-B3A5-4322-B6E7-936ED8B3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3" name="Google Shape;613;p17">
            <a:extLst xmlns:a="http://schemas.openxmlformats.org/drawingml/2006/main">
              <a:ext uri="{FF2B5EF4-FFF2-40B4-BE49-F238E27FC236}">
                <a16:creationId xmlns:a16="http://schemas.microsoft.com/office/drawing/2014/main" id="{CA40E2B2-E3C9-4BD9-9F3C-6AC9ACCE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5" name="Google Shape;615;p17">
            <a:extLst xmlns:a="http://schemas.openxmlformats.org/drawingml/2006/main">
              <a:ext uri="{FF2B5EF4-FFF2-40B4-BE49-F238E27FC236}">
                <a16:creationId xmlns:a16="http://schemas.microsoft.com/office/drawing/2014/main" id="{D0705F14-7627-4E71-9966-F5CA1327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078992"/>
            <a:ext cx="23774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6" name="Google Shape;616;p17">
            <a:extLst xmlns:a="http://schemas.openxmlformats.org/drawingml/2006/main">
              <a:ext uri="{FF2B5EF4-FFF2-40B4-BE49-F238E27FC236}">
                <a16:creationId xmlns:a16="http://schemas.microsoft.com/office/drawing/2014/main" id="{E9147928-662E-423B-AB83-A153949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170432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Navegador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7" name="Google Shape;617;p17">
            <a:extLst xmlns:a="http://schemas.openxmlformats.org/drawingml/2006/main">
              <a:ext uri="{FF2B5EF4-FFF2-40B4-BE49-F238E27FC236}">
                <a16:creationId xmlns:a16="http://schemas.microsoft.com/office/drawing/2014/main" id="{AE8C3CE2-B65E-435F-81FE-AC9C9939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14630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cámara · micrófono · Web Speech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8" name="Google Shape;618;p17">
            <a:extLst xmlns:a="http://schemas.openxmlformats.org/drawingml/2006/main">
              <a:ext uri="{FF2B5EF4-FFF2-40B4-BE49-F238E27FC236}">
                <a16:creationId xmlns:a16="http://schemas.microsoft.com/office/drawing/2014/main" id="{0F0E3276-B38A-4AC9-B674-0BEEA9A0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6080" y="1078992"/>
            <a:ext cx="4114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600"/>
              <a:buFont typeface="Calibri"/>
              <a:buNone/>
            </a:pPr>
            <a:r>
              <a:rPr sz="16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9" name="Google Shape;619;p17">
            <a:extLst xmlns:a="http://schemas.openxmlformats.org/drawingml/2006/main">
              <a:ext uri="{FF2B5EF4-FFF2-40B4-BE49-F238E27FC236}">
                <a16:creationId xmlns:a16="http://schemas.microsoft.com/office/drawing/2014/main" id="{10A0CACF-13F3-48AC-ABA1-E2237364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3280" y="1078992"/>
            <a:ext cx="23774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0" name="Google Shape;620;p17">
            <a:extLst xmlns:a="http://schemas.openxmlformats.org/drawingml/2006/main">
              <a:ext uri="{FF2B5EF4-FFF2-40B4-BE49-F238E27FC236}">
                <a16:creationId xmlns:a16="http://schemas.microsoft.com/office/drawing/2014/main" id="{34FDBD99-4EAF-4295-979E-1F30B29A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3280" y="1170432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Flask (app/views)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1" name="Google Shape;621;p17">
            <a:extLst xmlns:a="http://schemas.openxmlformats.org/drawingml/2006/main">
              <a:ext uri="{FF2B5EF4-FFF2-40B4-BE49-F238E27FC236}">
                <a16:creationId xmlns:a16="http://schemas.microsoft.com/office/drawing/2014/main" id="{25CAEA88-6E6C-4A3A-881D-6818002D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720" y="14630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única puerta de entrada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2" name="Google Shape;622;p17">
            <a:extLst xmlns:a="http://schemas.openxmlformats.org/drawingml/2006/main">
              <a:ext uri="{FF2B5EF4-FFF2-40B4-BE49-F238E27FC236}">
                <a16:creationId xmlns:a16="http://schemas.microsoft.com/office/drawing/2014/main" id="{5841E1C6-2A53-48D6-8E21-E771C98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6440" y="1078992"/>
            <a:ext cx="4114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600"/>
              <a:buFont typeface="Calibri"/>
              <a:buNone/>
            </a:pPr>
            <a:r>
              <a:rPr sz="16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3" name="Google Shape;623;p17">
            <a:extLst xmlns:a="http://schemas.openxmlformats.org/drawingml/2006/main">
              <a:ext uri="{FF2B5EF4-FFF2-40B4-BE49-F238E27FC236}">
                <a16:creationId xmlns:a16="http://schemas.microsoft.com/office/drawing/2014/main" id="{B7DD2254-4E66-44B0-BEF9-02B05A1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640" y="1078992"/>
            <a:ext cx="23774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4" name="Google Shape;624;p17">
            <a:extLst xmlns:a="http://schemas.openxmlformats.org/drawingml/2006/main">
              <a:ext uri="{FF2B5EF4-FFF2-40B4-BE49-F238E27FC236}">
                <a16:creationId xmlns:a16="http://schemas.microsoft.com/office/drawing/2014/main" id="{6D8140E0-1465-4841-9301-3970014A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640" y="1170432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Gemini API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5" name="Google Shape;625;p17">
            <a:extLst xmlns:a="http://schemas.openxmlformats.org/drawingml/2006/main">
              <a:ext uri="{FF2B5EF4-FFF2-40B4-BE49-F238E27FC236}">
                <a16:creationId xmlns:a16="http://schemas.microsoft.com/office/drawing/2014/main" id="{C17C7E3F-B45A-4B67-ADBA-F77A1947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5080" y="14630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traducción de frases (opcional)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689" name="Google Shape;627;p17"/>
          <p:cNvCxnSpPr/>
          <p:nvPr/>
        </p:nvCxnSpPr>
        <p:spPr>
          <a:xfrm xmlns:a="http://schemas.openxmlformats.org/drawingml/2006/main" rot="0" flipH="0" flipV="0">
            <a:off x="4572000" y="1856232"/>
            <a:ext cx="0" cy="32004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AEB2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8" name="Google Shape;628;p17">
            <a:extLst xmlns:a="http://schemas.openxmlformats.org/drawingml/2006/main">
              <a:ext uri="{FF2B5EF4-FFF2-40B4-BE49-F238E27FC236}">
                <a16:creationId xmlns:a16="http://schemas.microsoft.com/office/drawing/2014/main" id="{E83A8CDE-B785-43C0-A45F-437967D5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3280" y="2176272"/>
            <a:ext cx="2377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12700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9" name="Google Shape;629;p17">
            <a:extLst xmlns:a="http://schemas.openxmlformats.org/drawingml/2006/main">
              <a:ext uri="{FF2B5EF4-FFF2-40B4-BE49-F238E27FC236}">
                <a16:creationId xmlns:a16="http://schemas.microsoft.com/office/drawing/2014/main" id="{FFCE3793-EDAE-45DD-A522-0B7ADB29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3280" y="2267712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ml/pipeline.py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0" name="Google Shape;630;p17">
            <a:extLst xmlns:a="http://schemas.openxmlformats.org/drawingml/2006/main">
              <a:ext uri="{FF2B5EF4-FFF2-40B4-BE49-F238E27FC236}">
                <a16:creationId xmlns:a16="http://schemas.microsoft.com/office/drawing/2014/main" id="{E16E32B4-2F33-4100-A424-B46C7D25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720" y="25603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2E8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BFC2E8"/>
                </a:solidFill>
                <a:latin typeface="Calibri"/>
                <a:ea typeface="Calibri"/>
                <a:cs typeface="Calibri"/>
              </a:rPr>
              <a:t>orquestador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693" name="Google Shape;632;p17"/>
          <p:cNvCxnSpPr/>
          <p:nvPr/>
        </p:nvCxnSpPr>
        <p:spPr>
          <a:xfrm xmlns:a="http://schemas.openxmlformats.org/drawingml/2006/main" rot="0" flipH="0" flipV="0">
            <a:off x="4572000" y="2834640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AEB2C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4" name="Google Shape;633;p17"/>
          <p:cNvCxnSpPr/>
          <p:nvPr/>
        </p:nvCxnSpPr>
        <p:spPr>
          <a:xfrm xmlns:a="http://schemas.openxmlformats.org/drawingml/2006/main" rot="0" flipH="0" flipV="0">
            <a:off x="1691640" y="3054096"/>
            <a:ext cx="576072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AEB2C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5" name="Google Shape;634;p17"/>
          <p:cNvCxnSpPr/>
          <p:nvPr/>
        </p:nvCxnSpPr>
        <p:spPr>
          <a:xfrm xmlns:a="http://schemas.openxmlformats.org/drawingml/2006/main" rot="0" flipH="0" flipV="0">
            <a:off x="1691640" y="3054096"/>
            <a:ext cx="0" cy="201168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AEB2C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6" name="Google Shape;635;p17"/>
          <p:cNvCxnSpPr/>
          <p:nvPr/>
        </p:nvCxnSpPr>
        <p:spPr>
          <a:xfrm xmlns:a="http://schemas.openxmlformats.org/drawingml/2006/main" rot="0" flipH="0" flipV="0">
            <a:off x="4572000" y="3054096"/>
            <a:ext cx="0" cy="201168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AEB2C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7" name="Google Shape;636;p17"/>
          <p:cNvCxnSpPr/>
          <p:nvPr/>
        </p:nvCxnSpPr>
        <p:spPr>
          <a:xfrm xmlns:a="http://schemas.openxmlformats.org/drawingml/2006/main" rot="0" flipH="0" flipV="0">
            <a:off x="7452360" y="3054096"/>
            <a:ext cx="0" cy="201168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AEB2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7" name="Google Shape;637;p17">
            <a:extLst xmlns:a="http://schemas.openxmlformats.org/drawingml/2006/main">
              <a:ext uri="{FF2B5EF4-FFF2-40B4-BE49-F238E27FC236}">
                <a16:creationId xmlns:a16="http://schemas.microsoft.com/office/drawing/2014/main" id="{D51CCAD6-3FE3-423B-8A9D-F4266C9E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3255264"/>
            <a:ext cx="2377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Google Shape;638;p17">
            <a:extLst xmlns:a="http://schemas.openxmlformats.org/drawingml/2006/main">
              <a:ext uri="{FF2B5EF4-FFF2-40B4-BE49-F238E27FC236}">
                <a16:creationId xmlns:a16="http://schemas.microsoft.com/office/drawing/2014/main" id="{D6AE3E30-DDED-41E5-89B5-ADBCD328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3255264"/>
            <a:ext cx="23774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ml/capture.py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ml/normalize.py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ml/keypoints.py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9" name="Google Shape;639;p17">
            <a:extLst xmlns:a="http://schemas.openxmlformats.org/drawingml/2006/main">
              <a:ext uri="{FF2B5EF4-FFF2-40B4-BE49-F238E27FC236}">
                <a16:creationId xmlns:a16="http://schemas.microsoft.com/office/drawing/2014/main" id="{DAA344E7-8662-40D8-BF2E-A4C70534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3280" y="3255264"/>
            <a:ext cx="2377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Google Shape;640;p17">
            <a:extLst xmlns:a="http://schemas.openxmlformats.org/drawingml/2006/main">
              <a:ext uri="{FF2B5EF4-FFF2-40B4-BE49-F238E27FC236}">
                <a16:creationId xmlns:a16="http://schemas.microsoft.com/office/drawing/2014/main" id="{5DE63943-546C-4AE7-A121-4B6EA4B5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3280" y="3255264"/>
            <a:ext cx="23774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ml/model.py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ml/train.py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ml/evaluate.py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1" name="Google Shape;641;p17">
            <a:extLst xmlns:a="http://schemas.openxmlformats.org/drawingml/2006/main">
              <a:ext uri="{FF2B5EF4-FFF2-40B4-BE49-F238E27FC236}">
                <a16:creationId xmlns:a16="http://schemas.microsoft.com/office/drawing/2014/main" id="{6E244831-407E-44E2-A19E-482CC030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640" y="3255264"/>
            <a:ext cx="2377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Google Shape;642;p17">
            <a:extLst xmlns:a="http://schemas.openxmlformats.org/drawingml/2006/main">
              <a:ext uri="{FF2B5EF4-FFF2-40B4-BE49-F238E27FC236}">
                <a16:creationId xmlns:a16="http://schemas.microsoft.com/office/drawing/2014/main" id="{8B15FF23-AFD8-49A2-ABCF-01106AC9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640" y="3255264"/>
            <a:ext cx="23774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ml/predict.py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ml/sign_animator.py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222235"/>
                </a:solidFill>
                <a:latin typeface="Courier New"/>
                <a:ea typeface="Courier New"/>
                <a:cs typeface="Courier New"/>
              </a:rPr>
              <a:t>ml/translator.py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4" name="Google Shape;644;p17">
            <a:extLst xmlns:a="http://schemas.openxmlformats.org/drawingml/2006/main">
              <a:ext uri="{FF2B5EF4-FFF2-40B4-BE49-F238E27FC236}">
                <a16:creationId xmlns:a16="http://schemas.microsoft.com/office/drawing/2014/main" id="{D832B54F-BA59-46BE-90A7-E856EE88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88920" y="4133088"/>
            <a:ext cx="35661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Google Shape;645;p17">
            <a:extLst xmlns:a="http://schemas.openxmlformats.org/drawingml/2006/main">
              <a:ext uri="{FF2B5EF4-FFF2-40B4-BE49-F238E27FC236}">
                <a16:creationId xmlns:a16="http://schemas.microsoft.com/office/drawing/2014/main" id="{AE359303-4A01-4F7C-9051-0AF6BFC9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88920" y="4133088"/>
            <a:ext cx="35661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PostgreSQL — categories · words · samples · keypoints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08226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5" name="Google Shape;465;p15">
            <a:extLst xmlns:a="http://schemas.openxmlformats.org/drawingml/2006/main">
              <a:ext uri="{FF2B5EF4-FFF2-40B4-BE49-F238E27FC236}">
                <a16:creationId xmlns:a16="http://schemas.microsoft.com/office/drawing/2014/main" id="{E01EF425-97BF-4755-9869-9C9F2FA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Cómo "ve" el sistema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6" name="Google Shape;466;p15">
            <a:extLst xmlns:a="http://schemas.openxmlformats.org/drawingml/2006/main">
              <a:ext uri="{FF2B5EF4-FFF2-40B4-BE49-F238E27FC236}">
                <a16:creationId xmlns:a16="http://schemas.microsoft.com/office/drawing/2014/main" id="{8BE13D26-39CF-4E72-851E-F86ED6CE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MediaPipe Holistic convierte a la persona en un muñeco de puntos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94" name="Google Shape;467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0da370fedc4c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8" name="Google Shape;468;p15">
            <a:extLst xmlns:a="http://schemas.openxmlformats.org/drawingml/2006/main">
              <a:ext uri="{FF2B5EF4-FFF2-40B4-BE49-F238E27FC236}">
                <a16:creationId xmlns:a16="http://schemas.microsoft.com/office/drawing/2014/main" id="{D6F316C2-F983-42DC-83E7-F3FE464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9" name="Google Shape;469;p15">
            <a:extLst xmlns:a="http://schemas.openxmlformats.org/drawingml/2006/main">
              <a:ext uri="{FF2B5EF4-FFF2-40B4-BE49-F238E27FC236}">
                <a16:creationId xmlns:a16="http://schemas.microsoft.com/office/drawing/2014/main" id="{60D89AFB-361E-4C66-89E7-AE6F1EFB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0" name="Google Shape;470;p15">
            <a:extLst xmlns:a="http://schemas.openxmlformats.org/drawingml/2006/main">
              <a:ext uri="{FF2B5EF4-FFF2-40B4-BE49-F238E27FC236}">
                <a16:creationId xmlns:a16="http://schemas.microsoft.com/office/drawing/2014/main" id="{F69566A4-8C7A-4E2B-B7DD-3AD5DCE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288036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1" name="Google Shape;471;p15">
            <a:extLst xmlns:a="http://schemas.openxmlformats.org/drawingml/2006/main">
              <a:ext uri="{FF2B5EF4-FFF2-40B4-BE49-F238E27FC236}">
                <a16:creationId xmlns:a16="http://schemas.microsoft.com/office/drawing/2014/main" id="{C551424F-D3DF-4F2E-BAAF-5E76F9A9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24231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5000"/>
              <a:buFont typeface="Cambria"/>
              <a:buNone/>
            </a:pPr>
            <a:r>
              <a:rPr sz="5000" b="1" i="0" u="none" cap="none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1.662</a:t>
            </a:r>
            <a:endParaRPr sz="5000" b="0" i="0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72" name="Google Shape;472;p15">
            <a:extLst xmlns:a="http://schemas.openxmlformats.org/drawingml/2006/main">
              <a:ext uri="{FF2B5EF4-FFF2-40B4-BE49-F238E27FC236}">
                <a16:creationId xmlns:a16="http://schemas.microsoft.com/office/drawing/2014/main" id="{A752BCFA-797C-4D34-B6DE-5FE5E413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57984"/>
            <a:ext cx="24231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valores numéricos por cada frame del video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3" name="Google Shape;473;p15">
            <a:extLst xmlns:a="http://schemas.openxmlformats.org/drawingml/2006/main">
              <a:ext uri="{FF2B5EF4-FFF2-40B4-BE49-F238E27FC236}">
                <a16:creationId xmlns:a16="http://schemas.microsoft.com/office/drawing/2014/main" id="{A539B864-90D1-419C-98D7-217AA24A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El modelo nunca ve la imagen: solo coordenadas (x, y, z) de puntos del cuerpo. Nada de fondo, ropa ni iluminación.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4" name="Google Shape;474;p15">
            <a:extLst xmlns:a="http://schemas.openxmlformats.org/drawingml/2006/main">
              <a:ext uri="{FF2B5EF4-FFF2-40B4-BE49-F238E27FC236}">
                <a16:creationId xmlns:a16="http://schemas.microsoft.com/office/drawing/2014/main" id="{0EABDC7A-64DC-4C2E-AD37-3C659FA0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097280"/>
            <a:ext cx="493776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Google Shape;475;p15">
            <a:extLst xmlns:a="http://schemas.openxmlformats.org/drawingml/2006/main">
              <a:ext uri="{FF2B5EF4-FFF2-40B4-BE49-F238E27FC236}">
                <a16:creationId xmlns:a16="http://schemas.microsoft.com/office/drawing/2014/main" id="{D228E6E2-D6A0-4B0C-B87B-2601DAA1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243584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Desglose por zona del cuerpo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6" name="Google Shape;476;p15">
            <a:extLst xmlns:a="http://schemas.openxmlformats.org/drawingml/2006/main">
              <a:ext uri="{FF2B5EF4-FFF2-40B4-BE49-F238E27FC236}">
                <a16:creationId xmlns:a16="http://schemas.microsoft.com/office/drawing/2014/main" id="{BC0C8191-34E4-443D-A603-8271B18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572768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Postura corporal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7" name="Google Shape;477;p15">
            <a:extLst xmlns:a="http://schemas.openxmlformats.org/drawingml/2006/main">
              <a:ext uri="{FF2B5EF4-FFF2-40B4-BE49-F238E27FC236}">
                <a16:creationId xmlns:a16="http://schemas.microsoft.com/office/drawing/2014/main" id="{84552B8D-22D7-417C-B322-9A2C111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72768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33</a:t>
            </a: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 puntos × </a:t>
            </a: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4</a:t>
            </a:r>
            <a:endParaRPr sz="115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78" name="Google Shape;478;p15">
            <a:extLst xmlns:a="http://schemas.openxmlformats.org/drawingml/2006/main">
              <a:ext uri="{FF2B5EF4-FFF2-40B4-BE49-F238E27FC236}">
                <a16:creationId xmlns:a16="http://schemas.microsoft.com/office/drawing/2014/main" id="{E5BF0741-3755-42BA-A8FE-4DB70CA9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57276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4F46E5"/>
                </a:solidFill>
                <a:latin typeface="Cambria"/>
                <a:ea typeface="Cambria"/>
                <a:cs typeface="Cambria"/>
              </a:rPr>
              <a:t>132</a:t>
            </a:r>
            <a:endParaRPr sz="1250" b="0" i="1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79" name="Google Shape;479;p15">
            <a:extLst xmlns:a="http://schemas.openxmlformats.org/drawingml/2006/main">
              <a:ext uri="{FF2B5EF4-FFF2-40B4-BE49-F238E27FC236}">
                <a16:creationId xmlns:a16="http://schemas.microsoft.com/office/drawing/2014/main" id="{E97A5B65-FCF3-40C0-8EB6-DCBEF70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91109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Rostro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0" name="Google Shape;480;p15">
            <a:extLst xmlns:a="http://schemas.openxmlformats.org/drawingml/2006/main">
              <a:ext uri="{FF2B5EF4-FFF2-40B4-BE49-F238E27FC236}">
                <a16:creationId xmlns:a16="http://schemas.microsoft.com/office/drawing/2014/main" id="{15CE82C6-43CD-4A17-901B-9696174C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11096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468</a:t>
            </a: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 puntos × </a:t>
            </a: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3</a:t>
            </a:r>
            <a:endParaRPr sz="115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81" name="Google Shape;481;p15">
            <a:extLst xmlns:a="http://schemas.openxmlformats.org/drawingml/2006/main">
              <a:ext uri="{FF2B5EF4-FFF2-40B4-BE49-F238E27FC236}">
                <a16:creationId xmlns:a16="http://schemas.microsoft.com/office/drawing/2014/main" id="{7FC6394A-CEE2-4F43-BAE8-CD3F7F8D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9110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4F46E5"/>
                </a:solidFill>
                <a:latin typeface="Cambria"/>
                <a:ea typeface="Cambria"/>
                <a:cs typeface="Cambria"/>
              </a:rPr>
              <a:t>1.404</a:t>
            </a:r>
            <a:endParaRPr sz="1250" b="0" i="1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82" name="Google Shape;482;p15">
            <a:extLst xmlns:a="http://schemas.openxmlformats.org/drawingml/2006/main">
              <a:ext uri="{FF2B5EF4-FFF2-40B4-BE49-F238E27FC236}">
                <a16:creationId xmlns:a16="http://schemas.microsoft.com/office/drawing/2014/main" id="{3292DAA4-C0ED-4053-91CC-C82615AB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49424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Mano izquierda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3" name="Google Shape;483;p15">
            <a:extLst xmlns:a="http://schemas.openxmlformats.org/drawingml/2006/main">
              <a:ext uri="{FF2B5EF4-FFF2-40B4-BE49-F238E27FC236}">
                <a16:creationId xmlns:a16="http://schemas.microsoft.com/office/drawing/2014/main" id="{2011F987-FF58-4CD8-B8AC-EBFA8F24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9424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21</a:t>
            </a: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 puntos × </a:t>
            </a: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3</a:t>
            </a:r>
            <a:endParaRPr sz="115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84" name="Google Shape;484;p15">
            <a:extLst xmlns:a="http://schemas.openxmlformats.org/drawingml/2006/main">
              <a:ext uri="{FF2B5EF4-FFF2-40B4-BE49-F238E27FC236}">
                <a16:creationId xmlns:a16="http://schemas.microsoft.com/office/drawing/2014/main" id="{18B4D8AA-3635-40DF-ACBA-565800B9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24942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4F46E5"/>
                </a:solidFill>
                <a:latin typeface="Cambria"/>
                <a:ea typeface="Cambria"/>
                <a:cs typeface="Cambria"/>
              </a:rPr>
              <a:t>63</a:t>
            </a:r>
            <a:endParaRPr sz="1250" b="0" i="1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85" name="Google Shape;485;p15">
            <a:extLst xmlns:a="http://schemas.openxmlformats.org/drawingml/2006/main">
              <a:ext uri="{FF2B5EF4-FFF2-40B4-BE49-F238E27FC236}">
                <a16:creationId xmlns:a16="http://schemas.microsoft.com/office/drawing/2014/main" id="{B6E412DA-0DAA-4140-971C-942E88CF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7752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Mano derecha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6" name="Google Shape;486;p15">
            <a:extLst xmlns:a="http://schemas.openxmlformats.org/drawingml/2006/main">
              <a:ext uri="{FF2B5EF4-FFF2-40B4-BE49-F238E27FC236}">
                <a16:creationId xmlns:a16="http://schemas.microsoft.com/office/drawing/2014/main" id="{56557DF0-0523-4816-89C4-91D76F1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87752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21</a:t>
            </a: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 puntos × </a:t>
            </a: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3</a:t>
            </a:r>
            <a:endParaRPr sz="115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87" name="Google Shape;487;p15">
            <a:extLst xmlns:a="http://schemas.openxmlformats.org/drawingml/2006/main">
              <a:ext uri="{FF2B5EF4-FFF2-40B4-BE49-F238E27FC236}">
                <a16:creationId xmlns:a16="http://schemas.microsoft.com/office/drawing/2014/main" id="{2846B8C2-C2C9-4D22-A6C1-4AEF4CB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58775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4F46E5"/>
                </a:solidFill>
                <a:latin typeface="Cambria"/>
                <a:ea typeface="Cambria"/>
                <a:cs typeface="Cambria"/>
              </a:rPr>
              <a:t>63</a:t>
            </a:r>
            <a:endParaRPr sz="1250" b="0" i="1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88" name="Google Shape;488;p15">
            <a:extLst xmlns:a="http://schemas.openxmlformats.org/drawingml/2006/main">
              <a:ext uri="{FF2B5EF4-FFF2-40B4-BE49-F238E27FC236}">
                <a16:creationId xmlns:a16="http://schemas.microsoft.com/office/drawing/2014/main" id="{6F2AA322-5D72-41E0-A76B-656CECA8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127248"/>
            <a:ext cx="4937760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9" name="Google Shape;489;p15">
            <a:extLst xmlns:a="http://schemas.openxmlformats.org/drawingml/2006/main">
              <a:ext uri="{FF2B5EF4-FFF2-40B4-BE49-F238E27FC236}">
                <a16:creationId xmlns:a16="http://schemas.microsoft.com/office/drawing/2014/main" id="{DD2BBFDA-D21B-4E8C-957B-D2A7ABAF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21868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Menos datos de entrenamiento  ·  robusto ante fondo e iluminación  ·  liviano de almacenar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0" name="Google Shape;490;p15">
            <a:extLst xmlns:a="http://schemas.openxmlformats.org/drawingml/2006/main">
              <a:ext uri="{FF2B5EF4-FFF2-40B4-BE49-F238E27FC236}">
                <a16:creationId xmlns:a16="http://schemas.microsoft.com/office/drawing/2014/main" id="{495180A5-F7DB-4106-87F6-5CC5A23B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50" y="3922825"/>
            <a:ext cx="81381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Cada coordenada que obtenemos de MediaPipe entra a la </a:t>
            </a:r>
            <a:r>
              <a:rPr sz="1200" b="1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red</a:t>
            </a:r>
            <a:r>
              <a:rPr sz="12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1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neuronal</a:t>
            </a:r>
            <a:r>
              <a:rPr sz="12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 y se combina con </a:t>
            </a:r>
            <a:r>
              <a:rPr sz="1200" b="1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pesos</a:t>
            </a:r>
            <a:r>
              <a:rPr sz="12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 que el modelo aprende durante el entrenamiento, éstos determinan cuánto y en qué dirección influye cada entrada en esa </a:t>
            </a:r>
            <a:r>
              <a:rPr sz="1200" b="1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neurona</a:t>
            </a:r>
            <a:r>
              <a:rPr sz="12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.</a:t>
            </a:r>
            <a:endParaRPr sz="1200" b="0" i="0" u="none" cap="none">
              <a:solidFill>
                <a:schemeClr val="dk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61091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59" name="Google Shape;73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561dc17ede49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1" name="Shape 902">
            <a:extLst xmlns:a="http://schemas.openxmlformats.org/drawingml/2006/main">
              <a:ext uri="{FF2B5EF4-FFF2-40B4-BE49-F238E27FC236}">
                <a16:creationId xmlns:a16="http://schemas.microsoft.com/office/drawing/2014/main" id="{790695E6-87B4-401B-A6D7-32BBDEF3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Pipeline de datos para entrenar</a:t>
            </a:r>
            <a:endParaRPr sz="260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3" name="Shape 904">
            <a:extLst xmlns:a="http://schemas.openxmlformats.org/drawingml/2006/main">
              <a:ext uri="{FF2B5EF4-FFF2-40B4-BE49-F238E27FC236}">
                <a16:creationId xmlns:a16="http://schemas.microsoft.com/office/drawing/2014/main" id="{85FCC830-E2AD-4632-B7A2-9C3890F7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De la cámara a la base: así se construye el conjunto de datos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" name="Shape 906">
            <a:extLst xmlns:a="http://schemas.openxmlformats.org/drawingml/2006/main">
              <a:ext uri="{FF2B5EF4-FFF2-40B4-BE49-F238E27FC236}">
                <a16:creationId xmlns:a16="http://schemas.microsoft.com/office/drawing/2014/main" id="{1C00A612-E7EE-4E18-AF63-E3A9188B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" name="Shape 908">
            <a:extLst xmlns:a="http://schemas.openxmlformats.org/drawingml/2006/main">
              <a:ext uri="{FF2B5EF4-FFF2-40B4-BE49-F238E27FC236}">
                <a16:creationId xmlns:a16="http://schemas.microsoft.com/office/drawing/2014/main" id="{0FD05914-E076-4A5B-BAC7-B8BFFC1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9" name="Shape 910">
            <a:extLst xmlns:a="http://schemas.openxmlformats.org/drawingml/2006/main">
              <a:ext uri="{FF2B5EF4-FFF2-40B4-BE49-F238E27FC236}">
                <a16:creationId xmlns:a16="http://schemas.microsoft.com/office/drawing/2014/main" id="{F0772602-FB8A-47B6-9626-E132772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Cámara o video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1" name="Shape 912">
            <a:extLst xmlns:a="http://schemas.openxmlformats.org/drawingml/2006/main">
              <a:ext uri="{FF2B5EF4-FFF2-40B4-BE49-F238E27FC236}">
                <a16:creationId xmlns:a16="http://schemas.microsoft.com/office/drawing/2014/main" id="{BDCC0B9F-9191-4043-AF3B-4D56B2B1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muestra grabada o archivo subido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3" name="Shape 914">
            <a:extLst xmlns:a="http://schemas.openxmlformats.org/drawingml/2006/main">
              <a:ext uri="{FF2B5EF4-FFF2-40B4-BE49-F238E27FC236}">
                <a16:creationId xmlns:a16="http://schemas.microsoft.com/office/drawing/2014/main" id="{491D081C-13DE-4A56-A48C-3028D1AB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878" y="1060704"/>
            <a:ext cx="164592" cy="122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5" name="Shape 916">
            <a:extLst xmlns:a="http://schemas.openxmlformats.org/drawingml/2006/main">
              <a:ext uri="{FF2B5EF4-FFF2-40B4-BE49-F238E27FC236}">
                <a16:creationId xmlns:a16="http://schemas.microsoft.com/office/drawing/2014/main" id="{E4489A1E-F195-496B-A794-C021790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470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7" name="Shape 918">
            <a:extLst xmlns:a="http://schemas.openxmlformats.org/drawingml/2006/main">
              <a:ext uri="{FF2B5EF4-FFF2-40B4-BE49-F238E27FC236}">
                <a16:creationId xmlns:a16="http://schemas.microsoft.com/office/drawing/2014/main" id="{07C2AFA9-2C45-449B-B62F-5934ABA7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622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Captura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9" name="Shape 920">
            <a:extLst xmlns:a="http://schemas.openxmlformats.org/drawingml/2006/main">
              <a:ext uri="{FF2B5EF4-FFF2-40B4-BE49-F238E27FC236}">
                <a16:creationId xmlns:a16="http://schemas.microsoft.com/office/drawing/2014/main" id="{DCA2BB8D-7259-41D9-B05E-FB469F76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198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detección automática de inicio y fin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1" name="Shape 922">
            <a:extLst xmlns:a="http://schemas.openxmlformats.org/drawingml/2006/main">
              <a:ext uri="{FF2B5EF4-FFF2-40B4-BE49-F238E27FC236}">
                <a16:creationId xmlns:a16="http://schemas.microsoft.com/office/drawing/2014/main" id="{4CFB7ECF-A635-42BB-BC4C-A94B4BD8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429" y="1060704"/>
            <a:ext cx="164592" cy="122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3" name="Shape 924">
            <a:extLst xmlns:a="http://schemas.openxmlformats.org/drawingml/2006/main">
              <a:ext uri="{FF2B5EF4-FFF2-40B4-BE49-F238E27FC236}">
                <a16:creationId xmlns:a16="http://schemas.microsoft.com/office/drawing/2014/main" id="{D372A9ED-114A-48E1-9DAC-D1C7E79F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021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5" name="Shape 926">
            <a:extLst xmlns:a="http://schemas.openxmlformats.org/drawingml/2006/main">
              <a:ext uri="{FF2B5EF4-FFF2-40B4-BE49-F238E27FC236}">
                <a16:creationId xmlns:a16="http://schemas.microsoft.com/office/drawing/2014/main" id="{2028FFB7-84A4-4FAC-BA11-0EA75C22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173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Keypoints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7" name="Shape 928">
            <a:extLst xmlns:a="http://schemas.openxmlformats.org/drawingml/2006/main">
              <a:ext uri="{FF2B5EF4-FFF2-40B4-BE49-F238E27FC236}">
                <a16:creationId xmlns:a16="http://schemas.microsoft.com/office/drawing/2014/main" id="{7D612A71-C842-4C96-828C-8E71DFC1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749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1.662 valores por cada frame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9" name="Shape 930">
            <a:extLst xmlns:a="http://schemas.openxmlformats.org/drawingml/2006/main">
              <a:ext uri="{FF2B5EF4-FFF2-40B4-BE49-F238E27FC236}">
                <a16:creationId xmlns:a16="http://schemas.microsoft.com/office/drawing/2014/main" id="{4C93728C-3D87-4CC4-9193-6D0B38A3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979" y="1060704"/>
            <a:ext cx="164592" cy="122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1" name="Shape 932">
            <a:extLst xmlns:a="http://schemas.openxmlformats.org/drawingml/2006/main">
              <a:ext uri="{FF2B5EF4-FFF2-40B4-BE49-F238E27FC236}">
                <a16:creationId xmlns:a16="http://schemas.microsoft.com/office/drawing/2014/main" id="{93279CCC-85AB-49D7-945D-CF967A5D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571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3" name="Shape 934">
            <a:extLst xmlns:a="http://schemas.openxmlformats.org/drawingml/2006/main">
              <a:ext uri="{FF2B5EF4-FFF2-40B4-BE49-F238E27FC236}">
                <a16:creationId xmlns:a16="http://schemas.microsoft.com/office/drawing/2014/main" id="{A9BE73E0-23DF-4F85-BE7C-A996A21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23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Normalización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5" name="Shape 936">
            <a:extLst xmlns:a="http://schemas.openxmlformats.org/drawingml/2006/main">
              <a:ext uri="{FF2B5EF4-FFF2-40B4-BE49-F238E27FC236}">
                <a16:creationId xmlns:a16="http://schemas.microsoft.com/office/drawing/2014/main" id="{283985A4-518C-41C8-9A70-FF6A3855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299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toda seña se ajusta a 15 frames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7" name="Shape 938">
            <a:extLst xmlns:a="http://schemas.openxmlformats.org/drawingml/2006/main">
              <a:ext uri="{FF2B5EF4-FFF2-40B4-BE49-F238E27FC236}">
                <a16:creationId xmlns:a16="http://schemas.microsoft.com/office/drawing/2014/main" id="{AFDA2DF0-FF36-40A9-8714-8186F89F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530" y="1060704"/>
            <a:ext cx="164592" cy="122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9" name="Shape 940">
            <a:extLst xmlns:a="http://schemas.openxmlformats.org/drawingml/2006/main">
              <a:ext uri="{FF2B5EF4-FFF2-40B4-BE49-F238E27FC236}">
                <a16:creationId xmlns:a16="http://schemas.microsoft.com/office/drawing/2014/main" id="{B6C5F3D9-3A3A-4465-8125-7A066E8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122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9525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1" name="Shape 942">
            <a:extLst xmlns:a="http://schemas.openxmlformats.org/drawingml/2006/main">
              <a:ext uri="{FF2B5EF4-FFF2-40B4-BE49-F238E27FC236}">
                <a16:creationId xmlns:a16="http://schemas.microsoft.com/office/drawing/2014/main" id="{905D7AB4-4F29-409F-A950-B738AC1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274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3" name="Shape 944">
            <a:extLst xmlns:a="http://schemas.openxmlformats.org/drawingml/2006/main">
              <a:ext uri="{FF2B5EF4-FFF2-40B4-BE49-F238E27FC236}">
                <a16:creationId xmlns:a16="http://schemas.microsoft.com/office/drawing/2014/main" id="{1DA7DE9E-2862-4B50-A2A1-8EA2B0DD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850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BFC2E8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BFC2E8"/>
                </a:solidFill>
                <a:latin typeface="Calibri"/>
                <a:ea typeface="Calibri"/>
                <a:cs typeface="Calibri"/>
              </a:rPr>
              <a:t>se guarda la muestra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5" name="Shape 946">
            <a:extLst xmlns:a="http://schemas.openxmlformats.org/drawingml/2006/main">
              <a:ext uri="{FF2B5EF4-FFF2-40B4-BE49-F238E27FC236}">
                <a16:creationId xmlns:a16="http://schemas.microsoft.com/office/drawing/2014/main" id="{EFE0302D-C17A-4458-889F-ACC89A43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50592"/>
            <a:ext cx="3977640" cy="175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7" name="Shape 948">
            <a:extLst xmlns:a="http://schemas.openxmlformats.org/drawingml/2006/main">
              <a:ext uri="{FF2B5EF4-FFF2-40B4-BE49-F238E27FC236}">
                <a16:creationId xmlns:a16="http://schemas.microsoft.com/office/drawing/2014/main" id="{EAA9E261-7E3D-4D4B-A79C-FC3099DD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15184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Captura sin botones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9" name="Shape 950">
            <a:extLst xmlns:a="http://schemas.openxmlformats.org/drawingml/2006/main">
              <a:ext uri="{FF2B5EF4-FFF2-40B4-BE49-F238E27FC236}">
                <a16:creationId xmlns:a16="http://schemas.microsoft.com/office/drawing/2014/main" id="{97E9643C-5516-479B-AF6D-DF4ED7B3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26080"/>
            <a:ext cx="3520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Una máquina de estados detecta cuándo empieza y cuándo termina la seña: mano en cámara significa grabando, mano fuera significa muestra guardada. Permite hacer repeticiones seguidas sin tocar el teclado, y fue lo que hizo viable reunir entre sesenta y ochenta muestras por palabra.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1" name="Shape 952">
            <a:extLst xmlns:a="http://schemas.openxmlformats.org/drawingml/2006/main">
              <a:ext uri="{FF2B5EF4-FFF2-40B4-BE49-F238E27FC236}">
                <a16:creationId xmlns:a16="http://schemas.microsoft.com/office/drawing/2014/main" id="{3130E74B-E161-4416-AC70-5FACEF8C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50592"/>
            <a:ext cx="3977640" cy="1755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3" name="Shape 954">
            <a:extLst xmlns:a="http://schemas.openxmlformats.org/drawingml/2006/main">
              <a:ext uri="{FF2B5EF4-FFF2-40B4-BE49-F238E27FC236}">
                <a16:creationId xmlns:a16="http://schemas.microsoft.com/office/drawing/2014/main" id="{D93849FA-B076-4C15-8D46-9EBEA6B6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615184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Normalización con interpolación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5" name="Shape 956">
            <a:extLst xmlns:a="http://schemas.openxmlformats.org/drawingml/2006/main">
              <a:ext uri="{FF2B5EF4-FFF2-40B4-BE49-F238E27FC236}">
                <a16:creationId xmlns:a16="http://schemas.microsoft.com/office/drawing/2014/main" id="{D05D6CE3-70E5-49EE-AF3A-A353B707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926080"/>
            <a:ext cx="3520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Cada persona hace la misma seña a distinta velocidad, por lo que las muestras salen con distinta cantidad de frames. Si tiene menos de quince se interpola linealmente; si tiene más, se submuestrea de forma uniforme. Una seña de nueve frames y una de veintidós terminan siendo comparables.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7" name="Shape 958">
            <a:extLst xmlns:a="http://schemas.openxmlformats.org/drawingml/2006/main">
              <a:ext uri="{FF2B5EF4-FFF2-40B4-BE49-F238E27FC236}">
                <a16:creationId xmlns:a16="http://schemas.microsoft.com/office/drawing/2014/main" id="{653C7954-79C5-4B71-8E3A-48359439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97680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El video se elimina una vez extraídos los puntos clave: a la base solo llegan coordenadas.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9" name="Google Shape;739;p20">
            <a:extLst xmlns:a="http://schemas.openxmlformats.org/drawingml/2006/main">
              <a:ext uri="{FF2B5EF4-FFF2-40B4-BE49-F238E27FC236}">
                <a16:creationId xmlns:a16="http://schemas.microsoft.com/office/drawing/2014/main" id="{DB65443E-7641-4A7B-AACA-8125AB8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3028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6" name="Google Shape;496;g3f6d8aeb3c0_0_264">
            <a:extLst xmlns:a="http://schemas.openxmlformats.org/drawingml/2006/main">
              <a:ext uri="{FF2B5EF4-FFF2-40B4-BE49-F238E27FC236}">
                <a16:creationId xmlns:a16="http://schemas.microsoft.com/office/drawing/2014/main" id="{CEF91D2D-D76B-485E-99E2-92E123C8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25" y="1264225"/>
            <a:ext cx="7850400" cy="1303800"/>
          </a:xfrm>
          <a:prstGeom xmlns:a="http://schemas.openxmlformats.org/drawingml/2006/main" prst="roundRect">
            <a:avLst>
              <a:gd name="adj" fmla="val 939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BFC2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7" name="Google Shape;497;g3f6d8aeb3c0_0_264">
            <a:extLst xmlns:a="http://schemas.openxmlformats.org/drawingml/2006/main">
              <a:ext uri="{FF2B5EF4-FFF2-40B4-BE49-F238E27FC236}">
                <a16:creationId xmlns:a16="http://schemas.microsoft.com/office/drawing/2014/main" id="{518F7EA6-ABBF-4C93-8A6F-BFE3B593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Pesos y sesgos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8" name="Google Shape;498;g3f6d8aeb3c0_0_264">
            <a:extLst xmlns:a="http://schemas.openxmlformats.org/drawingml/2006/main">
              <a:ext uri="{FF2B5EF4-FFF2-40B4-BE49-F238E27FC236}">
                <a16:creationId xmlns:a16="http://schemas.microsoft.com/office/drawing/2014/main" id="{2B3B12BA-CC49-4978-834A-7D2BCFB6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5" y="694952"/>
            <a:ext cx="7589400" cy="4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Cada coordenada extraída por MediaPipe entra a la red neuronal. La red aprende cuánto debe influir cada entrada mediante pesos y ajusta sus neuronas mediante sesgos.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75" name="Google Shape;499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afe042391c4d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00" name="Google Shape;500;g3f6d8aeb3c0_0_264">
            <a:extLst xmlns:a="http://schemas.openxmlformats.org/drawingml/2006/main">
              <a:ext uri="{FF2B5EF4-FFF2-40B4-BE49-F238E27FC236}">
                <a16:creationId xmlns:a16="http://schemas.microsoft.com/office/drawing/2014/main" id="{894F48CF-0AD2-485B-9DD2-6BD3C0AC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2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1" name="Google Shape;501;g3f6d8aeb3c0_0_264">
            <a:extLst xmlns:a="http://schemas.openxmlformats.org/drawingml/2006/main">
              <a:ext uri="{FF2B5EF4-FFF2-40B4-BE49-F238E27FC236}">
                <a16:creationId xmlns:a16="http://schemas.microsoft.com/office/drawing/2014/main" id="{F90C6433-5717-41DC-A163-C5695E85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78" name="Google Shape;502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49d6842d3244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275" y="1344575"/>
            <a:ext cx="1188742" cy="54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9" name="Google Shape;503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7cf267e3164727">
            <a:alphaModFix/>
          </a:blip>
          <a:srcRect xmlns:a="http://schemas.openxmlformats.org/drawingml/2006/main" l="0" t="0" r="0" b="23751"/>
          <a:stretch xmlns:a="http://schemas.openxmlformats.org/drawingml/2006/main"/>
        </p:blipFill>
        <p:spPr>
          <a:xfrm xmlns:a="http://schemas.openxmlformats.org/drawingml/2006/main">
            <a:off x="545850" y="1974425"/>
            <a:ext cx="3424450" cy="54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04" name="Google Shape;504;g3f6d8aeb3c0_0_264">
            <a:extLst xmlns:a="http://schemas.openxmlformats.org/drawingml/2006/main">
              <a:ext uri="{FF2B5EF4-FFF2-40B4-BE49-F238E27FC236}">
                <a16:creationId xmlns:a16="http://schemas.microsoft.com/office/drawing/2014/main" id="{7DAC4789-6546-4AC3-B553-B95EEFB6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600" y="1934800"/>
            <a:ext cx="640200" cy="255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81" name="Google Shape;505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423e4576f749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6375" y="1412650"/>
            <a:ext cx="1893772" cy="9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82" name="Google Shape;506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69d0eab16942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50925" y="1412650"/>
            <a:ext cx="2114700" cy="6067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583" name="Google Shape;507;g3f6d8aeb3c0_0_264"/>
          <p:cNvCxnSpPr/>
          <p:nvPr/>
        </p:nvCxnSpPr>
        <p:spPr>
          <a:xfrm xmlns:a="http://schemas.openxmlformats.org/drawingml/2006/main">
            <a:off x="4442125" y="1749125"/>
            <a:ext cx="788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5B60A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84" name="Google Shape;508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ea485966c84761">
            <a:alphaModFix/>
          </a:blip>
          <a:srcRect xmlns:a="http://schemas.openxmlformats.org/drawingml/2006/main" l="4597" t="69238" r="60151" b="21716"/>
          <a:stretch xmlns:a="http://schemas.openxmlformats.org/drawingml/2006/main"/>
        </p:blipFill>
        <p:spPr>
          <a:xfrm xmlns:a="http://schemas.openxmlformats.org/drawingml/2006/main">
            <a:off x="484613" y="3839850"/>
            <a:ext cx="3546924" cy="6067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85" name="Google Shape;509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ea485966c84761">
            <a:alphaModFix/>
          </a:blip>
          <a:srcRect xmlns:a="http://schemas.openxmlformats.org/drawingml/2006/main" l="59012" t="69563" r="5479" b="21391"/>
          <a:stretch xmlns:a="http://schemas.openxmlformats.org/drawingml/2006/main"/>
        </p:blipFill>
        <p:spPr>
          <a:xfrm xmlns:a="http://schemas.openxmlformats.org/drawingml/2006/main">
            <a:off x="4781074" y="3836101"/>
            <a:ext cx="3572598" cy="6067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0" name="Google Shape;510;g3f6d8aeb3c0_0_264">
            <a:extLst xmlns:a="http://schemas.openxmlformats.org/drawingml/2006/main">
              <a:ext uri="{FF2B5EF4-FFF2-40B4-BE49-F238E27FC236}">
                <a16:creationId xmlns:a16="http://schemas.microsoft.com/office/drawing/2014/main" id="{79D9ADB7-9F69-4E24-923D-CB405CC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775" y="1856225"/>
            <a:ext cx="788100" cy="49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1" u="none" cap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(suma ponderada)</a:t>
            </a:r>
            <a:endParaRPr sz="900" b="0" i="1" u="none" cap="none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11" name="Google Shape;511;g3f6d8aeb3c0_0_264">
            <a:extLst xmlns:a="http://schemas.openxmlformats.org/drawingml/2006/main">
              <a:ext uri="{FF2B5EF4-FFF2-40B4-BE49-F238E27FC236}">
                <a16:creationId xmlns:a16="http://schemas.microsoft.com/office/drawing/2014/main" id="{C781C62A-0C46-453D-9D99-07B30523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025" y="2775725"/>
            <a:ext cx="1164000" cy="1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11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SIN SESGO </a:t>
            </a:r>
            <a:r>
              <a:rPr sz="1100" b="0" i="0" u="none" cap="none">
                <a:solidFill>
                  <a:srgbClr val="312E8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b="0" i="1" u="none" cap="none">
                <a:solidFill>
                  <a:srgbClr val="312E81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100" b="0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=0</a:t>
            </a:r>
            <a:r>
              <a:rPr sz="1100" b="0" i="0" u="none" cap="none">
                <a:solidFill>
                  <a:srgbClr val="312E81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100" b="0" i="0" u="non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2" name="Google Shape;512;g3f6d8aeb3c0_0_264">
            <a:extLst xmlns:a="http://schemas.openxmlformats.org/drawingml/2006/main">
              <a:ext uri="{FF2B5EF4-FFF2-40B4-BE49-F238E27FC236}">
                <a16:creationId xmlns:a16="http://schemas.microsoft.com/office/drawing/2014/main" id="{89DEC4A1-41C0-4C3B-A4CC-CC7BD1A0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225" y="2876700"/>
            <a:ext cx="17436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9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 neurona es menos exigente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89" name="Google Shape;513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e198545de44f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67325" y="3149475"/>
            <a:ext cx="3062826" cy="38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90" name="Google Shape;514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ea485966c84761">
            <a:alphaModFix/>
          </a:blip>
          <a:srcRect xmlns:a="http://schemas.openxmlformats.org/drawingml/2006/main" l="2024" t="57281" r="91410" b="31141"/>
          <a:stretch xmlns:a="http://schemas.openxmlformats.org/drawingml/2006/main"/>
        </p:blipFill>
        <p:spPr>
          <a:xfrm xmlns:a="http://schemas.openxmlformats.org/drawingml/2006/main">
            <a:off x="502225" y="2834163"/>
            <a:ext cx="597350" cy="7022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5" name="Google Shape;515;g3f6d8aeb3c0_0_264">
            <a:extLst xmlns:a="http://schemas.openxmlformats.org/drawingml/2006/main">
              <a:ext uri="{FF2B5EF4-FFF2-40B4-BE49-F238E27FC236}">
                <a16:creationId xmlns:a16="http://schemas.microsoft.com/office/drawing/2014/main" id="{3090984E-A044-4C5E-8BC6-5FCD6892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25" y="3550350"/>
            <a:ext cx="2055900" cy="3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9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 persona solo levanta un poco la mano.</a:t>
            </a:r>
            <a:endParaRPr sz="950" b="0" i="1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6" name="Google Shape;516;g3f6d8aeb3c0_0_264">
            <a:extLst xmlns:a="http://schemas.openxmlformats.org/drawingml/2006/main">
              <a:ext uri="{FF2B5EF4-FFF2-40B4-BE49-F238E27FC236}">
                <a16:creationId xmlns:a16="http://schemas.microsoft.com/office/drawing/2014/main" id="{4920B378-7A17-479D-9DA5-4A3228DE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75" y="2678850"/>
            <a:ext cx="1348200" cy="1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11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CON SESGO </a:t>
            </a:r>
            <a:r>
              <a:rPr sz="1100" b="0" i="0" u="none" cap="none">
                <a:solidFill>
                  <a:srgbClr val="312E8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100" b="0" i="1" u="none" cap="none">
                <a:solidFill>
                  <a:srgbClr val="312E81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100" b="0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=</a:t>
            </a:r>
            <a:r>
              <a:rPr sz="1100" b="0" i="0" u="none" cap="none">
                <a:solidFill>
                  <a:srgbClr val="312E81"/>
                </a:solidFill>
                <a:latin typeface="Lora"/>
                <a:ea typeface="Lora"/>
                <a:cs typeface="Lora"/>
              </a:rPr>
              <a:t>-</a:t>
            </a:r>
            <a:r>
              <a:rPr sz="1100" b="0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0.45</a:t>
            </a:r>
            <a:r>
              <a:rPr sz="1100" b="0" i="0" u="none" cap="none">
                <a:solidFill>
                  <a:srgbClr val="312E81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100" b="0" i="0" u="non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7" name="Google Shape;517;g3f6d8aeb3c0_0_264">
            <a:extLst xmlns:a="http://schemas.openxmlformats.org/drawingml/2006/main">
              <a:ext uri="{FF2B5EF4-FFF2-40B4-BE49-F238E27FC236}">
                <a16:creationId xmlns:a16="http://schemas.microsoft.com/office/drawing/2014/main" id="{BF1EA7C0-0724-4739-A20F-76FA311F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675" y="2807113"/>
            <a:ext cx="17436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9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 neurona es más exigente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94" name="Google Shape;518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ea485966c84761">
            <a:alphaModFix/>
          </a:blip>
          <a:srcRect xmlns:a="http://schemas.openxmlformats.org/drawingml/2006/main" l="2024" t="57281" r="91410" b="31141"/>
          <a:stretch xmlns:a="http://schemas.openxmlformats.org/drawingml/2006/main"/>
        </p:blipFill>
        <p:spPr>
          <a:xfrm xmlns:a="http://schemas.openxmlformats.org/drawingml/2006/main">
            <a:off x="4798675" y="2835763"/>
            <a:ext cx="597350" cy="7022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9" name="Google Shape;519;g3f6d8aeb3c0_0_264">
            <a:extLst xmlns:a="http://schemas.openxmlformats.org/drawingml/2006/main">
              <a:ext uri="{FF2B5EF4-FFF2-40B4-BE49-F238E27FC236}">
                <a16:creationId xmlns:a16="http://schemas.microsoft.com/office/drawing/2014/main" id="{7FA6C261-F3E2-44AC-ACC6-3EA33072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75" y="3551950"/>
            <a:ext cx="2055900" cy="3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9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 persona solo levanta un poco la mano.</a:t>
            </a:r>
            <a:endParaRPr sz="950" b="0" i="1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96" name="Google Shape;520;g3f6d8aeb3c0_0_2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47c72b5e0443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01200" y="3051350"/>
            <a:ext cx="2719399" cy="54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597" name="Google Shape;521;g3f6d8aeb3c0_0_264"/>
          <p:cNvCxnSpPr/>
          <p:nvPr/>
        </p:nvCxnSpPr>
        <p:spPr>
          <a:xfrm xmlns:a="http://schemas.openxmlformats.org/drawingml/2006/main">
            <a:off x="4330150" y="2802150"/>
            <a:ext cx="9300" cy="1590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FC2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2" name="Google Shape;522;g3f6d8aeb3c0_0_264">
            <a:extLst xmlns:a="http://schemas.openxmlformats.org/drawingml/2006/main">
              <a:ext uri="{FF2B5EF4-FFF2-40B4-BE49-F238E27FC236}">
                <a16:creationId xmlns:a16="http://schemas.microsoft.com/office/drawing/2014/main" id="{E74A6E25-FD67-48F9-A56C-18CECDE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2975338"/>
            <a:ext cx="4545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2DDD">
              <a:alpha val="2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3" name="Google Shape;523;g3f6d8aeb3c0_0_264">
            <a:extLst xmlns:a="http://schemas.openxmlformats.org/drawingml/2006/main">
              <a:ext uri="{FF2B5EF4-FFF2-40B4-BE49-F238E27FC236}">
                <a16:creationId xmlns:a16="http://schemas.microsoft.com/office/drawing/2014/main" id="{927F45BB-4DAA-4E92-A3ED-C0DFEAA6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800" y="2999450"/>
            <a:ext cx="245100" cy="25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2DDD">
              <a:alpha val="2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3925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9" name="Google Shape;529;g3f6d8aeb3c0_0_321">
            <a:extLst xmlns:a="http://schemas.openxmlformats.org/drawingml/2006/main">
              <a:ext uri="{FF2B5EF4-FFF2-40B4-BE49-F238E27FC236}">
                <a16:creationId xmlns:a16="http://schemas.microsoft.com/office/drawing/2014/main" id="{5DABD9B2-5251-4807-8C6C-2D60B57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Neuronas recurrentes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0" name="Google Shape;530;g3f6d8aeb3c0_0_321">
            <a:extLst xmlns:a="http://schemas.openxmlformats.org/drawingml/2006/main">
              <a:ext uri="{FF2B5EF4-FFF2-40B4-BE49-F238E27FC236}">
                <a16:creationId xmlns:a16="http://schemas.microsoft.com/office/drawing/2014/main" id="{E73D71C3-7903-46FB-8B32-C16B2A5B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5" y="694956"/>
            <a:ext cx="7589400" cy="54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 recurrencia permite que el reconocimiento no dependa solamente de la posición de las manos en un frame, sino también de cómo esa posición evoluciona a lo largo del tiempo. ocurre en el tiempo: la red debe recordar el movimiento completo:</a:t>
            </a:r>
            <a:endParaRPr sz="1250" b="0" i="0" u="none" cap="none">
              <a:solidFill>
                <a:srgbClr val="6B7086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67" name="Google Shape;531;g3f6d8aeb3c0_0_3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1e2cfac77447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32" name="Google Shape;532;g3f6d8aeb3c0_0_321">
            <a:extLst xmlns:a="http://schemas.openxmlformats.org/drawingml/2006/main">
              <a:ext uri="{FF2B5EF4-FFF2-40B4-BE49-F238E27FC236}">
                <a16:creationId xmlns:a16="http://schemas.microsoft.com/office/drawing/2014/main" id="{417247CA-C403-4FAE-B363-1014112C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2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3" name="Google Shape;533;g3f6d8aeb3c0_0_321">
            <a:extLst xmlns:a="http://schemas.openxmlformats.org/drawingml/2006/main">
              <a:ext uri="{FF2B5EF4-FFF2-40B4-BE49-F238E27FC236}">
                <a16:creationId xmlns:a16="http://schemas.microsoft.com/office/drawing/2014/main" id="{3ABAAF47-2D2E-4969-AB4B-4613299F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70" name="Google Shape;534;g3f6d8aeb3c0_0_3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567b23477444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949" y="1478025"/>
            <a:ext cx="3101050" cy="4969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1" name="Google Shape;535;g3f6d8aeb3c0_0_3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693fa53d964b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1281" y="2094959"/>
            <a:ext cx="3096380" cy="2317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2" name="Google Shape;536;g3f6d8aeb3c0_0_3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72a4b2368b4b3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3825" y="2529525"/>
            <a:ext cx="2256740" cy="11162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573" name="Google Shape;537;g3f6d8aeb3c0_0_321"/>
          <p:cNvCxnSpPr/>
          <p:nvPr/>
        </p:nvCxnSpPr>
        <p:spPr>
          <a:xfrm xmlns:a="http://schemas.openxmlformats.org/drawingml/2006/main">
            <a:off x="4409688" y="1478013"/>
            <a:ext cx="3900" cy="3001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FC2E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4" name="Google Shape;538;g3f6d8aeb3c0_0_3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7a5a65b4b14045">
            <a:alphaModFix/>
          </a:blip>
          <a:srcRect xmlns:a="http://schemas.openxmlformats.org/drawingml/2006/main" l="48336" t="21456" r="2225" b="9929"/>
          <a:stretch xmlns:a="http://schemas.openxmlformats.org/drawingml/2006/main"/>
        </p:blipFill>
        <p:spPr>
          <a:xfrm xmlns:a="http://schemas.openxmlformats.org/drawingml/2006/main">
            <a:off x="4617725" y="1192925"/>
            <a:ext cx="4243826" cy="3301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5" name="Google Shape;539;g3f6d8aeb3c0_0_3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f49409ef8243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9182" y="3726721"/>
            <a:ext cx="906028" cy="3724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6" name="Google Shape;540;g3f6d8aeb3c0_0_3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087c5be28f44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18475" y="2474734"/>
            <a:ext cx="1927724" cy="16523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41" name="Google Shape;541;g3f6d8aeb3c0_0_321">
            <a:extLst xmlns:a="http://schemas.openxmlformats.org/drawingml/2006/main">
              <a:ext uri="{FF2B5EF4-FFF2-40B4-BE49-F238E27FC236}">
                <a16:creationId xmlns:a16="http://schemas.microsoft.com/office/drawing/2014/main" id="{F2BE249C-4DF5-425D-9F54-DAF1A671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00" y="4099200"/>
            <a:ext cx="4000200" cy="5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En una RNN convencional, la información puede perderse a medida que aumenta la secuencia. ¿Cómo lo solucionamos?</a:t>
            </a:r>
            <a:endParaRPr sz="1100" b="0" i="0" u="none" cap="none">
              <a:solidFill>
                <a:schemeClr val="dk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08833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7" name="Google Shape;547;g3f6d8aeb3c0_0_352">
            <a:extLst xmlns:a="http://schemas.openxmlformats.org/drawingml/2006/main">
              <a:ext uri="{FF2B5EF4-FFF2-40B4-BE49-F238E27FC236}">
                <a16:creationId xmlns:a16="http://schemas.microsoft.com/office/drawing/2014/main" id="{57E6CA91-E8CE-459E-8AAE-29363E4A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0" i="1" u="none" cap="none">
                <a:solidFill>
                  <a:srgbClr val="312E81"/>
                </a:solidFill>
                <a:latin typeface="Georgia"/>
                <a:ea typeface="Georgia"/>
                <a:cs typeface="Georgia"/>
              </a:rPr>
              <a:t>LSTM</a:t>
            </a: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 (Long Short-Term Memory) 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8" name="Google Shape;548;g3f6d8aeb3c0_0_352">
            <a:extLst xmlns:a="http://schemas.openxmlformats.org/drawingml/2006/main">
              <a:ext uri="{FF2B5EF4-FFF2-40B4-BE49-F238E27FC236}">
                <a16:creationId xmlns:a16="http://schemas.microsoft.com/office/drawing/2014/main" id="{0A9886B1-A28C-4178-804C-499520B1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5" y="665828"/>
            <a:ext cx="7589400" cy="32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Cada frame aporta información nueva, mientras la </a:t>
            </a:r>
            <a:r>
              <a:rPr sz="1250" b="0" i="1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LSTM</a:t>
            </a: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 conserva información relevante de los frames anteriores.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92" name="Google Shape;549;g3f6d8aeb3c0_0_3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37fb32048c4c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0" name="Google Shape;550;g3f6d8aeb3c0_0_352">
            <a:extLst xmlns:a="http://schemas.openxmlformats.org/drawingml/2006/main">
              <a:ext uri="{FF2B5EF4-FFF2-40B4-BE49-F238E27FC236}">
                <a16:creationId xmlns:a16="http://schemas.microsoft.com/office/drawing/2014/main" id="{98091324-D732-48A1-949D-ADFF3B8B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2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17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1" name="Google Shape;551;g3f6d8aeb3c0_0_352">
            <a:extLst xmlns:a="http://schemas.openxmlformats.org/drawingml/2006/main">
              <a:ext uri="{FF2B5EF4-FFF2-40B4-BE49-F238E27FC236}">
                <a16:creationId xmlns:a16="http://schemas.microsoft.com/office/drawing/2014/main" id="{8DCEE0B4-1217-43AC-9BF5-F7F2CA0B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95" name="Google Shape;552;g3f6d8aeb3c0_0_3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ac92bfae964a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400" y="3358978"/>
            <a:ext cx="8839201" cy="10637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96" name="Google Shape;553;g3f6d8aeb3c0_0_3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8b013b0e934f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6525" y="1156488"/>
            <a:ext cx="2608825" cy="2035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97" name="Google Shape;554;g3f6d8aeb3c0_0_3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82d784cdce45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06100" y="1171050"/>
            <a:ext cx="2904626" cy="751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98" name="Google Shape;555;g3f6d8aeb3c0_0_3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c93377b22e4b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26451" y="1961350"/>
            <a:ext cx="2752927" cy="54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99" name="Google Shape;556;g3f6d8aeb3c0_0_3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1c5ab4207445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30901" y="2660913"/>
            <a:ext cx="1726421" cy="323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600" name="Google Shape;557;g3f6d8aeb3c0_0_352"/>
          <p:cNvCxnSpPr/>
          <p:nvPr/>
        </p:nvCxnSpPr>
        <p:spPr>
          <a:xfrm xmlns:a="http://schemas.openxmlformats.org/drawingml/2006/main">
            <a:off x="3829625" y="1428475"/>
            <a:ext cx="788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5B60A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8" name="Google Shape;558;g3f6d8aeb3c0_0_352">
            <a:extLst xmlns:a="http://schemas.openxmlformats.org/drawingml/2006/main">
              <a:ext uri="{FF2B5EF4-FFF2-40B4-BE49-F238E27FC236}">
                <a16:creationId xmlns:a16="http://schemas.microsoft.com/office/drawing/2014/main" id="{E1FB9513-3421-4DA1-99BB-D3155614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0" y="1171050"/>
            <a:ext cx="1175700" cy="22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950" b="0" i="0" u="none" cap="none">
                <a:solidFill>
                  <a:srgbClr val="6B7086"/>
                </a:solidFill>
                <a:latin typeface="Georgia"/>
                <a:ea typeface="Georgia"/>
                <a:cs typeface="Georgia"/>
              </a:rPr>
              <a:t>¿Qué recordamos?</a:t>
            </a:r>
            <a:endParaRPr sz="950" b="0" i="0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cxnSp>
        <p:nvCxnSpPr>
          <p:cNvPr id="602" name="Google Shape;559;g3f6d8aeb3c0_0_352"/>
          <p:cNvCxnSpPr/>
          <p:nvPr/>
        </p:nvCxnSpPr>
        <p:spPr>
          <a:xfrm xmlns:a="http://schemas.openxmlformats.org/drawingml/2006/main" flipH="1">
            <a:off x="6788425" y="2186863"/>
            <a:ext cx="529800" cy="3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5B60A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0" name="Google Shape;560;g3f6d8aeb3c0_0_352">
            <a:extLst xmlns:a="http://schemas.openxmlformats.org/drawingml/2006/main">
              <a:ext uri="{FF2B5EF4-FFF2-40B4-BE49-F238E27FC236}">
                <a16:creationId xmlns:a16="http://schemas.microsoft.com/office/drawing/2014/main" id="{57B1AE0D-B981-48E3-972D-1CBAE15A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325" y="1940350"/>
            <a:ext cx="1175700" cy="22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950" b="0" i="0" u="none" cap="none">
                <a:solidFill>
                  <a:srgbClr val="6B7086"/>
                </a:solidFill>
                <a:latin typeface="Georgia"/>
                <a:ea typeface="Georgia"/>
                <a:cs typeface="Georgia"/>
              </a:rPr>
              <a:t>Actualizar memoria</a:t>
            </a:r>
            <a:endParaRPr sz="950" b="0" i="0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cxnSp>
        <p:nvCxnSpPr>
          <p:cNvPr id="604" name="Google Shape;561;g3f6d8aeb3c0_0_352"/>
          <p:cNvCxnSpPr/>
          <p:nvPr/>
        </p:nvCxnSpPr>
        <p:spPr>
          <a:xfrm xmlns:a="http://schemas.openxmlformats.org/drawingml/2006/main">
            <a:off x="3716450" y="2951475"/>
            <a:ext cx="788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5B60A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2" name="Google Shape;562;g3f6d8aeb3c0_0_352">
            <a:extLst xmlns:a="http://schemas.openxmlformats.org/drawingml/2006/main">
              <a:ext uri="{FF2B5EF4-FFF2-40B4-BE49-F238E27FC236}">
                <a16:creationId xmlns:a16="http://schemas.microsoft.com/office/drawing/2014/main" id="{308A9383-9C5A-4BB5-8FC3-FC3088D9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875" y="2694050"/>
            <a:ext cx="1392900" cy="22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950" b="0" i="0" u="none" cap="none">
                <a:solidFill>
                  <a:srgbClr val="6B7086"/>
                </a:solidFill>
                <a:latin typeface="Georgia"/>
                <a:ea typeface="Georgia"/>
                <a:cs typeface="Georgia"/>
              </a:rPr>
              <a:t>Generar el nuevo estado</a:t>
            </a:r>
            <a:endParaRPr sz="950" b="0" i="0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7586540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8" name="Google Shape;568;g3f6d8aeb3c0_0_385">
            <a:extLst xmlns:a="http://schemas.openxmlformats.org/drawingml/2006/main">
              <a:ext uri="{FF2B5EF4-FFF2-40B4-BE49-F238E27FC236}">
                <a16:creationId xmlns:a16="http://schemas.microsoft.com/office/drawing/2014/main" id="{48A82A8C-2367-4EC6-80CA-A1E633D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Ejemplo </a:t>
            </a:r>
            <a:r>
              <a:rPr sz="2600" b="0" i="0" u="none" cap="none">
                <a:solidFill>
                  <a:srgbClr val="312E8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600" b="0" i="1" u="none" cap="none">
                <a:solidFill>
                  <a:srgbClr val="312E81"/>
                </a:solidFill>
                <a:latin typeface="Georgia"/>
                <a:ea typeface="Georgia"/>
                <a:cs typeface="Georgia"/>
              </a:rPr>
              <a:t>HOLA</a:t>
            </a:r>
            <a:r>
              <a:rPr sz="2600" b="0" i="0" u="none" cap="none">
                <a:solidFill>
                  <a:srgbClr val="312E81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2600" b="0" i="0" u="non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77" name="Google Shape;569;g3f6d8aeb3c0_0_38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2cf88a368d4d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0" name="Google Shape;570;g3f6d8aeb3c0_0_385">
            <a:extLst xmlns:a="http://schemas.openxmlformats.org/drawingml/2006/main">
              <a:ext uri="{FF2B5EF4-FFF2-40B4-BE49-F238E27FC236}">
                <a16:creationId xmlns:a16="http://schemas.microsoft.com/office/drawing/2014/main" id="{2EB90137-0B20-4C56-A465-9295FAC0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2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18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1" name="Google Shape;571;g3f6d8aeb3c0_0_385">
            <a:extLst xmlns:a="http://schemas.openxmlformats.org/drawingml/2006/main">
              <a:ext uri="{FF2B5EF4-FFF2-40B4-BE49-F238E27FC236}">
                <a16:creationId xmlns:a16="http://schemas.microsoft.com/office/drawing/2014/main" id="{B0175D4B-19DC-4F3D-AD00-6142B25F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80" name="Google Shape;572;g3f6d8aeb3c0_0_38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ccf03096f24d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49238" y="731536"/>
            <a:ext cx="5864374" cy="1967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81" name="Google Shape;573;g3f6d8aeb3c0_0_38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555f167d7241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05000" y="2735875"/>
            <a:ext cx="6862710" cy="825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82" name="Google Shape;574;g3f6d8aeb3c0_0_38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45f73ff6f64532">
            <a:alphaModFix/>
          </a:blip>
          <a:srcRect xmlns:a="http://schemas.openxmlformats.org/drawingml/2006/main" l="0" t="0" r="0" b="32084"/>
          <a:stretch xmlns:a="http://schemas.openxmlformats.org/drawingml/2006/main"/>
        </p:blipFill>
        <p:spPr>
          <a:xfrm xmlns:a="http://schemas.openxmlformats.org/drawingml/2006/main">
            <a:off x="1305000" y="3708250"/>
            <a:ext cx="6911601" cy="698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76476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0" name="Google Shape;580;p16">
            <a:extLst xmlns:a="http://schemas.openxmlformats.org/drawingml/2006/main">
              <a:ext uri="{FF2B5EF4-FFF2-40B4-BE49-F238E27FC236}">
                <a16:creationId xmlns:a16="http://schemas.microsoft.com/office/drawing/2014/main" id="{1B7A3820-82C3-4EFE-85A9-921E4914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Cómo reconoce una seña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1" name="Google Shape;581;p16">
            <a:extLst xmlns:a="http://schemas.openxmlformats.org/drawingml/2006/main">
              <a:ext uri="{FF2B5EF4-FFF2-40B4-BE49-F238E27FC236}">
                <a16:creationId xmlns:a16="http://schemas.microsoft.com/office/drawing/2014/main" id="{22A004C1-E867-4645-A770-91179973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Una seña ocurre en el tiempo: la red debe recordar el movimiento completo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07" name="Google Shape;582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0342beddb245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3" name="Google Shape;583;p16">
            <a:extLst xmlns:a="http://schemas.openxmlformats.org/drawingml/2006/main">
              <a:ext uri="{FF2B5EF4-FFF2-40B4-BE49-F238E27FC236}">
                <a16:creationId xmlns:a16="http://schemas.microsoft.com/office/drawing/2014/main" id="{E0A24C8A-4E3E-4C1F-8AEE-7A6D0E4E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19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4" name="Google Shape;584;p16">
            <a:extLst xmlns:a="http://schemas.openxmlformats.org/drawingml/2006/main">
              <a:ext uri="{FF2B5EF4-FFF2-40B4-BE49-F238E27FC236}">
                <a16:creationId xmlns:a16="http://schemas.microsoft.com/office/drawing/2014/main" id="{4D84EBFE-7C73-4EF5-B2C9-9BE7B49D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6" name="Google Shape;586;p16">
            <a:extLst xmlns:a="http://schemas.openxmlformats.org/drawingml/2006/main">
              <a:ext uri="{FF2B5EF4-FFF2-40B4-BE49-F238E27FC236}">
                <a16:creationId xmlns:a16="http://schemas.microsoft.com/office/drawing/2014/main" id="{2214228F-E577-4C00-8613-2A6C7A95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097280"/>
            <a:ext cx="25877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Google Shape;587;p16">
            <a:extLst xmlns:a="http://schemas.openxmlformats.org/drawingml/2006/main">
              <a:ext uri="{FF2B5EF4-FFF2-40B4-BE49-F238E27FC236}">
                <a16:creationId xmlns:a16="http://schemas.microsoft.com/office/drawing/2014/main" id="{933E4E6F-FFE8-44EC-8FE4-F8D5430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207008"/>
            <a:ext cx="2587752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Secuencia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8" name="Google Shape;588;p16">
            <a:extLst xmlns:a="http://schemas.openxmlformats.org/drawingml/2006/main">
              <a:ext uri="{FF2B5EF4-FFF2-40B4-BE49-F238E27FC236}">
                <a16:creationId xmlns:a16="http://schemas.microsoft.com/office/drawing/2014/main" id="{4D0ABB96-C9F4-43B0-8109-A9B30F4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088" y="1536192"/>
            <a:ext cx="2185416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15</a:t>
            </a: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 frames × </a:t>
            </a: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1</a:t>
            </a:r>
            <a:r>
              <a:rPr sz="1150" b="0" i="0" u="none" cap="none">
                <a:solidFill>
                  <a:srgbClr val="6B7086"/>
                </a:solidFill>
                <a:latin typeface="Georgia"/>
                <a:ea typeface="Georgia"/>
                <a:cs typeface="Georgia"/>
              </a:rPr>
              <a:t>.</a:t>
            </a:r>
            <a:r>
              <a:rPr sz="1150" b="0" i="0" u="none" cap="none">
                <a:solidFill>
                  <a:srgbClr val="6B7086"/>
                </a:solidFill>
                <a:latin typeface="Cambria"/>
                <a:ea typeface="Cambria"/>
                <a:cs typeface="Cambria"/>
              </a:rPr>
              <a:t>662</a:t>
            </a:r>
            <a:r>
              <a:rPr sz="1150" b="0" i="0" u="none" cap="none">
                <a:solidFill>
                  <a:srgbClr val="6B7086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valores por seña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9" name="Google Shape;589;p16">
            <a:extLst xmlns:a="http://schemas.openxmlformats.org/drawingml/2006/main">
              <a:ext uri="{FF2B5EF4-FFF2-40B4-BE49-F238E27FC236}">
                <a16:creationId xmlns:a16="http://schemas.microsoft.com/office/drawing/2014/main" id="{36C9B3FE-9FD1-419B-8956-43D8A0FF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0672" y="1097280"/>
            <a:ext cx="1828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0" name="Google Shape;590;p16">
            <a:extLst xmlns:a="http://schemas.openxmlformats.org/drawingml/2006/main">
              <a:ext uri="{FF2B5EF4-FFF2-40B4-BE49-F238E27FC236}">
                <a16:creationId xmlns:a16="http://schemas.microsoft.com/office/drawing/2014/main" id="{DE3EFC69-2FD4-472B-83D5-DC42E43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097280"/>
            <a:ext cx="25877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Google Shape;592;p16">
            <a:extLst xmlns:a="http://schemas.openxmlformats.org/drawingml/2006/main">
              <a:ext uri="{FF2B5EF4-FFF2-40B4-BE49-F238E27FC236}">
                <a16:creationId xmlns:a16="http://schemas.microsoft.com/office/drawing/2014/main" id="{B9D38372-F7AF-469A-AE83-7DBED992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3552" y="1207008"/>
            <a:ext cx="2587752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Red LSTM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3" name="Google Shape;593;p16">
            <a:extLst xmlns:a="http://schemas.openxmlformats.org/drawingml/2006/main">
              <a:ext uri="{FF2B5EF4-FFF2-40B4-BE49-F238E27FC236}">
                <a16:creationId xmlns:a16="http://schemas.microsoft.com/office/drawing/2014/main" id="{3CA133A4-7FC3-4BB8-8BA9-D4887023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720" y="1536192"/>
            <a:ext cx="2185416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memoria interna con compuertas de control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4" name="Google Shape;594;p16">
            <a:extLst xmlns:a="http://schemas.openxmlformats.org/drawingml/2006/main">
              <a:ext uri="{FF2B5EF4-FFF2-40B4-BE49-F238E27FC236}">
                <a16:creationId xmlns:a16="http://schemas.microsoft.com/office/drawing/2014/main" id="{ECBD424B-D696-4022-B240-A919729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1304" y="1097280"/>
            <a:ext cx="1828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6" name="Google Shape;596;p16">
            <a:extLst xmlns:a="http://schemas.openxmlformats.org/drawingml/2006/main">
              <a:ext uri="{FF2B5EF4-FFF2-40B4-BE49-F238E27FC236}">
                <a16:creationId xmlns:a16="http://schemas.microsoft.com/office/drawing/2014/main" id="{4DB6DB16-1B54-4B99-8F24-3626595A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4184" y="1097280"/>
            <a:ext cx="25877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7" name="Google Shape;597;p16">
            <a:extLst xmlns:a="http://schemas.openxmlformats.org/drawingml/2006/main">
              <a:ext uri="{FF2B5EF4-FFF2-40B4-BE49-F238E27FC236}">
                <a16:creationId xmlns:a16="http://schemas.microsoft.com/office/drawing/2014/main" id="{DDB2E90D-9F26-402E-906D-4BCB2B24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4184" y="1207008"/>
            <a:ext cx="2587752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Función de Activación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8" name="Google Shape;598;p16">
            <a:extLst xmlns:a="http://schemas.openxmlformats.org/drawingml/2006/main">
              <a:ext uri="{FF2B5EF4-FFF2-40B4-BE49-F238E27FC236}">
                <a16:creationId xmlns:a16="http://schemas.microsoft.com/office/drawing/2014/main" id="{98D60C29-05F9-4E4F-9FE1-2B3F028D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5352" y="1536192"/>
            <a:ext cx="2185416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una probabilidad por cada palabra conocida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9" name="Google Shape;599;p16">
            <a:extLst xmlns:a="http://schemas.openxmlformats.org/drawingml/2006/main">
              <a:ext uri="{FF2B5EF4-FFF2-40B4-BE49-F238E27FC236}">
                <a16:creationId xmlns:a16="http://schemas.microsoft.com/office/drawing/2014/main" id="{EB074A38-FCF0-4E11-BF14-33FF051D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5312" y="2157984"/>
            <a:ext cx="2587752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HOLA</a:t>
            </a:r>
            <a:r>
              <a:rPr sz="12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 → </a:t>
            </a:r>
            <a:r>
              <a:rPr sz="1250" b="1" i="0" u="none" cap="none">
                <a:solidFill>
                  <a:srgbClr val="4F46E5"/>
                </a:solidFill>
                <a:latin typeface="Cambria"/>
                <a:ea typeface="Cambria"/>
                <a:cs typeface="Cambria"/>
              </a:rPr>
              <a:t>91</a:t>
            </a:r>
            <a:r>
              <a:rPr sz="12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 %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1" name="Google Shape;601;p16">
            <a:extLst xmlns:a="http://schemas.openxmlformats.org/drawingml/2006/main">
              <a:ext uri="{FF2B5EF4-FFF2-40B4-BE49-F238E27FC236}">
                <a16:creationId xmlns:a16="http://schemas.microsoft.com/office/drawing/2014/main" id="{5BAB2EFA-D2B8-458C-B460-BDBF9EF8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5" y="2606050"/>
            <a:ext cx="8138100" cy="202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Google Shape;602;p16">
            <a:extLst xmlns:a="http://schemas.openxmlformats.org/drawingml/2006/main">
              <a:ext uri="{FF2B5EF4-FFF2-40B4-BE49-F238E27FC236}">
                <a16:creationId xmlns:a16="http://schemas.microsoft.com/office/drawing/2014/main" id="{4180F390-589F-4BD8-AD24-0C388459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952" y="2761488"/>
            <a:ext cx="75895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Un modelo chico y muy regularizado, a propósito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3" name="Google Shape;603;p16">
            <a:extLst xmlns:a="http://schemas.openxmlformats.org/drawingml/2006/main">
              <a:ext uri="{FF2B5EF4-FFF2-40B4-BE49-F238E27FC236}">
                <a16:creationId xmlns:a16="http://schemas.microsoft.com/office/drawing/2014/main" id="{F924C3E4-1FF4-47D7-B957-2294F78F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825" y="3090676"/>
            <a:ext cx="7498200" cy="12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Dos capas </a:t>
            </a: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LSTM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(</a:t>
            </a:r>
            <a:r>
              <a:rPr sz="120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48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20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64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unidades) y capas Dense; dropout, Batch Normalization, regularización </a:t>
            </a:r>
            <a:r>
              <a:rPr sz="120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L</a:t>
            </a:r>
            <a:r>
              <a:rPr sz="800" b="1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2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y label smoothing.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Con pocas muestras por palabra un modelo grande memoriza; uno chico se queda con los patrones generales del movimiento.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La predicción solo se acepta si la confianza supera el umbral de </a:t>
            </a:r>
            <a:r>
              <a:rPr sz="120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0,7</a:t>
            </a: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; si no, se descarta en silencio.</a:t>
            </a:r>
            <a:endParaRPr sz="1200" b="0" i="0" u="none" cap="none">
              <a:solidFill>
                <a:srgbClr val="222235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Peso grande → “prestale más atención a esta información”. Peso chico → “esta información influye menos acá”.</a:t>
            </a:r>
            <a:endParaRPr sz="1200" b="0" i="0" u="none" cap="none">
              <a:solidFill>
                <a:srgbClr val="2222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42489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03" name="Google Shape;108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00710280e64f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1" name="Shape 902">
            <a:extLst xmlns:a="http://schemas.openxmlformats.org/drawingml/2006/main">
              <a:ext uri="{FF2B5EF4-FFF2-40B4-BE49-F238E27FC236}">
                <a16:creationId xmlns:a16="http://schemas.microsoft.com/office/drawing/2014/main" id="{A6F76E4C-7B8B-4809-9989-CF3CFB9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La arquitectura del modelo</a:t>
            </a:r>
            <a:endParaRPr sz="260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3" name="Shape 904">
            <a:extLst xmlns:a="http://schemas.openxmlformats.org/drawingml/2006/main">
              <a:ext uri="{FF2B5EF4-FFF2-40B4-BE49-F238E27FC236}">
                <a16:creationId xmlns:a16="http://schemas.microsoft.com/office/drawing/2014/main" id="{6A435D87-082E-47AE-95BD-2755CB0B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Cuatro capas que aprenden, más la capa de salida — ml/model.py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" name="Shape 906">
            <a:extLst xmlns:a="http://schemas.openxmlformats.org/drawingml/2006/main">
              <a:ext uri="{FF2B5EF4-FFF2-40B4-BE49-F238E27FC236}">
                <a16:creationId xmlns:a16="http://schemas.microsoft.com/office/drawing/2014/main" id="{AE1410BB-CFC6-4FA6-9A39-68FEAA6D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" name="Shape 908">
            <a:extLst xmlns:a="http://schemas.openxmlformats.org/drawingml/2006/main">
              <a:ext uri="{FF2B5EF4-FFF2-40B4-BE49-F238E27FC236}">
                <a16:creationId xmlns:a16="http://schemas.microsoft.com/office/drawing/2014/main" id="{5712EB43-700D-4B17-8D03-83A59BB7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81381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9" name="Shape 910">
            <a:extLst xmlns:a="http://schemas.openxmlformats.org/drawingml/2006/main">
              <a:ext uri="{FF2B5EF4-FFF2-40B4-BE49-F238E27FC236}">
                <a16:creationId xmlns:a16="http://schemas.microsoft.com/office/drawing/2014/main" id="{1C4347C3-C7C1-450E-9A51-CCD3AC97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005840"/>
            <a:ext cx="9601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Entrada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1" name="Shape 912">
            <a:extLst xmlns:a="http://schemas.openxmlformats.org/drawingml/2006/main">
              <a:ext uri="{FF2B5EF4-FFF2-40B4-BE49-F238E27FC236}">
                <a16:creationId xmlns:a16="http://schemas.microsoft.com/office/drawing/2014/main" id="{6F6C930F-E3CC-46A9-9BDE-5C55644D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005840"/>
            <a:ext cx="5074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Secuencia normalizada de la seña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3" name="Shape 914">
            <a:extLst xmlns:a="http://schemas.openxmlformats.org/drawingml/2006/main">
              <a:ext uri="{FF2B5EF4-FFF2-40B4-BE49-F238E27FC236}">
                <a16:creationId xmlns:a16="http://schemas.microsoft.com/office/drawing/2014/main" id="{FC011110-9832-496F-BFB0-7C1AC0B4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05840"/>
            <a:ext cx="157276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4F46E5"/>
                </a:solidFill>
                <a:latin typeface="Courier New"/>
                <a:ea typeface="Courier New"/>
                <a:cs typeface="Courier New"/>
              </a:rPr>
              <a:t>15 × 1.662</a:t>
            </a:r>
            <a:endParaRPr sz="110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15" name="Shape 916">
            <a:extLst xmlns:a="http://schemas.openxmlformats.org/drawingml/2006/main">
              <a:ext uri="{FF2B5EF4-FFF2-40B4-BE49-F238E27FC236}">
                <a16:creationId xmlns:a16="http://schemas.microsoft.com/office/drawing/2014/main" id="{1B7A424E-F818-4453-B945-9C2AFC6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90472"/>
            <a:ext cx="81381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7" name="Shape 918">
            <a:extLst xmlns:a="http://schemas.openxmlformats.org/drawingml/2006/main">
              <a:ext uri="{FF2B5EF4-FFF2-40B4-BE49-F238E27FC236}">
                <a16:creationId xmlns:a16="http://schemas.microsoft.com/office/drawing/2014/main" id="{98A0FF73-E364-426A-897E-00CECA8C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490472"/>
            <a:ext cx="9601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Capa 1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9" name="Shape 920">
            <a:extLst xmlns:a="http://schemas.openxmlformats.org/drawingml/2006/main">
              <a:ext uri="{FF2B5EF4-FFF2-40B4-BE49-F238E27FC236}">
                <a16:creationId xmlns:a16="http://schemas.microsoft.com/office/drawing/2014/main" id="{621F8D70-F888-479B-B903-1E3AB80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490472"/>
            <a:ext cx="5074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LSTM · 48 unidades · devuelve la secuencia completa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1" name="Shape 922">
            <a:extLst xmlns:a="http://schemas.openxmlformats.org/drawingml/2006/main">
              <a:ext uri="{FF2B5EF4-FFF2-40B4-BE49-F238E27FC236}">
                <a16:creationId xmlns:a16="http://schemas.microsoft.com/office/drawing/2014/main" id="{0605A7DA-A3AC-4ED2-80C0-4611C59C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90472"/>
            <a:ext cx="157276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4F46E5"/>
                </a:solidFill>
                <a:latin typeface="Courier New"/>
                <a:ea typeface="Courier New"/>
                <a:cs typeface="Courier New"/>
              </a:rPr>
              <a:t>15 × 48</a:t>
            </a:r>
            <a:endParaRPr sz="110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23" name="Shape 924">
            <a:extLst xmlns:a="http://schemas.openxmlformats.org/drawingml/2006/main">
              <a:ext uri="{FF2B5EF4-FFF2-40B4-BE49-F238E27FC236}">
                <a16:creationId xmlns:a16="http://schemas.microsoft.com/office/drawing/2014/main" id="{0C88A873-4699-4D46-BB7D-437DAA8D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89280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BatchNormalization  ·  Dropout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5" name="Shape 926">
            <a:extLst xmlns:a="http://schemas.openxmlformats.org/drawingml/2006/main">
              <a:ext uri="{FF2B5EF4-FFF2-40B4-BE49-F238E27FC236}">
                <a16:creationId xmlns:a16="http://schemas.microsoft.com/office/drawing/2014/main" id="{BE4F9E20-7404-47F8-B78D-89248F2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12264"/>
            <a:ext cx="81381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7" name="Shape 928">
            <a:extLst xmlns:a="http://schemas.openxmlformats.org/drawingml/2006/main">
              <a:ext uri="{FF2B5EF4-FFF2-40B4-BE49-F238E27FC236}">
                <a16:creationId xmlns:a16="http://schemas.microsoft.com/office/drawing/2014/main" id="{010FBC8A-25A1-4C6E-90EB-D0939FC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112264"/>
            <a:ext cx="9601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Capa 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9" name="Shape 930">
            <a:extLst xmlns:a="http://schemas.openxmlformats.org/drawingml/2006/main">
              <a:ext uri="{FF2B5EF4-FFF2-40B4-BE49-F238E27FC236}">
                <a16:creationId xmlns:a16="http://schemas.microsoft.com/office/drawing/2014/main" id="{C59E32A6-F836-4CE4-AB03-4FF184D7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112264"/>
            <a:ext cx="5074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LSTM · 64 unidades · condensa la secuencia en un vector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1" name="Shape 932">
            <a:extLst xmlns:a="http://schemas.openxmlformats.org/drawingml/2006/main">
              <a:ext uri="{FF2B5EF4-FFF2-40B4-BE49-F238E27FC236}">
                <a16:creationId xmlns:a16="http://schemas.microsoft.com/office/drawing/2014/main" id="{85166159-461D-407D-AFC7-550E50A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2264"/>
            <a:ext cx="157276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4F46E5"/>
                </a:solidFill>
                <a:latin typeface="Courier New"/>
                <a:ea typeface="Courier New"/>
                <a:cs typeface="Courier New"/>
              </a:rPr>
              <a:t>64</a:t>
            </a:r>
            <a:endParaRPr sz="110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33" name="Shape 934">
            <a:extLst xmlns:a="http://schemas.openxmlformats.org/drawingml/2006/main">
              <a:ext uri="{FF2B5EF4-FFF2-40B4-BE49-F238E27FC236}">
                <a16:creationId xmlns:a16="http://schemas.microsoft.com/office/drawing/2014/main" id="{0B9FE682-5D8B-409B-9BD2-C4663C8C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51460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BatchNormalization  ·  Dropout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5" name="Shape 936">
            <a:extLst xmlns:a="http://schemas.openxmlformats.org/drawingml/2006/main">
              <a:ext uri="{FF2B5EF4-FFF2-40B4-BE49-F238E27FC236}">
                <a16:creationId xmlns:a16="http://schemas.microsoft.com/office/drawing/2014/main" id="{AE1FBE1F-72D3-4983-93DF-42159BC6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81381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7" name="Shape 938">
            <a:extLst xmlns:a="http://schemas.openxmlformats.org/drawingml/2006/main">
              <a:ext uri="{FF2B5EF4-FFF2-40B4-BE49-F238E27FC236}">
                <a16:creationId xmlns:a16="http://schemas.microsoft.com/office/drawing/2014/main" id="{226F5B25-698C-44DC-B09D-409A847D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734056"/>
            <a:ext cx="9601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Capa 3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9" name="Shape 940">
            <a:extLst xmlns:a="http://schemas.openxmlformats.org/drawingml/2006/main">
              <a:ext uri="{FF2B5EF4-FFF2-40B4-BE49-F238E27FC236}">
                <a16:creationId xmlns:a16="http://schemas.microsoft.com/office/drawing/2014/main" id="{1E257549-B1A1-4ACC-BE30-04955C38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34056"/>
            <a:ext cx="5074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Dense · 64 neuronas · ReLU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1" name="Shape 942">
            <a:extLst xmlns:a="http://schemas.openxmlformats.org/drawingml/2006/main">
              <a:ext uri="{FF2B5EF4-FFF2-40B4-BE49-F238E27FC236}">
                <a16:creationId xmlns:a16="http://schemas.microsoft.com/office/drawing/2014/main" id="{FDFDEBC5-8CFD-4F39-B1BA-8BBAD347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34056"/>
            <a:ext cx="157276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4F46E5"/>
                </a:solidFill>
                <a:latin typeface="Courier New"/>
                <a:ea typeface="Courier New"/>
                <a:cs typeface="Courier New"/>
              </a:rPr>
              <a:t>64</a:t>
            </a:r>
            <a:endParaRPr sz="110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43" name="Shape 944">
            <a:extLst xmlns:a="http://schemas.openxmlformats.org/drawingml/2006/main">
              <a:ext uri="{FF2B5EF4-FFF2-40B4-BE49-F238E27FC236}">
                <a16:creationId xmlns:a16="http://schemas.microsoft.com/office/drawing/2014/main" id="{991C8562-7054-4DB7-8264-374162C1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136392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BatchNormalization  ·  Dropout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5" name="Shape 946">
            <a:extLst xmlns:a="http://schemas.openxmlformats.org/drawingml/2006/main">
              <a:ext uri="{FF2B5EF4-FFF2-40B4-BE49-F238E27FC236}">
                <a16:creationId xmlns:a16="http://schemas.microsoft.com/office/drawing/2014/main" id="{147142BD-EBCF-4DD7-8135-C61D626B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55848"/>
            <a:ext cx="81381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7" name="Shape 948">
            <a:extLst xmlns:a="http://schemas.openxmlformats.org/drawingml/2006/main">
              <a:ext uri="{FF2B5EF4-FFF2-40B4-BE49-F238E27FC236}">
                <a16:creationId xmlns:a16="http://schemas.microsoft.com/office/drawing/2014/main" id="{A0B78925-B6AE-44C4-9C66-59F69F19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55848"/>
            <a:ext cx="9601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Capa 4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9" name="Shape 950">
            <a:extLst xmlns:a="http://schemas.openxmlformats.org/drawingml/2006/main">
              <a:ext uri="{FF2B5EF4-FFF2-40B4-BE49-F238E27FC236}">
                <a16:creationId xmlns:a16="http://schemas.microsoft.com/office/drawing/2014/main" id="{F7E58C41-4AE3-4342-AE9B-7DA27F50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355848"/>
            <a:ext cx="5074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Dense · 32 neuronas · ReLU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1" name="Shape 952">
            <a:extLst xmlns:a="http://schemas.openxmlformats.org/drawingml/2006/main">
              <a:ext uri="{FF2B5EF4-FFF2-40B4-BE49-F238E27FC236}">
                <a16:creationId xmlns:a16="http://schemas.microsoft.com/office/drawing/2014/main" id="{4557CF1E-0A34-46C3-8EDD-74C060F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5848"/>
            <a:ext cx="157276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4F46E5"/>
                </a:solidFill>
                <a:latin typeface="Courier New"/>
                <a:ea typeface="Courier New"/>
                <a:cs typeface="Courier New"/>
              </a:rPr>
              <a:t>32</a:t>
            </a:r>
            <a:endParaRPr sz="110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53" name="Shape 954">
            <a:extLst xmlns:a="http://schemas.openxmlformats.org/drawingml/2006/main">
              <a:ext uri="{FF2B5EF4-FFF2-40B4-BE49-F238E27FC236}">
                <a16:creationId xmlns:a16="http://schemas.microsoft.com/office/drawing/2014/main" id="{1CB03126-FE43-463F-AA62-F9364969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9525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5" name="Shape 956">
            <a:extLst xmlns:a="http://schemas.openxmlformats.org/drawingml/2006/main">
              <a:ext uri="{FF2B5EF4-FFF2-40B4-BE49-F238E27FC236}">
                <a16:creationId xmlns:a16="http://schemas.microsoft.com/office/drawing/2014/main" id="{53E7CC06-E7F4-4E2A-9D35-C759B4A9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9601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Salida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7" name="Shape 958">
            <a:extLst xmlns:a="http://schemas.openxmlformats.org/drawingml/2006/main">
              <a:ext uri="{FF2B5EF4-FFF2-40B4-BE49-F238E27FC236}">
                <a16:creationId xmlns:a16="http://schemas.microsoft.com/office/drawing/2014/main" id="{F6EB5C40-2EFA-4172-BDFD-1D45E54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840480"/>
            <a:ext cx="5074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Dense · una neurona por palabra · softmax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9" name="Shape 960">
            <a:extLst xmlns:a="http://schemas.openxmlformats.org/drawingml/2006/main">
              <a:ext uri="{FF2B5EF4-FFF2-40B4-BE49-F238E27FC236}">
                <a16:creationId xmlns:a16="http://schemas.microsoft.com/office/drawing/2014/main" id="{2CE8C681-BB81-4F6C-AC62-1B104EC2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0480"/>
            <a:ext cx="157276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BFC2E8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BFC2E8"/>
                </a:solidFill>
                <a:latin typeface="Courier New"/>
                <a:ea typeface="Courier New"/>
                <a:cs typeface="Courier New"/>
              </a:rPr>
              <a:t>n palabras</a:t>
            </a:r>
            <a:endParaRPr sz="110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61" name="Shape 962">
            <a:extLst xmlns:a="http://schemas.openxmlformats.org/drawingml/2006/main">
              <a:ext uri="{FF2B5EF4-FFF2-40B4-BE49-F238E27FC236}">
                <a16:creationId xmlns:a16="http://schemas.microsoft.com/office/drawing/2014/main" id="{8CFF8379-8EBC-4C34-9C9D-F65FDCC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Todas las capas llevan regularización L2 de 0,003. Optimizador Adam con tasa de aprendizaje 0,0005 y pérdida con label smoothing de 0,05.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01" name="Shape 8001">
            <a:extLst xmlns:a="http://schemas.openxmlformats.org/drawingml/2006/main">
              <a:ext uri="{FF2B5EF4-FFF2-40B4-BE49-F238E27FC236}">
                <a16:creationId xmlns:a16="http://schemas.microsoft.com/office/drawing/2014/main" id="{B28DF8DA-9355-4D3C-83F9-18C435CD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20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94151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3" name="Google Shape;783;p21">
            <a:extLst xmlns:a="http://schemas.openxmlformats.org/drawingml/2006/main">
              <a:ext uri="{FF2B5EF4-FFF2-40B4-BE49-F238E27FC236}">
                <a16:creationId xmlns:a16="http://schemas.microsoft.com/office/drawing/2014/main" id="{D65E3EA7-5EB7-4C02-B0AD-EBA0D8A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Entrenamiento del modelo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4" name="Google Shape;784;p21">
            <a:extLst xmlns:a="http://schemas.openxmlformats.org/drawingml/2006/main">
              <a:ext uri="{FF2B5EF4-FFF2-40B4-BE49-F238E27FC236}">
                <a16:creationId xmlns:a16="http://schemas.microsoft.com/office/drawing/2014/main" id="{AF770A8C-4B44-4246-B8E9-C5133749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Cuatro mecanismos para aprender bien con pocos datos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15" name="Google Shape;78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b3858870b84b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6" name="Google Shape;786;p21">
            <a:extLst xmlns:a="http://schemas.openxmlformats.org/drawingml/2006/main">
              <a:ext uri="{FF2B5EF4-FFF2-40B4-BE49-F238E27FC236}">
                <a16:creationId xmlns:a16="http://schemas.microsoft.com/office/drawing/2014/main" id="{529BCB98-CD9C-407F-B0E8-79F40746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7" name="Google Shape;787;p21">
            <a:extLst xmlns:a="http://schemas.openxmlformats.org/drawingml/2006/main">
              <a:ext uri="{FF2B5EF4-FFF2-40B4-BE49-F238E27FC236}">
                <a16:creationId xmlns:a16="http://schemas.microsoft.com/office/drawing/2014/main" id="{947C0A1D-107B-4AAC-B1D6-B582269B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9" name="Google Shape;789;p21">
            <a:extLst xmlns:a="http://schemas.openxmlformats.org/drawingml/2006/main">
              <a:ext uri="{FF2B5EF4-FFF2-40B4-BE49-F238E27FC236}">
                <a16:creationId xmlns:a16="http://schemas.microsoft.com/office/drawing/2014/main" id="{1536A390-7424-4497-BFD8-3D7BC1F7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115568"/>
            <a:ext cx="397764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9" name="Google Shape;79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2eb88e1af84a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2376" y="133502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1" name="Google Shape;791;p21">
            <a:extLst xmlns:a="http://schemas.openxmlformats.org/drawingml/2006/main">
              <a:ext uri="{FF2B5EF4-FFF2-40B4-BE49-F238E27FC236}">
                <a16:creationId xmlns:a16="http://schemas.microsoft.com/office/drawing/2014/main" id="{66A38E68-1C14-4D50-B06D-4A93A8B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298448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Aumento de datos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2" name="Google Shape;792;p21">
            <a:extLst xmlns:a="http://schemas.openxmlformats.org/drawingml/2006/main">
              <a:ext uri="{FF2B5EF4-FFF2-40B4-BE49-F238E27FC236}">
                <a16:creationId xmlns:a16="http://schemas.microsoft.com/office/drawing/2014/main" id="{25D26799-C311-488C-AA8C-097EB984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76" y="1719072"/>
            <a:ext cx="353872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Por cada muestra real, dos variantes artificiales: ruido leve en los puntos clave y desplazamiento temporal de ±2 frames. Solo en entrenamiento: la validación queda intacta.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4" name="Google Shape;794;p21">
            <a:extLst xmlns:a="http://schemas.openxmlformats.org/drawingml/2006/main">
              <a:ext uri="{FF2B5EF4-FFF2-40B4-BE49-F238E27FC236}">
                <a16:creationId xmlns:a16="http://schemas.microsoft.com/office/drawing/2014/main" id="{7098BBE2-9B7E-435A-94D9-F25FC8BA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40" y="1115568"/>
            <a:ext cx="397764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3" name="Google Shape;79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df2661c42549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82896" y="133502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Google Shape;796;p21">
            <a:extLst xmlns:a="http://schemas.openxmlformats.org/drawingml/2006/main">
              <a:ext uri="{FF2B5EF4-FFF2-40B4-BE49-F238E27FC236}">
                <a16:creationId xmlns:a16="http://schemas.microsoft.com/office/drawing/2014/main" id="{67512079-EC71-47C8-941B-D0A2CDDA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0" y="1298448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Balanceo de clases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7" name="Google Shape;797;p21">
            <a:extLst xmlns:a="http://schemas.openxmlformats.org/drawingml/2006/main">
              <a:ext uri="{FF2B5EF4-FFF2-40B4-BE49-F238E27FC236}">
                <a16:creationId xmlns:a16="http://schemas.microsoft.com/office/drawing/2014/main" id="{F99C2C69-780C-4F54-8BE5-09832AC2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2896" y="1719072"/>
            <a:ext cx="353872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Peso inversamente proporcional a la cantidad de muestras: los errores en palabras con pocos datos "duelen más", y el modelo les presta la misma atención.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9" name="Google Shape;799;p21">
            <a:extLst xmlns:a="http://schemas.openxmlformats.org/drawingml/2006/main">
              <a:ext uri="{FF2B5EF4-FFF2-40B4-BE49-F238E27FC236}">
                <a16:creationId xmlns:a16="http://schemas.microsoft.com/office/drawing/2014/main" id="{E06D1C84-B903-4090-B996-E719E3E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779776"/>
            <a:ext cx="397764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7" name="Google Shape;80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ad429dfb5041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2376" y="2999232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1" name="Google Shape;801;p21">
            <a:extLst xmlns:a="http://schemas.openxmlformats.org/drawingml/2006/main">
              <a:ext uri="{FF2B5EF4-FFF2-40B4-BE49-F238E27FC236}">
                <a16:creationId xmlns:a16="http://schemas.microsoft.com/office/drawing/2014/main" id="{EB99E05C-299B-41C5-BA18-910A8FA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962656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Control automático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2" name="Google Shape;802;p21">
            <a:extLst xmlns:a="http://schemas.openxmlformats.org/drawingml/2006/main">
              <a:ext uri="{FF2B5EF4-FFF2-40B4-BE49-F238E27FC236}">
                <a16:creationId xmlns:a16="http://schemas.microsoft.com/office/drawing/2014/main" id="{5A72D1D6-19C8-4614-9EA4-40FFDEAD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76" y="3383280"/>
            <a:ext cx="353872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EarlyStopping (corta si no mejora en 40 épocas), ReduceLROnPlateau (reduce el paso de aprendizaje) y ModelCheckpoint (guarda solo la mejor versión).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4" name="Google Shape;804;p21">
            <a:extLst xmlns:a="http://schemas.openxmlformats.org/drawingml/2006/main">
              <a:ext uri="{FF2B5EF4-FFF2-40B4-BE49-F238E27FC236}">
                <a16:creationId xmlns:a16="http://schemas.microsoft.com/office/drawing/2014/main" id="{D2F4AAF2-D6DF-4890-9ACC-280D2635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01" y="2779737"/>
            <a:ext cx="3977700" cy="14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31" name="Google Shape;80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967c4a31fd4f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82858" y="299919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6" name="Google Shape;806;p21">
            <a:extLst xmlns:a="http://schemas.openxmlformats.org/drawingml/2006/main">
              <a:ext uri="{FF2B5EF4-FFF2-40B4-BE49-F238E27FC236}">
                <a16:creationId xmlns:a16="http://schemas.microsoft.com/office/drawing/2014/main" id="{FA0D14F7-DA9B-4C95-8A74-4AC882C9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2857" y="3383242"/>
            <a:ext cx="3538800" cy="7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Semillas aleatorias fijas en Python, NumPy y TensorFlow: entrenar dos veces con los mismos datos da el mismo resultado. Los números reportados son repetibles.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7" name="Google Shape;807;p21">
            <a:extLst xmlns:a="http://schemas.openxmlformats.org/drawingml/2006/main">
              <a:ext uri="{FF2B5EF4-FFF2-40B4-BE49-F238E27FC236}">
                <a16:creationId xmlns:a16="http://schemas.microsoft.com/office/drawing/2014/main" id="{BACCE124-5928-45CF-A514-3D8C676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4657" y="3017518"/>
            <a:ext cx="31089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Reproducibilidad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019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7" name="Google Shape;108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27103e5ddb42c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59" name="Shape 960">
            <a:extLst xmlns:a="http://schemas.openxmlformats.org/drawingml/2006/main">
              <a:ext uri="{FF2B5EF4-FFF2-40B4-BE49-F238E27FC236}">
                <a16:creationId xmlns:a16="http://schemas.microsoft.com/office/drawing/2014/main" id="{5E19B5F2-501F-48F8-980A-AFEC73ED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Pipeline de datos para predecir</a:t>
            </a:r>
            <a:endParaRPr sz="260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61" name="Shape 962">
            <a:extLst xmlns:a="http://schemas.openxmlformats.org/drawingml/2006/main">
              <a:ext uri="{FF2B5EF4-FFF2-40B4-BE49-F238E27FC236}">
                <a16:creationId xmlns:a16="http://schemas.microsoft.com/office/drawing/2014/main" id="{D620832B-CEAA-462B-8568-E7D2EAAF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El mismo camino, ahora en vivo y sin guardar nada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3" name="Shape 964">
            <a:extLst xmlns:a="http://schemas.openxmlformats.org/drawingml/2006/main">
              <a:ext uri="{FF2B5EF4-FFF2-40B4-BE49-F238E27FC236}">
                <a16:creationId xmlns:a16="http://schemas.microsoft.com/office/drawing/2014/main" id="{06C44513-C762-4B80-A241-B9463CF0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5" name="Shape 966">
            <a:extLst xmlns:a="http://schemas.openxmlformats.org/drawingml/2006/main">
              <a:ext uri="{FF2B5EF4-FFF2-40B4-BE49-F238E27FC236}">
                <a16:creationId xmlns:a16="http://schemas.microsoft.com/office/drawing/2014/main" id="{59F3B470-C88D-494C-B67B-C9F4C59B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7" name="Shape 968">
            <a:extLst xmlns:a="http://schemas.openxmlformats.org/drawingml/2006/main">
              <a:ext uri="{FF2B5EF4-FFF2-40B4-BE49-F238E27FC236}">
                <a16:creationId xmlns:a16="http://schemas.microsoft.com/office/drawing/2014/main" id="{2A8FE707-455A-45E5-BFFD-6DEB69E9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Cámara en vivo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9" name="Shape 970">
            <a:extLst xmlns:a="http://schemas.openxmlformats.org/drawingml/2006/main">
              <a:ext uri="{FF2B5EF4-FFF2-40B4-BE49-F238E27FC236}">
                <a16:creationId xmlns:a16="http://schemas.microsoft.com/office/drawing/2014/main" id="{253E8C6F-F29A-436A-B391-E058E8A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flujo continuo, sin cortes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1" name="Shape 972">
            <a:extLst xmlns:a="http://schemas.openxmlformats.org/drawingml/2006/main">
              <a:ext uri="{FF2B5EF4-FFF2-40B4-BE49-F238E27FC236}">
                <a16:creationId xmlns:a16="http://schemas.microsoft.com/office/drawing/2014/main" id="{5684EF63-2FEE-4DD8-B940-9C4B1750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878" y="1060704"/>
            <a:ext cx="164592" cy="122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3" name="Shape 974">
            <a:extLst xmlns:a="http://schemas.openxmlformats.org/drawingml/2006/main">
              <a:ext uri="{FF2B5EF4-FFF2-40B4-BE49-F238E27FC236}">
                <a16:creationId xmlns:a16="http://schemas.microsoft.com/office/drawing/2014/main" id="{4FE24593-7AEE-4FB7-8BBE-A314D4C4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470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5" name="Shape 976">
            <a:extLst xmlns:a="http://schemas.openxmlformats.org/drawingml/2006/main">
              <a:ext uri="{FF2B5EF4-FFF2-40B4-BE49-F238E27FC236}">
                <a16:creationId xmlns:a16="http://schemas.microsoft.com/office/drawing/2014/main" id="{F0B9F553-80D3-4269-AE49-8DB0005D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622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Detección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7" name="Shape 978">
            <a:extLst xmlns:a="http://schemas.openxmlformats.org/drawingml/2006/main">
              <a:ext uri="{FF2B5EF4-FFF2-40B4-BE49-F238E27FC236}">
                <a16:creationId xmlns:a16="http://schemas.microsoft.com/office/drawing/2014/main" id="{5B844581-21D3-4B12-91A1-394B2324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198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cuándo empieza y termina la seña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9" name="Shape 980">
            <a:extLst xmlns:a="http://schemas.openxmlformats.org/drawingml/2006/main">
              <a:ext uri="{FF2B5EF4-FFF2-40B4-BE49-F238E27FC236}">
                <a16:creationId xmlns:a16="http://schemas.microsoft.com/office/drawing/2014/main" id="{B6085048-525B-482F-85A5-E9FFF10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429" y="1060704"/>
            <a:ext cx="164592" cy="122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1" name="Shape 982">
            <a:extLst xmlns:a="http://schemas.openxmlformats.org/drawingml/2006/main">
              <a:ext uri="{FF2B5EF4-FFF2-40B4-BE49-F238E27FC236}">
                <a16:creationId xmlns:a16="http://schemas.microsoft.com/office/drawing/2014/main" id="{C04EE48F-0395-45DE-BC16-2D214447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021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3" name="Shape 984">
            <a:extLst xmlns:a="http://schemas.openxmlformats.org/drawingml/2006/main">
              <a:ext uri="{FF2B5EF4-FFF2-40B4-BE49-F238E27FC236}">
                <a16:creationId xmlns:a16="http://schemas.microsoft.com/office/drawing/2014/main" id="{A6EBD173-B961-449E-98FF-A50709FD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173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Keypoints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5" name="Shape 986">
            <a:extLst xmlns:a="http://schemas.openxmlformats.org/drawingml/2006/main">
              <a:ext uri="{FF2B5EF4-FFF2-40B4-BE49-F238E27FC236}">
                <a16:creationId xmlns:a16="http://schemas.microsoft.com/office/drawing/2014/main" id="{71785AEA-99FD-4A3D-A1E9-DAD0067A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749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1.662 valores por cada frame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7" name="Shape 988">
            <a:extLst xmlns:a="http://schemas.openxmlformats.org/drawingml/2006/main">
              <a:ext uri="{FF2B5EF4-FFF2-40B4-BE49-F238E27FC236}">
                <a16:creationId xmlns:a16="http://schemas.microsoft.com/office/drawing/2014/main" id="{5A1CC12C-3B7E-4B54-9915-AFF3609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979" y="1060704"/>
            <a:ext cx="164592" cy="122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9" name="Shape 990">
            <a:extLst xmlns:a="http://schemas.openxmlformats.org/drawingml/2006/main">
              <a:ext uri="{FF2B5EF4-FFF2-40B4-BE49-F238E27FC236}">
                <a16:creationId xmlns:a16="http://schemas.microsoft.com/office/drawing/2014/main" id="{EDBDB552-69BD-4A03-BF96-B6EDBF03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571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1" name="Shape 992">
            <a:extLst xmlns:a="http://schemas.openxmlformats.org/drawingml/2006/main">
              <a:ext uri="{FF2B5EF4-FFF2-40B4-BE49-F238E27FC236}">
                <a16:creationId xmlns:a16="http://schemas.microsoft.com/office/drawing/2014/main" id="{9B19C4BD-0369-4BED-B9B4-1CA767D9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23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Normalización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3" name="Shape 994">
            <a:extLst xmlns:a="http://schemas.openxmlformats.org/drawingml/2006/main">
              <a:ext uri="{FF2B5EF4-FFF2-40B4-BE49-F238E27FC236}">
                <a16:creationId xmlns:a16="http://schemas.microsoft.com/office/drawing/2014/main" id="{3E5C5C43-650A-40F1-A99A-F4D58B1D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299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 misma función que al entrenar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5" name="Shape 996">
            <a:extLst xmlns:a="http://schemas.openxmlformats.org/drawingml/2006/main">
              <a:ext uri="{FF2B5EF4-FFF2-40B4-BE49-F238E27FC236}">
                <a16:creationId xmlns:a16="http://schemas.microsoft.com/office/drawing/2014/main" id="{E04DBB43-F26D-4E5B-822E-E933AD64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530" y="1060704"/>
            <a:ext cx="164592" cy="1225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7" name="Shape 998">
            <a:extLst xmlns:a="http://schemas.openxmlformats.org/drawingml/2006/main">
              <a:ext uri="{FF2B5EF4-FFF2-40B4-BE49-F238E27FC236}">
                <a16:creationId xmlns:a16="http://schemas.microsoft.com/office/drawing/2014/main" id="{A614B9DE-2BF3-4E31-A98D-3E364E89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122" y="1060704"/>
            <a:ext cx="1495958" cy="1225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9525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9" name="Shape 1000">
            <a:extLst xmlns:a="http://schemas.openxmlformats.org/drawingml/2006/main">
              <a:ext uri="{FF2B5EF4-FFF2-40B4-BE49-F238E27FC236}">
                <a16:creationId xmlns:a16="http://schemas.microsoft.com/office/drawing/2014/main" id="{CDADD8F5-D7BD-4478-A0CB-7DF17234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274" y="1261872"/>
            <a:ext cx="134965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Modelo LSTM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1" name="Shape 1002">
            <a:extLst xmlns:a="http://schemas.openxmlformats.org/drawingml/2006/main">
              <a:ext uri="{FF2B5EF4-FFF2-40B4-BE49-F238E27FC236}">
                <a16:creationId xmlns:a16="http://schemas.microsoft.com/office/drawing/2014/main" id="{FA447E04-FE1E-49CD-B4EE-EC26AF7B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850" y="1700784"/>
            <a:ext cx="127650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BFC2E8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BFC2E8"/>
                </a:solidFill>
                <a:latin typeface="Calibri"/>
                <a:ea typeface="Calibri"/>
                <a:cs typeface="Calibri"/>
              </a:rPr>
              <a:t>probabilidad por palabra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3" name="Shape 1004">
            <a:extLst xmlns:a="http://schemas.openxmlformats.org/drawingml/2006/main">
              <a:ext uri="{FF2B5EF4-FFF2-40B4-BE49-F238E27FC236}">
                <a16:creationId xmlns:a16="http://schemas.microsoft.com/office/drawing/2014/main" id="{6D59A654-0A5A-4724-B34E-D4A170CF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50592"/>
            <a:ext cx="3977640" cy="175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5" name="Shape 1006">
            <a:extLst xmlns:a="http://schemas.openxmlformats.org/drawingml/2006/main">
              <a:ext uri="{FF2B5EF4-FFF2-40B4-BE49-F238E27FC236}">
                <a16:creationId xmlns:a16="http://schemas.microsoft.com/office/drawing/2014/main" id="{52A94E18-0755-46E5-97F4-DCECD5D5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15184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Las tres etapas del medio son el mismo código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7" name="Shape 1008">
            <a:extLst xmlns:a="http://schemas.openxmlformats.org/drawingml/2006/main">
              <a:ext uri="{FF2B5EF4-FFF2-40B4-BE49-F238E27FC236}">
                <a16:creationId xmlns:a16="http://schemas.microsoft.com/office/drawing/2014/main" id="{A4F9D6AE-642D-46B8-AAD4-67259E0A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26080"/>
            <a:ext cx="3520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No es una versión equivalente: es literalmente el mismo extractor de keypoints y la misma función normalize_sequence(). Si no lo fueran, el modelo estaría prediciendo sobre datos con una distribución distinta de la que aprendió, y la accuracy real caería sin que ninguna métrica lo avisara.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9" name="Shape 1010">
            <a:extLst xmlns:a="http://schemas.openxmlformats.org/drawingml/2006/main">
              <a:ext uri="{FF2B5EF4-FFF2-40B4-BE49-F238E27FC236}">
                <a16:creationId xmlns:a16="http://schemas.microsoft.com/office/drawing/2014/main" id="{8B9DBFD8-AAA6-4B65-A353-2738EFBF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50592"/>
            <a:ext cx="3977640" cy="1755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1" name="Shape 1012">
            <a:extLst xmlns:a="http://schemas.openxmlformats.org/drawingml/2006/main">
              <a:ext uri="{FF2B5EF4-FFF2-40B4-BE49-F238E27FC236}">
                <a16:creationId xmlns:a16="http://schemas.microsoft.com/office/drawing/2014/main" id="{93CE8743-A719-4A34-ABB1-45CA528E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615184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Qué cambia respecto del entrenamiento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3" name="Shape 1014">
            <a:extLst xmlns:a="http://schemas.openxmlformats.org/drawingml/2006/main">
              <a:ext uri="{FF2B5EF4-FFF2-40B4-BE49-F238E27FC236}">
                <a16:creationId xmlns:a16="http://schemas.microsoft.com/office/drawing/2014/main" id="{E3CA9E8D-CB19-4962-AC23-7B4105AF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26080"/>
            <a:ext cx="3520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Nada se guarda: la secuencia se descarta después de predecir.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38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La ventana corre sobre el flujo en vivo, no sobre un archivo cerrado.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38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Al final hay una decisión: si la confianza no supera 0,7, no se emite ninguna palabra.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5" name="Shape 1016">
            <a:extLst xmlns:a="http://schemas.openxmlformats.org/drawingml/2006/main">
              <a:ext uri="{FF2B5EF4-FFF2-40B4-BE49-F238E27FC236}">
                <a16:creationId xmlns:a16="http://schemas.microsoft.com/office/drawing/2014/main" id="{D04A9FEE-6D8D-4ADF-A219-44356F3E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97680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Esta simetría es posible gracias a la normalización única que acabamos de ver.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34">
            <a:extLst xmlns:a="http://schemas.openxmlformats.org/drawingml/2006/main">
              <a:ext uri="{FF2B5EF4-FFF2-40B4-BE49-F238E27FC236}">
                <a16:creationId xmlns:a16="http://schemas.microsoft.com/office/drawing/2014/main" id="{D8A5106D-8F15-4A03-A1D0-BF4463D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10090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3" name="Google Shape;813;p22">
            <a:extLst xmlns:a="http://schemas.openxmlformats.org/drawingml/2006/main">
              <a:ext uri="{FF2B5EF4-FFF2-40B4-BE49-F238E27FC236}">
                <a16:creationId xmlns:a16="http://schemas.microsoft.com/office/drawing/2014/main" id="{787679ED-A0DE-4BFA-A2B5-18B81036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La decisión técnica más importante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4" name="Google Shape;814;p22">
            <a:extLst xmlns:a="http://schemas.openxmlformats.org/drawingml/2006/main">
              <a:ext uri="{FF2B5EF4-FFF2-40B4-BE49-F238E27FC236}">
                <a16:creationId xmlns:a16="http://schemas.microsoft.com/office/drawing/2014/main" id="{0691AF3E-BC5E-44DC-9382-062D0B24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 único método de normalización para todo el proyecto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34" name="Google Shape;815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0e9bd7886140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6" name="Google Shape;816;p22">
            <a:extLst xmlns:a="http://schemas.openxmlformats.org/drawingml/2006/main">
              <a:ext uri="{FF2B5EF4-FFF2-40B4-BE49-F238E27FC236}">
                <a16:creationId xmlns:a16="http://schemas.microsoft.com/office/drawing/2014/main" id="{D6BE8354-9C01-4022-923F-FE734D4F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7" name="Google Shape;817;p22">
            <a:extLst xmlns:a="http://schemas.openxmlformats.org/drawingml/2006/main">
              <a:ext uri="{FF2B5EF4-FFF2-40B4-BE49-F238E27FC236}">
                <a16:creationId xmlns:a16="http://schemas.microsoft.com/office/drawing/2014/main" id="{D4E4CE6A-9F57-492C-842C-62445312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9" name="Google Shape;819;p22">
            <a:extLst xmlns:a="http://schemas.openxmlformats.org/drawingml/2006/main">
              <a:ext uri="{FF2B5EF4-FFF2-40B4-BE49-F238E27FC236}">
                <a16:creationId xmlns:a16="http://schemas.microsoft.com/office/drawing/2014/main" id="{6EE3FF1D-B718-4626-AE17-E05ED3C0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097280"/>
            <a:ext cx="397764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0" name="Google Shape;820;p22">
            <a:extLst xmlns:a="http://schemas.openxmlformats.org/drawingml/2006/main">
              <a:ext uri="{FF2B5EF4-FFF2-40B4-BE49-F238E27FC236}">
                <a16:creationId xmlns:a16="http://schemas.microsoft.com/office/drawing/2014/main" id="{03EA03A3-077C-4398-8E1E-C6C77464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664" y="1261872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Antes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1" name="Google Shape;821;p22">
            <a:extLst xmlns:a="http://schemas.openxmlformats.org/drawingml/2006/main">
              <a:ext uri="{FF2B5EF4-FFF2-40B4-BE49-F238E27FC236}">
                <a16:creationId xmlns:a16="http://schemas.microsoft.com/office/drawing/2014/main" id="{EA91A83F-E88E-4C03-99B8-185BC121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664" y="1554480"/>
            <a:ext cx="35204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Tres implementaciones distintas de normalización —una para entrenar, otra para predecir, otra para evaluar— con pequeñas diferencias entre sí.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2" name="Google Shape;822;p22">
            <a:extLst xmlns:a="http://schemas.openxmlformats.org/drawingml/2006/main">
              <a:ext uri="{FF2B5EF4-FFF2-40B4-BE49-F238E27FC236}">
                <a16:creationId xmlns:a16="http://schemas.microsoft.com/office/drawing/2014/main" id="{DAFC90A2-D0E8-4639-87DF-EE0F9FA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664" y="2267712"/>
            <a:ext cx="3520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El modelo aprendía con una distribución distinta a la que usaba al predecir: la accuracy real se degradaba en silencio.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4" name="Google Shape;824;p22">
            <a:extLst xmlns:a="http://schemas.openxmlformats.org/drawingml/2006/main">
              <a:ext uri="{FF2B5EF4-FFF2-40B4-BE49-F238E27FC236}">
                <a16:creationId xmlns:a16="http://schemas.microsoft.com/office/drawing/2014/main" id="{C120645D-3DED-408B-BAD2-5CC5EE4E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40" y="1097280"/>
            <a:ext cx="397764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5" name="Google Shape;825;p22">
            <a:extLst xmlns:a="http://schemas.openxmlformats.org/drawingml/2006/main">
              <a:ext uri="{FF2B5EF4-FFF2-40B4-BE49-F238E27FC236}">
                <a16:creationId xmlns:a16="http://schemas.microsoft.com/office/drawing/2014/main" id="{EC219E0D-1ACA-4581-A823-F5C0C3A5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1184" y="1261872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Ahora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6" name="Google Shape;826;p22">
            <a:extLst xmlns:a="http://schemas.openxmlformats.org/drawingml/2006/main">
              <a:ext uri="{FF2B5EF4-FFF2-40B4-BE49-F238E27FC236}">
                <a16:creationId xmlns:a16="http://schemas.microsoft.com/office/drawing/2014/main" id="{38125C96-FC9D-44D6-B262-DEB2BF79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6048" y="1572768"/>
            <a:ext cx="3520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Una sola función: normalize_sequence()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Usada sin excepción en entrenamiento, predicción y evaluación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Char char="•"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Respaldada por pruebas automatizadas (pytest)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8" name="Google Shape;828;p22">
            <a:extLst xmlns:a="http://schemas.openxmlformats.org/drawingml/2006/main">
              <a:ext uri="{FF2B5EF4-FFF2-40B4-BE49-F238E27FC236}">
                <a16:creationId xmlns:a16="http://schemas.microsoft.com/office/drawing/2014/main" id="{7080D815-1102-4409-9C40-C709E5D7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926080"/>
            <a:ext cx="81381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9" name="Google Shape;829;p22">
            <a:extLst xmlns:a="http://schemas.openxmlformats.org/drawingml/2006/main">
              <a:ext uri="{FF2B5EF4-FFF2-40B4-BE49-F238E27FC236}">
                <a16:creationId xmlns:a16="http://schemas.microsoft.com/office/drawing/2014/main" id="{3070475C-6708-45BD-BB66-D3A70F6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952" y="3090672"/>
            <a:ext cx="75895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Otras decisiones del mismo tipo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0" name="Google Shape;830;p22">
            <a:extLst xmlns:a="http://schemas.openxmlformats.org/drawingml/2006/main">
              <a:ext uri="{FF2B5EF4-FFF2-40B4-BE49-F238E27FC236}">
                <a16:creationId xmlns:a16="http://schemas.microsoft.com/office/drawing/2014/main" id="{84206070-3C99-4D08-BFA8-939D5298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816" y="3401568"/>
            <a:ext cx="7498080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Una sola implementación de texto a voz en todo el sistema (antes había dos, escritas por separado).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Corrección del reparto de datos: de 5 % a 20 % de validación en entrenamiento, y 30 % reservado para la evaluación (el código original invertía los grupos).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9920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1" name="Google Shape;871;p24">
            <a:extLst xmlns:a="http://schemas.openxmlformats.org/drawingml/2006/main">
              <a:ext uri="{FF2B5EF4-FFF2-40B4-BE49-F238E27FC236}">
                <a16:creationId xmlns:a16="http://schemas.microsoft.com/office/drawing/2014/main" id="{B4097030-854D-4FE7-8A52-043E5AE6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De señas sueltas a frases en español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2" name="Google Shape;872;p24">
            <a:extLst xmlns:a="http://schemas.openxmlformats.org/drawingml/2006/main">
              <a:ext uri="{FF2B5EF4-FFF2-40B4-BE49-F238E27FC236}">
                <a16:creationId xmlns:a16="http://schemas.microsoft.com/office/drawing/2014/main" id="{FFA4F474-5356-4E3F-A675-6A7FD705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Las reglas gramaticales de la LSPy, aplicadas por un modelo de lenguaje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96" name="Google Shape;873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6cbfac22d74d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4" name="Google Shape;874;p24">
            <a:extLst xmlns:a="http://schemas.openxmlformats.org/drawingml/2006/main">
              <a:ext uri="{FF2B5EF4-FFF2-40B4-BE49-F238E27FC236}">
                <a16:creationId xmlns:a16="http://schemas.microsoft.com/office/drawing/2014/main" id="{6F187B5F-1B66-4483-BBFB-869336C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5" name="Google Shape;875;p24">
            <a:extLst xmlns:a="http://schemas.openxmlformats.org/drawingml/2006/main">
              <a:ext uri="{FF2B5EF4-FFF2-40B4-BE49-F238E27FC236}">
                <a16:creationId xmlns:a16="http://schemas.microsoft.com/office/drawing/2014/main" id="{809BC465-8802-4608-AE8E-3A983FFE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6" name="Google Shape;876;p24">
            <a:extLst xmlns:a="http://schemas.openxmlformats.org/drawingml/2006/main">
              <a:ext uri="{FF2B5EF4-FFF2-40B4-BE49-F238E27FC236}">
                <a16:creationId xmlns:a16="http://schemas.microsoft.com/office/drawing/2014/main" id="{66C07C34-EB0A-4174-A274-C3EDC77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78992"/>
            <a:ext cx="81381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7" name="Google Shape;877;p24">
            <a:extLst xmlns:a="http://schemas.openxmlformats.org/drawingml/2006/main">
              <a:ext uri="{FF2B5EF4-FFF2-40B4-BE49-F238E27FC236}">
                <a16:creationId xmlns:a16="http://schemas.microsoft.com/office/drawing/2014/main" id="{0750EEE1-1CAD-4BF1-865F-24A094E4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261872"/>
            <a:ext cx="93268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8" name="Google Shape;878;p24">
            <a:extLst xmlns:a="http://schemas.openxmlformats.org/drawingml/2006/main">
              <a:ext uri="{FF2B5EF4-FFF2-40B4-BE49-F238E27FC236}">
                <a16:creationId xmlns:a16="http://schemas.microsoft.com/office/drawing/2014/main" id="{D1752856-5D79-4568-B19A-A6302EB0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261872"/>
            <a:ext cx="932688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MAMÁ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9" name="Google Shape;879;p24">
            <a:extLst xmlns:a="http://schemas.openxmlformats.org/drawingml/2006/main">
              <a:ext uri="{FF2B5EF4-FFF2-40B4-BE49-F238E27FC236}">
                <a16:creationId xmlns:a16="http://schemas.microsoft.com/office/drawing/2014/main" id="{31821538-5E75-4DE3-9DEE-704DDECA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261872"/>
            <a:ext cx="93268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0" name="Google Shape;880;p24">
            <a:extLst xmlns:a="http://schemas.openxmlformats.org/drawingml/2006/main">
              <a:ext uri="{FF2B5EF4-FFF2-40B4-BE49-F238E27FC236}">
                <a16:creationId xmlns:a16="http://schemas.microsoft.com/office/drawing/2014/main" id="{4413B658-D746-4EC3-8751-E6FE80F6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261872"/>
            <a:ext cx="932688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MÍA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1" name="Google Shape;881;p24">
            <a:extLst xmlns:a="http://schemas.openxmlformats.org/drawingml/2006/main">
              <a:ext uri="{FF2B5EF4-FFF2-40B4-BE49-F238E27FC236}">
                <a16:creationId xmlns:a16="http://schemas.microsoft.com/office/drawing/2014/main" id="{6D8117A7-B2BF-41DF-8BA9-EF5DE5B2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261872"/>
            <a:ext cx="93268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2" name="Google Shape;882;p24">
            <a:extLst xmlns:a="http://schemas.openxmlformats.org/drawingml/2006/main">
              <a:ext uri="{FF2B5EF4-FFF2-40B4-BE49-F238E27FC236}">
                <a16:creationId xmlns:a16="http://schemas.microsoft.com/office/drawing/2014/main" id="{FB468E5A-AE07-4F74-A745-05CFCB2C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261872"/>
            <a:ext cx="932688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LINDA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3" name="Google Shape;883;p24">
            <a:extLst xmlns:a="http://schemas.openxmlformats.org/drawingml/2006/main">
              <a:ext uri="{FF2B5EF4-FFF2-40B4-BE49-F238E27FC236}">
                <a16:creationId xmlns:a16="http://schemas.microsoft.com/office/drawing/2014/main" id="{188F1550-D1EC-4B43-9C3B-5869D871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6" y="1261872"/>
            <a:ext cx="93268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4" name="Google Shape;884;p24">
            <a:extLst xmlns:a="http://schemas.openxmlformats.org/drawingml/2006/main">
              <a:ext uri="{FF2B5EF4-FFF2-40B4-BE49-F238E27FC236}">
                <a16:creationId xmlns:a16="http://schemas.microsoft.com/office/drawing/2014/main" id="{7C16420E-04CE-4D2A-9F3F-5496BD87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6" y="1261872"/>
            <a:ext cx="932688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MUCHO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5" name="Google Shape;885;p24">
            <a:extLst xmlns:a="http://schemas.openxmlformats.org/drawingml/2006/main">
              <a:ext uri="{FF2B5EF4-FFF2-40B4-BE49-F238E27FC236}">
                <a16:creationId xmlns:a16="http://schemas.microsoft.com/office/drawing/2014/main" id="{59D7B224-1019-4552-A1B9-E76BB94F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261872"/>
            <a:ext cx="4572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6" name="Google Shape;886;p24">
            <a:extLst xmlns:a="http://schemas.openxmlformats.org/drawingml/2006/main">
              <a:ext uri="{FF2B5EF4-FFF2-40B4-BE49-F238E27FC236}">
                <a16:creationId xmlns:a16="http://schemas.microsoft.com/office/drawing/2014/main" id="{E5151707-14CC-4761-8EC3-2CBB2BE9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1261872"/>
            <a:ext cx="370332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"Mi mamá es muy linda"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7" name="Google Shape;887;p24">
            <a:extLst xmlns:a="http://schemas.openxmlformats.org/drawingml/2006/main">
              <a:ext uri="{FF2B5EF4-FFF2-40B4-BE49-F238E27FC236}">
                <a16:creationId xmlns:a16="http://schemas.microsoft.com/office/drawing/2014/main" id="{E0FFDBF4-A318-491F-80A3-98F441A7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3977640" cy="2029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8" name="Google Shape;888;p24">
            <a:extLst xmlns:a="http://schemas.openxmlformats.org/drawingml/2006/main">
              <a:ext uri="{FF2B5EF4-FFF2-40B4-BE49-F238E27FC236}">
                <a16:creationId xmlns:a16="http://schemas.microsoft.com/office/drawing/2014/main" id="{F5158151-607E-4035-A485-8E542226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249424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Cómo se logra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9" name="Google Shape;889;p24">
            <a:extLst xmlns:a="http://schemas.openxmlformats.org/drawingml/2006/main">
              <a:ext uri="{FF2B5EF4-FFF2-40B4-BE49-F238E27FC236}">
                <a16:creationId xmlns:a16="http://schemas.microsoft.com/office/drawing/2014/main" id="{A7815415-B363-44B4-ACDC-0A582F8D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578608"/>
            <a:ext cx="3456432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Gemini no sabe LSPy: Pojoaju le indica las reglas gramaticales en cada llamada, con ejemplos.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Reordena, agrega artículos y verbos sin seña propia ("es") y ajusta concordancias.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Funciona en ambas direcciones: también convierte frases en español a secuencias de señas.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0" name="Google Shape;890;p24">
            <a:extLst xmlns:a="http://schemas.openxmlformats.org/drawingml/2006/main">
              <a:ext uri="{FF2B5EF4-FFF2-40B4-BE49-F238E27FC236}">
                <a16:creationId xmlns:a16="http://schemas.microsoft.com/office/drawing/2014/main" id="{2E977933-FE58-4A46-A095-4DC4B7DF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3977640" cy="2029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1" name="Google Shape;891;p24">
            <a:extLst xmlns:a="http://schemas.openxmlformats.org/drawingml/2006/main">
              <a:ext uri="{FF2B5EF4-FFF2-40B4-BE49-F238E27FC236}">
                <a16:creationId xmlns:a16="http://schemas.microsoft.com/office/drawing/2014/main" id="{AF519D48-65DE-4C8E-9DD6-EF77A779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249424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Complemento opcional, no dependencia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2" name="Google Shape;892;p24">
            <a:extLst xmlns:a="http://schemas.openxmlformats.org/drawingml/2006/main">
              <a:ext uri="{FF2B5EF4-FFF2-40B4-BE49-F238E27FC236}">
                <a16:creationId xmlns:a16="http://schemas.microsoft.com/office/drawing/2014/main" id="{51B61B18-7E2C-410B-885E-9CCBAA7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578608"/>
            <a:ext cx="3456432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Sin clave de API o ante un error, el sistema sigue traduciendo palabra por palabra.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La respuesta de Gemini nunca se acepta a ciegas: cada palabra devuelta se valida contra el diccionario.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Lo único que se pierde sin Gemini es la corrección gramatical, no la traducción.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50256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6" name="Google Shape;836;p23">
            <a:extLst xmlns:a="http://schemas.openxmlformats.org/drawingml/2006/main">
              <a:ext uri="{FF2B5EF4-FFF2-40B4-BE49-F238E27FC236}">
                <a16:creationId xmlns:a16="http://schemas.microsoft.com/office/drawing/2014/main" id="{E26A19C1-A4F5-4468-A78D-DFB0EB46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Módulos de la aplicación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7" name="Google Shape;837;p23">
            <a:extLst xmlns:a="http://schemas.openxmlformats.org/drawingml/2006/main">
              <a:ext uri="{FF2B5EF4-FFF2-40B4-BE49-F238E27FC236}">
                <a16:creationId xmlns:a16="http://schemas.microsoft.com/office/drawing/2014/main" id="{DFA6272B-BCD8-4474-861F-96B8C596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Seis módulos construidos sobre el mismo pipeline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75" name="Google Shape;838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4272a94a534b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39" name="Google Shape;839;p23">
            <a:extLst xmlns:a="http://schemas.openxmlformats.org/drawingml/2006/main">
              <a:ext uri="{FF2B5EF4-FFF2-40B4-BE49-F238E27FC236}">
                <a16:creationId xmlns:a16="http://schemas.microsoft.com/office/drawing/2014/main" id="{B15D2A4D-8301-407B-A0CC-76CF0BB6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0" name="Google Shape;840;p23">
            <a:extLst xmlns:a="http://schemas.openxmlformats.org/drawingml/2006/main">
              <a:ext uri="{FF2B5EF4-FFF2-40B4-BE49-F238E27FC236}">
                <a16:creationId xmlns:a16="http://schemas.microsoft.com/office/drawing/2014/main" id="{1BEE3B98-CC5E-4D1B-990A-565EE3D2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1" name="Google Shape;841;p23">
            <a:extLst xmlns:a="http://schemas.openxmlformats.org/drawingml/2006/main">
              <a:ext uri="{FF2B5EF4-FFF2-40B4-BE49-F238E27FC236}">
                <a16:creationId xmlns:a16="http://schemas.microsoft.com/office/drawing/2014/main" id="{090C2FDA-6056-47BB-B824-E6762C28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25877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79" name="Google Shape;84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1878cd323647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088" y="131673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43" name="Google Shape;843;p23">
            <a:extLst xmlns:a="http://schemas.openxmlformats.org/drawingml/2006/main">
              <a:ext uri="{FF2B5EF4-FFF2-40B4-BE49-F238E27FC236}">
                <a16:creationId xmlns:a16="http://schemas.microsoft.com/office/drawing/2014/main" id="{FBDC1F24-A29C-4634-AC95-CDE4590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28930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Diccionario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4" name="Google Shape;844;p23">
            <a:extLst xmlns:a="http://schemas.openxmlformats.org/drawingml/2006/main">
              <a:ext uri="{FF2B5EF4-FFF2-40B4-BE49-F238E27FC236}">
                <a16:creationId xmlns:a16="http://schemas.microsoft.com/office/drawing/2014/main" id="{5E11503C-5FD1-46DF-AB8D-8FE0A79E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82496"/>
            <a:ext cx="218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Vocabulario, categorías y cantidad de muestras por palabra.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5" name="Google Shape;845;p23">
            <a:extLst xmlns:a="http://schemas.openxmlformats.org/drawingml/2006/main">
              <a:ext uri="{FF2B5EF4-FFF2-40B4-BE49-F238E27FC236}">
                <a16:creationId xmlns:a16="http://schemas.microsoft.com/office/drawing/2014/main" id="{6D290C44-56B8-4FDC-9E16-2062F9CE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115568"/>
            <a:ext cx="25877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3" name="Google Shape;846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48776ea5dd40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74720" y="131673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47" name="Google Shape;847;p23">
            <a:extLst xmlns:a="http://schemas.openxmlformats.org/drawingml/2006/main">
              <a:ext uri="{FF2B5EF4-FFF2-40B4-BE49-F238E27FC236}">
                <a16:creationId xmlns:a16="http://schemas.microsoft.com/office/drawing/2014/main" id="{EF387891-0F01-4997-BCAD-0AE97EB3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28930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Captura de muestras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8" name="Google Shape;848;p23">
            <a:extLst xmlns:a="http://schemas.openxmlformats.org/drawingml/2006/main">
              <a:ext uri="{FF2B5EF4-FFF2-40B4-BE49-F238E27FC236}">
                <a16:creationId xmlns:a16="http://schemas.microsoft.com/office/drawing/2014/main" id="{44705125-2F24-4C27-8B46-172A13BC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82496"/>
            <a:ext cx="218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Cámara en vivo con keypoints superpuestos, o video subido.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9" name="Google Shape;849;p23">
            <a:extLst xmlns:a="http://schemas.openxmlformats.org/drawingml/2006/main">
              <a:ext uri="{FF2B5EF4-FFF2-40B4-BE49-F238E27FC236}">
                <a16:creationId xmlns:a16="http://schemas.microsoft.com/office/drawing/2014/main" id="{047CF3AF-56FD-4984-86C6-3AB31A25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115568"/>
            <a:ext cx="25877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7" name="Google Shape;850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2fdc0f65ed40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5352" y="131673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1" name="Google Shape;851;p23">
            <a:extLst xmlns:a="http://schemas.openxmlformats.org/drawingml/2006/main">
              <a:ext uri="{FF2B5EF4-FFF2-40B4-BE49-F238E27FC236}">
                <a16:creationId xmlns:a16="http://schemas.microsoft.com/office/drawing/2014/main" id="{1A915AB4-3836-449A-BC8A-48289F52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28930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Entrenar modelo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2" name="Google Shape;852;p23">
            <a:extLst xmlns:a="http://schemas.openxmlformats.org/drawingml/2006/main">
              <a:ext uri="{FF2B5EF4-FFF2-40B4-BE49-F238E27FC236}">
                <a16:creationId xmlns:a16="http://schemas.microsoft.com/office/drawing/2014/main" id="{A309E978-8D28-4721-A91C-8D8DBF2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82496"/>
            <a:ext cx="218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Ejecuta el pipeline y reporta accuracy, pérdida y épocas.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3" name="Google Shape;853;p23">
            <a:extLst xmlns:a="http://schemas.openxmlformats.org/drawingml/2006/main">
              <a:ext uri="{FF2B5EF4-FFF2-40B4-BE49-F238E27FC236}">
                <a16:creationId xmlns:a16="http://schemas.microsoft.com/office/drawing/2014/main" id="{E6E73B23-D70E-4C89-8986-336C9166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2888"/>
            <a:ext cx="25877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91" name="Google Shape;85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6ebc5a7f674c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088" y="273405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5" name="Google Shape;855;p23">
            <a:extLst xmlns:a="http://schemas.openxmlformats.org/drawingml/2006/main">
              <a:ext uri="{FF2B5EF4-FFF2-40B4-BE49-F238E27FC236}">
                <a16:creationId xmlns:a16="http://schemas.microsoft.com/office/drawing/2014/main" id="{C1DD930F-DF47-4015-A668-4208A5BE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0662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Seña → Texto / Voz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6" name="Google Shape;856;p23">
            <a:extLst xmlns:a="http://schemas.openxmlformats.org/drawingml/2006/main">
              <a:ext uri="{FF2B5EF4-FFF2-40B4-BE49-F238E27FC236}">
                <a16:creationId xmlns:a16="http://schemas.microsoft.com/office/drawing/2014/main" id="{FA26B6CC-4BF1-452B-988D-7DF123F9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99816"/>
            <a:ext cx="218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Módulo principal: reconocimiento en tiempo real con nivel de confianza.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7" name="Google Shape;857;p23">
            <a:extLst xmlns:a="http://schemas.openxmlformats.org/drawingml/2006/main">
              <a:ext uri="{FF2B5EF4-FFF2-40B4-BE49-F238E27FC236}">
                <a16:creationId xmlns:a16="http://schemas.microsoft.com/office/drawing/2014/main" id="{29D2421D-0E1A-4B69-BCA5-39C8E06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32888"/>
            <a:ext cx="25877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95" name="Google Shape;858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9e2072a33d4e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74720" y="273405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9" name="Google Shape;859;p23">
            <a:extLst xmlns:a="http://schemas.openxmlformats.org/drawingml/2006/main">
              <a:ext uri="{FF2B5EF4-FFF2-40B4-BE49-F238E27FC236}">
                <a16:creationId xmlns:a16="http://schemas.microsoft.com/office/drawing/2014/main" id="{C6676FCA-D3E0-4DF1-8F7A-A9870ED8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70662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Texto → Seña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0" name="Google Shape;860;p23">
            <a:extLst xmlns:a="http://schemas.openxmlformats.org/drawingml/2006/main">
              <a:ext uri="{FF2B5EF4-FFF2-40B4-BE49-F238E27FC236}">
                <a16:creationId xmlns:a16="http://schemas.microsoft.com/office/drawing/2014/main" id="{6CD27E71-773C-4A99-BF46-D75E4A54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099816"/>
            <a:ext cx="218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Anima la muestra más representativa (centroide) como stickman.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1" name="Google Shape;861;p23">
            <a:extLst xmlns:a="http://schemas.openxmlformats.org/drawingml/2006/main">
              <a:ext uri="{FF2B5EF4-FFF2-40B4-BE49-F238E27FC236}">
                <a16:creationId xmlns:a16="http://schemas.microsoft.com/office/drawing/2014/main" id="{C2AB7386-51DA-416B-904D-69DBC53A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532888"/>
            <a:ext cx="25877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99" name="Google Shape;86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c74b3eee5448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5352" y="273405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3" name="Google Shape;863;p23">
            <a:extLst xmlns:a="http://schemas.openxmlformats.org/drawingml/2006/main">
              <a:ext uri="{FF2B5EF4-FFF2-40B4-BE49-F238E27FC236}">
                <a16:creationId xmlns:a16="http://schemas.microsoft.com/office/drawing/2014/main" id="{457FB557-21C1-4663-82B2-1DAD9844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270662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Voz → Seña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4" name="Google Shape;864;p23">
            <a:extLst xmlns:a="http://schemas.openxmlformats.org/drawingml/2006/main">
              <a:ext uri="{FF2B5EF4-FFF2-40B4-BE49-F238E27FC236}">
                <a16:creationId xmlns:a16="http://schemas.microsoft.com/office/drawing/2014/main" id="{FE33EE6B-6ED0-48C1-B782-A697AA3B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099816"/>
            <a:ext cx="218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Reconocimiento de voz del navegador en español paraguayo.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5" name="Google Shape;865;p23">
            <a:extLst xmlns:a="http://schemas.openxmlformats.org/drawingml/2006/main">
              <a:ext uri="{FF2B5EF4-FFF2-40B4-BE49-F238E27FC236}">
                <a16:creationId xmlns:a16="http://schemas.microsoft.com/office/drawing/2014/main" id="{4D522E1B-1B86-4769-8C45-CE39A77B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4164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Más el panel de evaluación: matriz de confusión, accuracy general y confusiones más frecuentes.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46905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8" name="Google Shape;898;p25">
            <a:extLst xmlns:a="http://schemas.openxmlformats.org/drawingml/2006/main">
              <a:ext uri="{FF2B5EF4-FFF2-40B4-BE49-F238E27FC236}">
                <a16:creationId xmlns:a16="http://schemas.microsoft.com/office/drawing/2014/main" id="{6455E6E1-66DB-480D-9C02-B8A0AD38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Contenido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18" name="Google Shape;899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dbbdab49924a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0" name="Google Shape;900;p25">
            <a:extLst xmlns:a="http://schemas.openxmlformats.org/drawingml/2006/main">
              <a:ext uri="{FF2B5EF4-FFF2-40B4-BE49-F238E27FC236}">
                <a16:creationId xmlns:a16="http://schemas.microsoft.com/office/drawing/2014/main" id="{5F6DF12D-F81A-4543-A706-3B3B4537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1" name="Google Shape;901;p25">
            <a:extLst xmlns:a="http://schemas.openxmlformats.org/drawingml/2006/main">
              <a:ext uri="{FF2B5EF4-FFF2-40B4-BE49-F238E27FC236}">
                <a16:creationId xmlns:a16="http://schemas.microsoft.com/office/drawing/2014/main" id="{EDA9CFE7-F212-4E02-97F7-7FE97C8D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2" name="Google Shape;902;p25">
            <a:extLst xmlns:a="http://schemas.openxmlformats.org/drawingml/2006/main">
              <a:ext uri="{FF2B5EF4-FFF2-40B4-BE49-F238E27FC236}">
                <a16:creationId xmlns:a16="http://schemas.microsoft.com/office/drawing/2014/main" id="{140AF893-E4ED-468B-8D24-073E8BCE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4630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9F8"/>
              </a:buClr>
              <a:buSzPts val="9600"/>
              <a:buFont typeface="Cambria"/>
              <a:buNone/>
            </a:pPr>
            <a:r>
              <a:rPr sz="9600" b="1" i="0" u="none" cap="none">
                <a:solidFill>
                  <a:srgbClr val="E6E9F8"/>
                </a:solidFill>
                <a:latin typeface="Cambria"/>
                <a:ea typeface="Cambria"/>
                <a:cs typeface="Cambria"/>
              </a:rPr>
              <a:t>5</a:t>
            </a:r>
            <a:endParaRPr sz="9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" name="Google Shape;903;p25">
            <a:extLst xmlns:a="http://schemas.openxmlformats.org/drawingml/2006/main">
              <a:ext uri="{FF2B5EF4-FFF2-40B4-BE49-F238E27FC236}">
                <a16:creationId xmlns:a16="http://schemas.microsoft.com/office/drawing/2014/main" id="{A0F2A51E-E6F3-4618-A981-B1ED9204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Evaluación del modelo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4" name="Google Shape;904;p25">
            <a:extLst xmlns:a="http://schemas.openxmlformats.org/drawingml/2006/main">
              <a:ext uri="{FF2B5EF4-FFF2-40B4-BE49-F238E27FC236}">
                <a16:creationId xmlns:a16="http://schemas.microsoft.com/office/drawing/2014/main" id="{2EDC9E5C-4670-4900-A790-3BA9448C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344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1.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" name="Google Shape;905;p25">
            <a:extLst xmlns:a="http://schemas.openxmlformats.org/drawingml/2006/main">
              <a:ext uri="{FF2B5EF4-FFF2-40B4-BE49-F238E27FC236}">
                <a16:creationId xmlns:a16="http://schemas.microsoft.com/office/drawing/2014/main" id="{532912A7-98FE-4E1D-8111-5164C2DE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234440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El problema y su contexto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6" name="Google Shape;906;p25">
            <a:extLst xmlns:a="http://schemas.openxmlformats.org/drawingml/2006/main">
              <a:ext uri="{FF2B5EF4-FFF2-40B4-BE49-F238E27FC236}">
                <a16:creationId xmlns:a16="http://schemas.microsoft.com/office/drawing/2014/main" id="{1F95E566-D25C-4341-86BC-56065AB2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465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2.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" name="Google Shape;907;p25">
            <a:extLst xmlns:a="http://schemas.openxmlformats.org/drawingml/2006/main">
              <a:ext uri="{FF2B5EF4-FFF2-40B4-BE49-F238E27FC236}">
                <a16:creationId xmlns:a16="http://schemas.microsoft.com/office/drawing/2014/main" id="{4336ECF6-DBCB-493A-BA0C-36508427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746504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La lengua de señas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" name="Google Shape;908;p25">
            <a:extLst xmlns:a="http://schemas.openxmlformats.org/drawingml/2006/main">
              <a:ext uri="{FF2B5EF4-FFF2-40B4-BE49-F238E27FC236}">
                <a16:creationId xmlns:a16="http://schemas.microsoft.com/office/drawing/2014/main" id="{75BECA17-4633-40EC-B697-2884E14E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5856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3.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9" name="Google Shape;909;p25">
            <a:extLst xmlns:a="http://schemas.openxmlformats.org/drawingml/2006/main">
              <a:ext uri="{FF2B5EF4-FFF2-40B4-BE49-F238E27FC236}">
                <a16:creationId xmlns:a16="http://schemas.microsoft.com/office/drawing/2014/main" id="{2D4B3C64-21B4-4E34-A7E3-8CE32135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258568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Objetivos y metodología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0" name="Google Shape;910;p25">
            <a:extLst xmlns:a="http://schemas.openxmlformats.org/drawingml/2006/main">
              <a:ext uri="{FF2B5EF4-FFF2-40B4-BE49-F238E27FC236}">
                <a16:creationId xmlns:a16="http://schemas.microsoft.com/office/drawing/2014/main" id="{FCD14AD1-A76A-48C7-976B-C7F3C7F6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70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4.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1" name="Google Shape;911;p25">
            <a:extLst xmlns:a="http://schemas.openxmlformats.org/drawingml/2006/main">
              <a:ext uri="{FF2B5EF4-FFF2-40B4-BE49-F238E27FC236}">
                <a16:creationId xmlns:a16="http://schemas.microsoft.com/office/drawing/2014/main" id="{FAF5F93B-3A60-4A63-AFD3-98CBDDF1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770632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Pojoaju: diseño e implementación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2" name="Google Shape;912;p25">
            <a:extLst xmlns:a="http://schemas.openxmlformats.org/drawingml/2006/main">
              <a:ext uri="{FF2B5EF4-FFF2-40B4-BE49-F238E27FC236}">
                <a16:creationId xmlns:a16="http://schemas.microsoft.com/office/drawing/2014/main" id="{DD3A30ED-5BD1-400E-B9D4-1647E49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82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5.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3" name="Google Shape;913;p25">
            <a:extLst xmlns:a="http://schemas.openxmlformats.org/drawingml/2006/main">
              <a:ext uri="{FF2B5EF4-FFF2-40B4-BE49-F238E27FC236}">
                <a16:creationId xmlns:a16="http://schemas.microsoft.com/office/drawing/2014/main" id="{AFBB5CE0-3FAA-4D78-A6D6-C7DFE3D4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282696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Evaluación del modelo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4" name="Google Shape;914;p25">
            <a:extLst xmlns:a="http://schemas.openxmlformats.org/drawingml/2006/main">
              <a:ext uri="{FF2B5EF4-FFF2-40B4-BE49-F238E27FC236}">
                <a16:creationId xmlns:a16="http://schemas.microsoft.com/office/drawing/2014/main" id="{FC9D17B0-2B76-4584-BF95-354AE1C2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947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6.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5" name="Google Shape;915;p25">
            <a:extLst xmlns:a="http://schemas.openxmlformats.org/drawingml/2006/main">
              <a:ext uri="{FF2B5EF4-FFF2-40B4-BE49-F238E27FC236}">
                <a16:creationId xmlns:a16="http://schemas.microsoft.com/office/drawing/2014/main" id="{EFECBA78-DA92-42E6-8C31-80B4DA08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794760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Conclusiones y líneas futuras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02641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0" name="Google Shape;940;p26">
            <a:extLst xmlns:a="http://schemas.openxmlformats.org/drawingml/2006/main">
              <a:ext uri="{FF2B5EF4-FFF2-40B4-BE49-F238E27FC236}">
                <a16:creationId xmlns:a16="http://schemas.microsoft.com/office/drawing/2014/main" id="{95B0873F-FE2A-460F-8F34-39396D9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Evaluación del modelo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1" name="Google Shape;941;p26">
            <a:extLst xmlns:a="http://schemas.openxmlformats.org/drawingml/2006/main">
              <a:ext uri="{FF2B5EF4-FFF2-40B4-BE49-F238E27FC236}">
                <a16:creationId xmlns:a16="http://schemas.microsoft.com/office/drawing/2014/main" id="{F9B3A91B-757A-45DE-8F05-33945D83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Caso de estudio cuantitativo — Capítulo 6 de la tesis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64" name="Google Shape;942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4e4769fe0f41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3" name="Google Shape;943;p26">
            <a:extLst xmlns:a="http://schemas.openxmlformats.org/drawingml/2006/main">
              <a:ext uri="{FF2B5EF4-FFF2-40B4-BE49-F238E27FC236}">
                <a16:creationId xmlns:a16="http://schemas.microsoft.com/office/drawing/2014/main" id="{486318DC-AF0A-4A95-BDD7-92D23A63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27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4" name="Google Shape;944;p26">
            <a:extLst xmlns:a="http://schemas.openxmlformats.org/drawingml/2006/main">
              <a:ext uri="{FF2B5EF4-FFF2-40B4-BE49-F238E27FC236}">
                <a16:creationId xmlns:a16="http://schemas.microsoft.com/office/drawing/2014/main" id="{8CB2A5A3-D2D5-4B5A-908A-F02CB180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5" name="Google Shape;945;p26">
            <a:extLst xmlns:a="http://schemas.openxmlformats.org/drawingml/2006/main">
              <a:ext uri="{FF2B5EF4-FFF2-40B4-BE49-F238E27FC236}">
                <a16:creationId xmlns:a16="http://schemas.microsoft.com/office/drawing/2014/main" id="{E3D6E40C-9D05-421F-B5FE-C0385F6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77640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6" name="Google Shape;946;p26">
            <a:extLst xmlns:a="http://schemas.openxmlformats.org/drawingml/2006/main">
              <a:ext uri="{FF2B5EF4-FFF2-40B4-BE49-F238E27FC236}">
                <a16:creationId xmlns:a16="http://schemas.microsoft.com/office/drawing/2014/main" id="{4C1AAEB8-4F6A-4D1A-A513-2A5327AA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261872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Configuración del experimento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7" name="Google Shape;947;p26">
            <a:extLst xmlns:a="http://schemas.openxmlformats.org/drawingml/2006/main">
              <a:ext uri="{FF2B5EF4-FFF2-40B4-BE49-F238E27FC236}">
                <a16:creationId xmlns:a16="http://schemas.microsoft.com/office/drawing/2014/main" id="{5F8D01D7-E2BB-4F83-9D94-FBA52C9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645920"/>
            <a:ext cx="3456432" cy="1298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Vocabulario actual de la base, con 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60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80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muestras reales por palabra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Partición estratificada por palabra: 20 % de validación y 30 % reservado para la evaluación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Aumento de datos solo en el conjunto de entrenamiento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Char char="•"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Balanceo de clases y semillas fijas: resultados reproducibles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8" name="Google Shape;948;p26">
            <a:extLst xmlns:a="http://schemas.openxmlformats.org/drawingml/2006/main">
              <a:ext uri="{FF2B5EF4-FFF2-40B4-BE49-F238E27FC236}">
                <a16:creationId xmlns:a16="http://schemas.microsoft.com/office/drawing/2014/main" id="{FC4CB2A2-7559-4608-85B4-90C5E181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97280"/>
            <a:ext cx="3977640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9" name="Google Shape;949;p26">
            <a:extLst xmlns:a="http://schemas.openxmlformats.org/drawingml/2006/main">
              <a:ext uri="{FF2B5EF4-FFF2-40B4-BE49-F238E27FC236}">
                <a16:creationId xmlns:a16="http://schemas.microsoft.com/office/drawing/2014/main" id="{A33294F1-DD90-43C8-89C9-6A654BF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261872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Resultados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0" name="Google Shape;950;p26">
            <a:extLst xmlns:a="http://schemas.openxmlformats.org/drawingml/2006/main">
              <a:ext uri="{FF2B5EF4-FFF2-40B4-BE49-F238E27FC236}">
                <a16:creationId xmlns:a16="http://schemas.microsoft.com/office/drawing/2014/main" id="{2EF5B72E-D1E4-4EF0-8714-A85D2589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66420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Accuracy (validación)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1" name="Google Shape;951;p26">
            <a:extLst xmlns:a="http://schemas.openxmlformats.org/drawingml/2006/main">
              <a:ext uri="{FF2B5EF4-FFF2-40B4-BE49-F238E27FC236}">
                <a16:creationId xmlns:a16="http://schemas.microsoft.com/office/drawing/2014/main" id="{5A8E269D-9D90-48B3-9DA8-34766A8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64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8A2E"/>
              </a:buClr>
              <a:buSzPts val="1100"/>
              <a:buFont typeface="Calibri"/>
              <a:buNone/>
            </a:pPr>
            <a:r>
              <a:rPr sz="1100" b="1" i="1" u="none" cap="none">
                <a:solidFill>
                  <a:srgbClr val="B08A2E"/>
                </a:solidFill>
                <a:latin typeface="Calibri"/>
                <a:ea typeface="Calibri"/>
                <a:cs typeface="Calibri"/>
              </a:rPr>
              <a:t>pendiente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2" name="Google Shape;952;p26">
            <a:extLst xmlns:a="http://schemas.openxmlformats.org/drawingml/2006/main">
              <a:ext uri="{FF2B5EF4-FFF2-40B4-BE49-F238E27FC236}">
                <a16:creationId xmlns:a16="http://schemas.microsoft.com/office/drawing/2014/main" id="{CE43E88E-607E-472D-8BF1-AFB7B6F8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993392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Épocas ejecutadas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3" name="Google Shape;953;p26">
            <a:extLst xmlns:a="http://schemas.openxmlformats.org/drawingml/2006/main">
              <a:ext uri="{FF2B5EF4-FFF2-40B4-BE49-F238E27FC236}">
                <a16:creationId xmlns:a16="http://schemas.microsoft.com/office/drawing/2014/main" id="{327DC5FA-E984-4AA3-B5B2-85931905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9339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8A2E"/>
              </a:buClr>
              <a:buSzPts val="1100"/>
              <a:buFont typeface="Calibri"/>
              <a:buNone/>
            </a:pPr>
            <a:r>
              <a:rPr sz="1100" b="1" i="1" u="none" cap="none">
                <a:solidFill>
                  <a:srgbClr val="B08A2E"/>
                </a:solidFill>
                <a:latin typeface="Calibri"/>
                <a:ea typeface="Calibri"/>
                <a:cs typeface="Calibri"/>
              </a:rPr>
              <a:t>pendiente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4" name="Google Shape;954;p26">
            <a:extLst xmlns:a="http://schemas.openxmlformats.org/drawingml/2006/main">
              <a:ext uri="{FF2B5EF4-FFF2-40B4-BE49-F238E27FC236}">
                <a16:creationId xmlns:a16="http://schemas.microsoft.com/office/drawing/2014/main" id="{1E9B6DDB-33BA-4A15-8CF1-88ED6540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322576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Matriz de confusión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5" name="Google Shape;955;p26">
            <a:extLst xmlns:a="http://schemas.openxmlformats.org/drawingml/2006/main">
              <a:ext uri="{FF2B5EF4-FFF2-40B4-BE49-F238E27FC236}">
                <a16:creationId xmlns:a16="http://schemas.microsoft.com/office/drawing/2014/main" id="{21E8B34E-A9BC-4264-AEE9-239EA461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225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8A2E"/>
              </a:buClr>
              <a:buSzPts val="1100"/>
              <a:buFont typeface="Calibri"/>
              <a:buNone/>
            </a:pPr>
            <a:r>
              <a:rPr sz="1100" b="1" i="1" u="none" cap="none">
                <a:solidFill>
                  <a:srgbClr val="B08A2E"/>
                </a:solidFill>
                <a:latin typeface="Calibri"/>
                <a:ea typeface="Calibri"/>
                <a:cs typeface="Calibri"/>
              </a:rPr>
              <a:t>pendiente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6" name="Google Shape;956;p26">
            <a:extLst xmlns:a="http://schemas.openxmlformats.org/drawingml/2006/main">
              <a:ext uri="{FF2B5EF4-FFF2-40B4-BE49-F238E27FC236}">
                <a16:creationId xmlns:a16="http://schemas.microsoft.com/office/drawing/2014/main" id="{36A4C882-D42D-40B8-A626-801D3BF0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651760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Precisión · Recall · </a:t>
            </a:r>
            <a:r>
              <a:rPr sz="1150" b="0" i="1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F</a:t>
            </a:r>
            <a:r>
              <a:rPr sz="7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1</a:t>
            </a: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 por palabra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7" name="Google Shape;957;p26">
            <a:extLst xmlns:a="http://schemas.openxmlformats.org/drawingml/2006/main">
              <a:ext uri="{FF2B5EF4-FFF2-40B4-BE49-F238E27FC236}">
                <a16:creationId xmlns:a16="http://schemas.microsoft.com/office/drawing/2014/main" id="{4918E10C-7D27-4966-8436-77624635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5176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8A2E"/>
              </a:buClr>
              <a:buSzPts val="1100"/>
              <a:buFont typeface="Calibri"/>
              <a:buNone/>
            </a:pPr>
            <a:r>
              <a:rPr sz="1100" b="1" i="1" u="none" cap="none">
                <a:solidFill>
                  <a:srgbClr val="B08A2E"/>
                </a:solidFill>
                <a:latin typeface="Calibri"/>
                <a:ea typeface="Calibri"/>
                <a:cs typeface="Calibri"/>
              </a:rPr>
              <a:t>pendiente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8" name="Google Shape;958;p26">
            <a:extLst xmlns:a="http://schemas.openxmlformats.org/drawingml/2006/main">
              <a:ext uri="{FF2B5EF4-FFF2-40B4-BE49-F238E27FC236}">
                <a16:creationId xmlns:a16="http://schemas.microsoft.com/office/drawing/2014/main" id="{9A5830B3-9361-4E77-9105-51A65EBC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36976"/>
            <a:ext cx="813816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9" name="Google Shape;959;p26">
            <a:extLst xmlns:a="http://schemas.openxmlformats.org/drawingml/2006/main">
              <a:ext uri="{FF2B5EF4-FFF2-40B4-BE49-F238E27FC236}">
                <a16:creationId xmlns:a16="http://schemas.microsoft.com/office/drawing/2014/main" id="{DAC961EA-755F-401B-A3D2-C4DEFCDE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383280"/>
            <a:ext cx="75895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Qué mide —y qué no— esta evaluación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0" name="Google Shape;960;p26">
            <a:extLst xmlns:a="http://schemas.openxmlformats.org/drawingml/2006/main">
              <a:ext uri="{FF2B5EF4-FFF2-40B4-BE49-F238E27FC236}">
                <a16:creationId xmlns:a16="http://schemas.microsoft.com/office/drawing/2014/main" id="{545BD53F-340D-43F3-93F4-AA54A012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675888"/>
            <a:ext cx="762609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Es una evaluación técnica, no de uso real: las muestras provienen de un grupo reducido de personas y no incluyeron hablantes nativos ni intérpretes de LSPy. La accuracy mide el desempeño sobre este conjunto de datos, no la comprensibilidad de las señas; eso queda como línea futura.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76505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5" name="Google Shape;1019;g3f6c61ccebc_0_8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7619bdf6004c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0" name="Google Shape;1020;g3f6c61ccebc_0_85">
            <a:extLst xmlns:a="http://schemas.openxmlformats.org/drawingml/2006/main">
              <a:ext uri="{FF2B5EF4-FFF2-40B4-BE49-F238E27FC236}">
                <a16:creationId xmlns:a16="http://schemas.microsoft.com/office/drawing/2014/main" id="{639E2A51-F96B-4186-BECB-1D792220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2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28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1" name="Google Shape;1021;g3f6c61ccebc_0_85">
            <a:extLst xmlns:a="http://schemas.openxmlformats.org/drawingml/2006/main">
              <a:ext uri="{FF2B5EF4-FFF2-40B4-BE49-F238E27FC236}">
                <a16:creationId xmlns:a16="http://schemas.microsoft.com/office/drawing/2014/main" id="{EAA1949E-2F02-4E8D-85C6-2AD4DBF5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2" name="Google Shape;1022;g3f6c61ccebc_0_85">
            <a:extLst xmlns:a="http://schemas.openxmlformats.org/drawingml/2006/main">
              <a:ext uri="{FF2B5EF4-FFF2-40B4-BE49-F238E27FC236}">
                <a16:creationId xmlns:a16="http://schemas.microsoft.com/office/drawing/2014/main" id="{44B68FB0-C65C-4726-9743-17FCC360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82296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mbria"/>
              <a:buNone/>
            </a:pPr>
            <a:r>
              <a:rPr sz="3200" b="0" i="1" u="none" cap="none">
                <a:solidFill>
                  <a:srgbClr val="312E81"/>
                </a:solidFill>
                <a:latin typeface="Georgia"/>
                <a:ea typeface="Georgia"/>
                <a:cs typeface="Georgia"/>
              </a:rPr>
              <a:t>VIDEO DEMO</a:t>
            </a:r>
            <a:endParaRPr sz="3200" b="0" i="1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23" name="Google Shape;1023;g3f6c61ccebc_0_85">
            <a:extLst xmlns:a="http://schemas.openxmlformats.org/drawingml/2006/main">
              <a:ext uri="{FF2B5EF4-FFF2-40B4-BE49-F238E27FC236}">
                <a16:creationId xmlns:a16="http://schemas.microsoft.com/office/drawing/2014/main" id="{443058C0-A9C5-4399-ACD8-FC904176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7680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Diccionario  ·  Seña a Texto/Voz  ·  Traducción de frases  ·  Texto a Seña  ·  Voz a Seña  ·  Matriz de confusión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76552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35" name="Google Shape;1029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dfdefef4e74e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0" name="Google Shape;1030;p30">
            <a:extLst xmlns:a="http://schemas.openxmlformats.org/drawingml/2006/main">
              <a:ext uri="{FF2B5EF4-FFF2-40B4-BE49-F238E27FC236}">
                <a16:creationId xmlns:a16="http://schemas.microsoft.com/office/drawing/2014/main" id="{79DA60A0-7CD8-4659-9184-FB8A031E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29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1" name="Google Shape;1031;p30">
            <a:extLst xmlns:a="http://schemas.openxmlformats.org/drawingml/2006/main">
              <a:ext uri="{FF2B5EF4-FFF2-40B4-BE49-F238E27FC236}">
                <a16:creationId xmlns:a16="http://schemas.microsoft.com/office/drawing/2014/main" id="{64AE83DE-0758-4F37-9613-4DCCFAE7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2" name="Google Shape;1032;p30">
            <a:extLst xmlns:a="http://schemas.openxmlformats.org/drawingml/2006/main">
              <a:ext uri="{FF2B5EF4-FFF2-40B4-BE49-F238E27FC236}">
                <a16:creationId xmlns:a16="http://schemas.microsoft.com/office/drawing/2014/main" id="{C78A75BC-70A2-4C24-9B83-A7518EE8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mbria"/>
              <a:buNone/>
            </a:pPr>
            <a:r>
              <a:rPr sz="3200" b="0" i="1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DEMOSTRACIÓN EN VIVO</a:t>
            </a:r>
            <a:endParaRPr sz="3200" b="0" i="1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3" name="Google Shape;1033;p30">
            <a:extLst xmlns:a="http://schemas.openxmlformats.org/drawingml/2006/main">
              <a:ext uri="{FF2B5EF4-FFF2-40B4-BE49-F238E27FC236}">
                <a16:creationId xmlns:a16="http://schemas.microsoft.com/office/drawing/2014/main" id="{1EF64925-F16C-4456-BA46-CF1F5126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Diccionario  ·  Seña a Texto/Voz  ·  Traducción de frases  ·  Texto a Seña  ·  Voz a Seña  ·  Matriz de confusión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68460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9" name="Google Shape;1039;p27">
            <a:extLst xmlns:a="http://schemas.openxmlformats.org/drawingml/2006/main">
              <a:ext uri="{FF2B5EF4-FFF2-40B4-BE49-F238E27FC236}">
                <a16:creationId xmlns:a16="http://schemas.microsoft.com/office/drawing/2014/main" id="{7EC98B5B-7405-4AD8-94FD-A3CEB801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Contenido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59" name="Google Shape;1040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a48160e0364b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1" name="Google Shape;1041;p27">
            <a:extLst xmlns:a="http://schemas.openxmlformats.org/drawingml/2006/main">
              <a:ext uri="{FF2B5EF4-FFF2-40B4-BE49-F238E27FC236}">
                <a16:creationId xmlns:a16="http://schemas.microsoft.com/office/drawing/2014/main" id="{EE346708-023C-46AF-8D00-9F2C5D16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30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2" name="Google Shape;1042;p27">
            <a:extLst xmlns:a="http://schemas.openxmlformats.org/drawingml/2006/main">
              <a:ext uri="{FF2B5EF4-FFF2-40B4-BE49-F238E27FC236}">
                <a16:creationId xmlns:a16="http://schemas.microsoft.com/office/drawing/2014/main" id="{128A93C8-BC5B-40EE-875E-D3588D7D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3" name="Google Shape;1043;p27">
            <a:extLst xmlns:a="http://schemas.openxmlformats.org/drawingml/2006/main">
              <a:ext uri="{FF2B5EF4-FFF2-40B4-BE49-F238E27FC236}">
                <a16:creationId xmlns:a16="http://schemas.microsoft.com/office/drawing/2014/main" id="{3CC50766-0452-47B2-B30D-5498CD63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4630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9F8"/>
              </a:buClr>
              <a:buSzPts val="9600"/>
              <a:buFont typeface="Cambria"/>
              <a:buNone/>
            </a:pPr>
            <a:r>
              <a:rPr sz="9600" b="1" i="0" u="none" cap="none">
                <a:solidFill>
                  <a:srgbClr val="E6E9F8"/>
                </a:solidFill>
                <a:latin typeface="Cambria"/>
                <a:ea typeface="Cambria"/>
                <a:cs typeface="Cambria"/>
              </a:rPr>
              <a:t>6</a:t>
            </a:r>
            <a:endParaRPr sz="9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4" name="Google Shape;1044;p27">
            <a:extLst xmlns:a="http://schemas.openxmlformats.org/drawingml/2006/main">
              <a:ext uri="{FF2B5EF4-FFF2-40B4-BE49-F238E27FC236}">
                <a16:creationId xmlns:a16="http://schemas.microsoft.com/office/drawing/2014/main" id="{089F5290-B4A1-40BA-A7EF-C5095DCA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Conclusiones y líneas futuras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5" name="Google Shape;1045;p27">
            <a:extLst xmlns:a="http://schemas.openxmlformats.org/drawingml/2006/main">
              <a:ext uri="{FF2B5EF4-FFF2-40B4-BE49-F238E27FC236}">
                <a16:creationId xmlns:a16="http://schemas.microsoft.com/office/drawing/2014/main" id="{BC0FE349-FA4E-4F3B-AF25-641EF73D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344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1.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6" name="Google Shape;1046;p27">
            <a:extLst xmlns:a="http://schemas.openxmlformats.org/drawingml/2006/main">
              <a:ext uri="{FF2B5EF4-FFF2-40B4-BE49-F238E27FC236}">
                <a16:creationId xmlns:a16="http://schemas.microsoft.com/office/drawing/2014/main" id="{874A01A3-2A92-45C6-8133-554353C5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234440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El problema y su contexto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7" name="Google Shape;1047;p27">
            <a:extLst xmlns:a="http://schemas.openxmlformats.org/drawingml/2006/main">
              <a:ext uri="{FF2B5EF4-FFF2-40B4-BE49-F238E27FC236}">
                <a16:creationId xmlns:a16="http://schemas.microsoft.com/office/drawing/2014/main" id="{8286ACA0-62DF-42EB-B161-5F8902AE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465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2.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8" name="Google Shape;1048;p27">
            <a:extLst xmlns:a="http://schemas.openxmlformats.org/drawingml/2006/main">
              <a:ext uri="{FF2B5EF4-FFF2-40B4-BE49-F238E27FC236}">
                <a16:creationId xmlns:a16="http://schemas.microsoft.com/office/drawing/2014/main" id="{FAAE29EC-0AB0-4492-81B9-A5758263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746504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La lengua de señas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9" name="Google Shape;1049;p27">
            <a:extLst xmlns:a="http://schemas.openxmlformats.org/drawingml/2006/main">
              <a:ext uri="{FF2B5EF4-FFF2-40B4-BE49-F238E27FC236}">
                <a16:creationId xmlns:a16="http://schemas.microsoft.com/office/drawing/2014/main" id="{3B67CBEC-5CB5-4DB5-8ED8-59977ABD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5856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3.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0" name="Google Shape;1050;p27">
            <a:extLst xmlns:a="http://schemas.openxmlformats.org/drawingml/2006/main">
              <a:ext uri="{FF2B5EF4-FFF2-40B4-BE49-F238E27FC236}">
                <a16:creationId xmlns:a16="http://schemas.microsoft.com/office/drawing/2014/main" id="{B504A956-A938-41C9-98E1-A1F7BA21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258568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Objetivos y metodología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1" name="Google Shape;1051;p27">
            <a:extLst xmlns:a="http://schemas.openxmlformats.org/drawingml/2006/main">
              <a:ext uri="{FF2B5EF4-FFF2-40B4-BE49-F238E27FC236}">
                <a16:creationId xmlns:a16="http://schemas.microsoft.com/office/drawing/2014/main" id="{61602BFB-7426-4E9A-9771-E1712DAA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70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4.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2" name="Google Shape;1052;p27">
            <a:extLst xmlns:a="http://schemas.openxmlformats.org/drawingml/2006/main">
              <a:ext uri="{FF2B5EF4-FFF2-40B4-BE49-F238E27FC236}">
                <a16:creationId xmlns:a16="http://schemas.microsoft.com/office/drawing/2014/main" id="{E30183A0-8255-4A11-AC47-13DE36D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770632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Pojoaju: diseño e implementación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3" name="Google Shape;1053;p27">
            <a:extLst xmlns:a="http://schemas.openxmlformats.org/drawingml/2006/main">
              <a:ext uri="{FF2B5EF4-FFF2-40B4-BE49-F238E27FC236}">
                <a16:creationId xmlns:a16="http://schemas.microsoft.com/office/drawing/2014/main" id="{8BC2DB95-413A-401F-95E2-A740C39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82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5.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4" name="Google Shape;1054;p27">
            <a:extLst xmlns:a="http://schemas.openxmlformats.org/drawingml/2006/main">
              <a:ext uri="{FF2B5EF4-FFF2-40B4-BE49-F238E27FC236}">
                <a16:creationId xmlns:a16="http://schemas.microsoft.com/office/drawing/2014/main" id="{663962A5-F642-4DC8-AE71-1D08DEF5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282696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Evaluación del modelo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5" name="Google Shape;1055;p27">
            <a:extLst xmlns:a="http://schemas.openxmlformats.org/drawingml/2006/main">
              <a:ext uri="{FF2B5EF4-FFF2-40B4-BE49-F238E27FC236}">
                <a16:creationId xmlns:a16="http://schemas.microsoft.com/office/drawing/2014/main" id="{9BBD9E80-1130-4D2B-A99B-CDEECFE2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947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6.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6" name="Google Shape;1056;p27">
            <a:extLst xmlns:a="http://schemas.openxmlformats.org/drawingml/2006/main">
              <a:ext uri="{FF2B5EF4-FFF2-40B4-BE49-F238E27FC236}">
                <a16:creationId xmlns:a16="http://schemas.microsoft.com/office/drawing/2014/main" id="{C9D0CD50-FB88-41D2-AA51-A69D67A3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794760"/>
            <a:ext cx="505663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Conclusiones y líneas futuras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78882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2" name="Google Shape;1062;p28">
            <a:extLst xmlns:a="http://schemas.openxmlformats.org/drawingml/2006/main">
              <a:ext uri="{FF2B5EF4-FFF2-40B4-BE49-F238E27FC236}">
                <a16:creationId xmlns:a16="http://schemas.microsoft.com/office/drawing/2014/main" id="{F9A87838-6D8C-4967-BD6E-1359B10D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Conclusiones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3" name="Google Shape;1063;p28">
            <a:extLst xmlns:a="http://schemas.openxmlformats.org/drawingml/2006/main">
              <a:ext uri="{FF2B5EF4-FFF2-40B4-BE49-F238E27FC236}">
                <a16:creationId xmlns:a16="http://schemas.microsoft.com/office/drawing/2014/main" id="{9203DFAF-DC9D-4F83-9D80-1F97A55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Los cuatro objetivos específicos, cumplidos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98" name="Google Shape;1064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0cc72fada94e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65" name="Google Shape;1065;p28">
            <a:extLst xmlns:a="http://schemas.openxmlformats.org/drawingml/2006/main">
              <a:ext uri="{FF2B5EF4-FFF2-40B4-BE49-F238E27FC236}">
                <a16:creationId xmlns:a16="http://schemas.microsoft.com/office/drawing/2014/main" id="{22CB4A56-6D79-4831-8FC9-AB441252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6" name="Google Shape;1066;p28">
            <a:extLst xmlns:a="http://schemas.openxmlformats.org/drawingml/2006/main">
              <a:ext uri="{FF2B5EF4-FFF2-40B4-BE49-F238E27FC236}">
                <a16:creationId xmlns:a16="http://schemas.microsoft.com/office/drawing/2014/main" id="{76DD9228-92A8-47B4-8510-9BCACDA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8" name="Google Shape;1068;p28">
            <a:extLst xmlns:a="http://schemas.openxmlformats.org/drawingml/2006/main">
              <a:ext uri="{FF2B5EF4-FFF2-40B4-BE49-F238E27FC236}">
                <a16:creationId xmlns:a16="http://schemas.microsoft.com/office/drawing/2014/main" id="{1DB72B35-2354-4687-AB8F-65B7189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115568"/>
            <a:ext cx="3977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02" name="Google Shape;1069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2e838f443749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2376" y="1316736"/>
            <a:ext cx="237744" cy="2377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0" name="Google Shape;1070;p28">
            <a:extLst xmlns:a="http://schemas.openxmlformats.org/drawingml/2006/main">
              <a:ext uri="{FF2B5EF4-FFF2-40B4-BE49-F238E27FC236}">
                <a16:creationId xmlns:a16="http://schemas.microsoft.com/office/drawing/2014/main" id="{247F1578-52CC-473F-AF17-4488BB3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560" y="128016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Pipeline de captura y procesamiento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1" name="Google Shape;1071;p28">
            <a:extLst xmlns:a="http://schemas.openxmlformats.org/drawingml/2006/main">
              <a:ext uri="{FF2B5EF4-FFF2-40B4-BE49-F238E27FC236}">
                <a16:creationId xmlns:a16="http://schemas.microsoft.com/office/drawing/2014/main" id="{EB05CA3E-A7E6-46A8-B068-0A3AD83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76" y="1664208"/>
            <a:ext cx="3538728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Funciona de punta a punta: es el mismo con el que se construyó el conjunto de datos.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3" name="Google Shape;1073;p28">
            <a:extLst xmlns:a="http://schemas.openxmlformats.org/drawingml/2006/main">
              <a:ext uri="{FF2B5EF4-FFF2-40B4-BE49-F238E27FC236}">
                <a16:creationId xmlns:a16="http://schemas.microsoft.com/office/drawing/2014/main" id="{4154FBD2-06C7-4DB9-830A-4FED2640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40" y="1115568"/>
            <a:ext cx="3977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06" name="Google Shape;1074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2e838f443749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82896" y="1316736"/>
            <a:ext cx="237744" cy="2377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5" name="Google Shape;1075;p28">
            <a:extLst xmlns:a="http://schemas.openxmlformats.org/drawingml/2006/main">
              <a:ext uri="{FF2B5EF4-FFF2-40B4-BE49-F238E27FC236}">
                <a16:creationId xmlns:a16="http://schemas.microsoft.com/office/drawing/2014/main" id="{89695FFB-BC5E-4E4E-B491-DC33E911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080" y="128016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Modelo LSTM entrenado y en producción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6" name="Google Shape;1076;p28">
            <a:extLst xmlns:a="http://schemas.openxmlformats.org/drawingml/2006/main">
              <a:ext uri="{FF2B5EF4-FFF2-40B4-BE49-F238E27FC236}">
                <a16:creationId xmlns:a16="http://schemas.microsoft.com/office/drawing/2014/main" id="{305DA77D-05DD-4BD1-959C-0169024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2896" y="1664208"/>
            <a:ext cx="3538728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Se entrena, se guarda y se usa para la predicción en tiempo real.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8" name="Google Shape;1078;p28">
            <a:extLst xmlns:a="http://schemas.openxmlformats.org/drawingml/2006/main">
              <a:ext uri="{FF2B5EF4-FFF2-40B4-BE49-F238E27FC236}">
                <a16:creationId xmlns:a16="http://schemas.microsoft.com/office/drawing/2014/main" id="{FA8FF603-0D77-428D-9494-0A6A3D0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331720"/>
            <a:ext cx="3977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10" name="Google Shape;1079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2e838f443749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2376" y="2532888"/>
            <a:ext cx="237744" cy="2377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0" name="Google Shape;1080;p28">
            <a:extLst xmlns:a="http://schemas.openxmlformats.org/drawingml/2006/main">
              <a:ext uri="{FF2B5EF4-FFF2-40B4-BE49-F238E27FC236}">
                <a16:creationId xmlns:a16="http://schemas.microsoft.com/office/drawing/2014/main" id="{4F30F1F8-5DC4-4909-9A9D-00EB793A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560" y="2496312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Traducción en tiempo real y módulos inversos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1" name="Google Shape;1081;p28">
            <a:extLst xmlns:a="http://schemas.openxmlformats.org/drawingml/2006/main">
              <a:ext uri="{FF2B5EF4-FFF2-40B4-BE49-F238E27FC236}">
                <a16:creationId xmlns:a16="http://schemas.microsoft.com/office/drawing/2014/main" id="{5ABDF9B1-5147-4DBD-B3DF-12BFFC2A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76" y="2880360"/>
            <a:ext cx="3538728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Seña a texto/voz, texto a seña y voz a seña implementados y funcionando.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3" name="Google Shape;1083;p28">
            <a:extLst xmlns:a="http://schemas.openxmlformats.org/drawingml/2006/main">
              <a:ext uri="{FF2B5EF4-FFF2-40B4-BE49-F238E27FC236}">
                <a16:creationId xmlns:a16="http://schemas.microsoft.com/office/drawing/2014/main" id="{DB36FAE3-D293-464D-90A3-7E5D6E78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40" y="2331720"/>
            <a:ext cx="3977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14" name="Google Shape;1084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2e838f443749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82896" y="2532888"/>
            <a:ext cx="237744" cy="2377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5" name="Google Shape;1085;p28">
            <a:extLst xmlns:a="http://schemas.openxmlformats.org/drawingml/2006/main">
              <a:ext uri="{FF2B5EF4-FFF2-40B4-BE49-F238E27FC236}">
                <a16:creationId xmlns:a16="http://schemas.microsoft.com/office/drawing/2014/main" id="{2731C374-334C-47D5-AE61-ED34BBC6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080" y="2496312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Herramienta de evaluación cuantitativa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6" name="Google Shape;1086;p28">
            <a:extLst xmlns:a="http://schemas.openxmlformats.org/drawingml/2006/main">
              <a:ext uri="{FF2B5EF4-FFF2-40B4-BE49-F238E27FC236}">
                <a16:creationId xmlns:a16="http://schemas.microsoft.com/office/drawing/2014/main" id="{DB457216-26DE-43D8-9DEB-C9C88C01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2896" y="2880360"/>
            <a:ext cx="3538728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Matriz de confusión, métricas por palabra y confusiones más frecuentes.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8" name="Google Shape;1088;p28">
            <a:extLst xmlns:a="http://schemas.openxmlformats.org/drawingml/2006/main">
              <a:ext uri="{FF2B5EF4-FFF2-40B4-BE49-F238E27FC236}">
                <a16:creationId xmlns:a16="http://schemas.microsoft.com/office/drawing/2014/main" id="{FFB22AC2-83A8-4C67-8226-D5952A06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3566160"/>
            <a:ext cx="8138160" cy="896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9" name="Google Shape;1089;p28">
            <a:extLst xmlns:a="http://schemas.openxmlformats.org/drawingml/2006/main">
              <a:ext uri="{FF2B5EF4-FFF2-40B4-BE49-F238E27FC236}">
                <a16:creationId xmlns:a16="http://schemas.microsoft.com/office/drawing/2014/main" id="{A5C682F1-5913-44D9-A5DC-5B58D01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952" y="3694176"/>
            <a:ext cx="75895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Sobre el alcance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0" name="Google Shape;1090;p28">
            <a:extLst xmlns:a="http://schemas.openxmlformats.org/drawingml/2006/main">
              <a:ext uri="{FF2B5EF4-FFF2-40B4-BE49-F238E27FC236}">
                <a16:creationId xmlns:a16="http://schemas.microsoft.com/office/drawing/2014/main" id="{06EAE27E-84C3-4A69-81AA-94C08ED3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952" y="3950208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El alfabeto dactilológico del anteproyecto quedó fuera del alcance final: se priorizó el reconocimiento de palabras completas, un problema más natural para una LSTM porque las palabras tienen movimiento y las letras son mayormente posiciones fijas. La decisión está documentada en la validación metodológica.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83206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6" name="Google Shape;1096;p29">
            <a:extLst xmlns:a="http://schemas.openxmlformats.org/drawingml/2006/main">
              <a:ext uri="{FF2B5EF4-FFF2-40B4-BE49-F238E27FC236}">
                <a16:creationId xmlns:a16="http://schemas.microsoft.com/office/drawing/2014/main" id="{E1F8665B-25C3-415C-8437-4043EDD7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Líneas futuras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7" name="Google Shape;1097;p29">
            <a:extLst xmlns:a="http://schemas.openxmlformats.org/drawingml/2006/main">
              <a:ext uri="{FF2B5EF4-FFF2-40B4-BE49-F238E27FC236}">
                <a16:creationId xmlns:a16="http://schemas.microsoft.com/office/drawing/2014/main" id="{4F5377A0-A1F0-445C-964E-82923F0B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El proyecto queda preparado para continuar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40" name="Google Shape;1098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e957c228a24a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9" name="Google Shape;1099;p29">
            <a:extLst xmlns:a="http://schemas.openxmlformats.org/drawingml/2006/main">
              <a:ext uri="{FF2B5EF4-FFF2-40B4-BE49-F238E27FC236}">
                <a16:creationId xmlns:a16="http://schemas.microsoft.com/office/drawing/2014/main" id="{FE62E941-56A2-4C3F-AF2B-07B98752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0" name="Google Shape;1100;p29">
            <a:extLst xmlns:a="http://schemas.openxmlformats.org/drawingml/2006/main">
              <a:ext uri="{FF2B5EF4-FFF2-40B4-BE49-F238E27FC236}">
                <a16:creationId xmlns:a16="http://schemas.microsoft.com/office/drawing/2014/main" id="{C7AEC141-CD30-42CB-866C-E7873539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2" name="Google Shape;1102;p29">
            <a:extLst xmlns:a="http://schemas.openxmlformats.org/drawingml/2006/main">
              <a:ext uri="{FF2B5EF4-FFF2-40B4-BE49-F238E27FC236}">
                <a16:creationId xmlns:a16="http://schemas.microsoft.com/office/drawing/2014/main" id="{04D67FFF-B7CF-429C-BE51-B8AB404F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143000"/>
            <a:ext cx="25877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44" name="Google Shape;1103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af77c673824d6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04088" y="1344168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4" name="Google Shape;1104;p29">
            <a:extLst xmlns:a="http://schemas.openxmlformats.org/drawingml/2006/main">
              <a:ext uri="{FF2B5EF4-FFF2-40B4-BE49-F238E27FC236}">
                <a16:creationId xmlns:a16="http://schemas.microsoft.com/office/drawing/2014/main" id="{9447FD7B-C8FD-41C9-A22D-F48EB822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560" y="1316736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Ampliar el vocabulario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5" name="Google Shape;1105;p29">
            <a:extLst xmlns:a="http://schemas.openxmlformats.org/drawingml/2006/main">
              <a:ext uri="{FF2B5EF4-FFF2-40B4-BE49-F238E27FC236}">
                <a16:creationId xmlns:a16="http://schemas.microsoft.com/office/drawing/2014/main" id="{B9CBA0CF-9039-4156-B7C3-9FD9FF4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088" y="1709928"/>
            <a:ext cx="2185416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Ya hay unas 50 palabras previstas en 7 categorías; falta capturar muestras, no desarrollar código.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7" name="Google Shape;1107;p29">
            <a:extLst xmlns:a="http://schemas.openxmlformats.org/drawingml/2006/main">
              <a:ext uri="{FF2B5EF4-FFF2-40B4-BE49-F238E27FC236}">
                <a16:creationId xmlns:a16="http://schemas.microsoft.com/office/drawing/2014/main" id="{31C58345-942F-49C4-B82C-9FEB8EE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3552" y="1143000"/>
            <a:ext cx="25877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48" name="Google Shape;1108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12009220d644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3474720" y="1344168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9" name="Google Shape;1109;p29">
            <a:extLst xmlns:a="http://schemas.openxmlformats.org/drawingml/2006/main">
              <a:ext uri="{FF2B5EF4-FFF2-40B4-BE49-F238E27FC236}">
                <a16:creationId xmlns:a16="http://schemas.microsoft.com/office/drawing/2014/main" id="{C0518703-8F46-4DD1-9217-E5BBB819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192" y="1316736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Diversificar los datos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0" name="Google Shape;1110;p29">
            <a:extLst xmlns:a="http://schemas.openxmlformats.org/drawingml/2006/main">
              <a:ext uri="{FF2B5EF4-FFF2-40B4-BE49-F238E27FC236}">
                <a16:creationId xmlns:a16="http://schemas.microsoft.com/office/drawing/2014/main" id="{4E0F2A9C-0A6D-438F-BF89-FB967A9D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720" y="1709928"/>
            <a:ext cx="2185416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Capturar con hablantes nativos de distintas regiones para validar la generalización.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2" name="Google Shape;1112;p29">
            <a:extLst xmlns:a="http://schemas.openxmlformats.org/drawingml/2006/main">
              <a:ext uri="{FF2B5EF4-FFF2-40B4-BE49-F238E27FC236}">
                <a16:creationId xmlns:a16="http://schemas.microsoft.com/office/drawing/2014/main" id="{F7AE3C3F-A2BC-41A0-A57F-F1EE2FAA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4184" y="1143000"/>
            <a:ext cx="25877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52" name="Google Shape;1113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b123fcf2bb46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245352" y="1344168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14" name="Google Shape;1114;p29">
            <a:extLst xmlns:a="http://schemas.openxmlformats.org/drawingml/2006/main">
              <a:ext uri="{FF2B5EF4-FFF2-40B4-BE49-F238E27FC236}">
                <a16:creationId xmlns:a16="http://schemas.microsoft.com/office/drawing/2014/main" id="{DF9931B4-022E-4035-9F84-F14025F3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2824" y="1316736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Aprendizaje incremental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5" name="Google Shape;1115;p29">
            <a:extLst xmlns:a="http://schemas.openxmlformats.org/drawingml/2006/main">
              <a:ext uri="{FF2B5EF4-FFF2-40B4-BE49-F238E27FC236}">
                <a16:creationId xmlns:a16="http://schemas.microsoft.com/office/drawing/2014/main" id="{742A2B5F-0464-4CD7-9222-0B7DDB55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5352" y="1709928"/>
            <a:ext cx="2185416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Agregar palabras sin reentrenar el modelo completo (fine-tuning dirigido).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7" name="Google Shape;1117;p29">
            <a:extLst xmlns:a="http://schemas.openxmlformats.org/drawingml/2006/main">
              <a:ext uri="{FF2B5EF4-FFF2-40B4-BE49-F238E27FC236}">
                <a16:creationId xmlns:a16="http://schemas.microsoft.com/office/drawing/2014/main" id="{FA7F416B-77C9-4A3B-A7AE-9C1CA62B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670048"/>
            <a:ext cx="25877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56" name="Google Shape;1118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9e753dd0f34a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04088" y="287121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19" name="Google Shape;1119;p29">
            <a:extLst xmlns:a="http://schemas.openxmlformats.org/drawingml/2006/main">
              <a:ext uri="{FF2B5EF4-FFF2-40B4-BE49-F238E27FC236}">
                <a16:creationId xmlns:a16="http://schemas.microsoft.com/office/drawing/2014/main" id="{B05C5D43-2021-4504-BA1C-D86FFBDE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560" y="284378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API pública de datos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0" name="Google Shape;1120;p29">
            <a:extLst xmlns:a="http://schemas.openxmlformats.org/drawingml/2006/main">
              <a:ext uri="{FF2B5EF4-FFF2-40B4-BE49-F238E27FC236}">
                <a16:creationId xmlns:a16="http://schemas.microsoft.com/office/drawing/2014/main" id="{89F149C7-BFBA-4B41-B8C1-429C6870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088" y="3236976"/>
            <a:ext cx="2185416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Exponer el conjunto de datos de LSPy para otros investigadores y proyectos.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2" name="Google Shape;1122;p29">
            <a:extLst xmlns:a="http://schemas.openxmlformats.org/drawingml/2006/main">
              <a:ext uri="{FF2B5EF4-FFF2-40B4-BE49-F238E27FC236}">
                <a16:creationId xmlns:a16="http://schemas.microsoft.com/office/drawing/2014/main" id="{0B97A087-F21E-4FE0-836A-6A118827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3552" y="2670048"/>
            <a:ext cx="25877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60" name="Google Shape;1123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4eece2a97042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3474720" y="287121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4" name="Google Shape;1124;p29">
            <a:extLst xmlns:a="http://schemas.openxmlformats.org/drawingml/2006/main">
              <a:ext uri="{FF2B5EF4-FFF2-40B4-BE49-F238E27FC236}">
                <a16:creationId xmlns:a16="http://schemas.microsoft.com/office/drawing/2014/main" id="{5E861077-6955-433A-B38B-A4065748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192" y="284378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Perfiles de usuario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5" name="Google Shape;1125;p29">
            <a:extLst xmlns:a="http://schemas.openxmlformats.org/drawingml/2006/main">
              <a:ext uri="{FF2B5EF4-FFF2-40B4-BE49-F238E27FC236}">
                <a16:creationId xmlns:a16="http://schemas.microsoft.com/office/drawing/2014/main" id="{3BE180A7-0679-4ECC-A979-481A86ED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720" y="3236976"/>
            <a:ext cx="2185416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Cuentas e historial individual: base para cualquier experiencia personalizada.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7" name="Google Shape;1127;p29">
            <a:extLst xmlns:a="http://schemas.openxmlformats.org/drawingml/2006/main">
              <a:ext uri="{FF2B5EF4-FFF2-40B4-BE49-F238E27FC236}">
                <a16:creationId xmlns:a16="http://schemas.microsoft.com/office/drawing/2014/main" id="{C0F8C4F0-C449-42B7-B8A9-967DA827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4184" y="2670048"/>
            <a:ext cx="25877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64" name="Google Shape;1128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b627f685654b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245352" y="2871216"/>
            <a:ext cx="256032" cy="256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9" name="Google Shape;1129;p29">
            <a:extLst xmlns:a="http://schemas.openxmlformats.org/drawingml/2006/main">
              <a:ext uri="{FF2B5EF4-FFF2-40B4-BE49-F238E27FC236}">
                <a16:creationId xmlns:a16="http://schemas.microsoft.com/office/drawing/2014/main" id="{D10B5D6D-ECF7-464F-A4B4-7B2B330B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2824" y="2843784"/>
            <a:ext cx="185623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Módulo de enseñanza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0" name="Google Shape;1130;p29">
            <a:extLst xmlns:a="http://schemas.openxmlformats.org/drawingml/2006/main">
              <a:ext uri="{FF2B5EF4-FFF2-40B4-BE49-F238E27FC236}">
                <a16:creationId xmlns:a16="http://schemas.microsoft.com/office/drawing/2014/main" id="{F84398F5-497F-4E3E-926D-8AF58A08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5352" y="3236976"/>
            <a:ext cx="2185416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Lecciones guiadas con práctica frente a la cámara y retroalimentación inmediata.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42753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46" name="Google Shape;1136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173a4e710d4f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7" name="Google Shape;1137;p31">
            <a:extLst xmlns:a="http://schemas.openxmlformats.org/drawingml/2006/main">
              <a:ext uri="{FF2B5EF4-FFF2-40B4-BE49-F238E27FC236}">
                <a16:creationId xmlns:a16="http://schemas.microsoft.com/office/drawing/2014/main" id="{3CCB034D-0035-423C-9BC1-0F27C5EF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8" name="Google Shape;1138;p31">
            <a:extLst xmlns:a="http://schemas.openxmlformats.org/drawingml/2006/main">
              <a:ext uri="{FF2B5EF4-FFF2-40B4-BE49-F238E27FC236}">
                <a16:creationId xmlns:a16="http://schemas.microsoft.com/office/drawing/2014/main" id="{0F3EBFD2-2FEE-4451-82A7-D002DF4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49" name="Google Shape;1139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173a4e710d4f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3400" y="731520"/>
            <a:ext cx="4572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40" name="Google Shape;1140;p31">
            <a:extLst xmlns:a="http://schemas.openxmlformats.org/drawingml/2006/main">
              <a:ext uri="{FF2B5EF4-FFF2-40B4-BE49-F238E27FC236}">
                <a16:creationId xmlns:a16="http://schemas.microsoft.com/office/drawing/2014/main" id="{2BE653AB-64CA-4BBF-874B-89421339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400"/>
              <a:buFont typeface="Cambria"/>
              <a:buNone/>
            </a:pPr>
            <a:r>
              <a:rPr sz="34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POJOAJU</a:t>
            </a:r>
            <a:endParaRPr sz="3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1" name="Google Shape;1141;p31">
            <a:extLst xmlns:a="http://schemas.openxmlformats.org/drawingml/2006/main">
              <a:ext uri="{FF2B5EF4-FFF2-40B4-BE49-F238E27FC236}">
                <a16:creationId xmlns:a16="http://schemas.microsoft.com/office/drawing/2014/main" id="{BB86B64C-5048-4B77-8006-9B86548E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284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Una respuesta concreta a un problema social real, construida sobre una base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técnica prolija, probada y pensada para crecer.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2" name="Google Shape;1142;p31">
            <a:extLst xmlns:a="http://schemas.openxmlformats.org/drawingml/2006/main">
              <a:ext uri="{FF2B5EF4-FFF2-40B4-BE49-F238E27FC236}">
                <a16:creationId xmlns:a16="http://schemas.microsoft.com/office/drawing/2014/main" id="{A8CC471B-80F0-4E9D-A808-1658A684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779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¿Preguntas?</a:t>
            </a:r>
            <a:endParaRPr sz="1600" b="0" i="0" u="none" cap="none">
              <a:solidFill>
                <a:schemeClr val="dk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143" name="Google Shape;1143;p31">
            <a:extLst xmlns:a="http://schemas.openxmlformats.org/drawingml/2006/main">
              <a:ext uri="{FF2B5EF4-FFF2-40B4-BE49-F238E27FC236}">
                <a16:creationId xmlns:a16="http://schemas.microsoft.com/office/drawing/2014/main" id="{1F80BCFE-DFB5-411F-B02A-51C4FBEF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Valentina María Cano López  ·  Sergio Nicolás Espinola Bogado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Orientador: Prof. MSc. Luis Gilberto Salinas  —  FP-UNA, 2026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42405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1" name="Google Shape;108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f911d86ece49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34">
            <a:extLst xmlns:a="http://schemas.openxmlformats.org/drawingml/2006/main">
              <a:ext uri="{FF2B5EF4-FFF2-40B4-BE49-F238E27FC236}">
                <a16:creationId xmlns:a16="http://schemas.microsoft.com/office/drawing/2014/main" id="{C2344C17-01E8-4F0A-B727-DC3AA688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Marco legal e institucional en Paraguay</a:t>
            </a:r>
            <a:endParaRPr sz="260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10" name="Google Shape;110;p34">
            <a:extLst xmlns:a="http://schemas.openxmlformats.org/drawingml/2006/main">
              <a:ext uri="{FF2B5EF4-FFF2-40B4-BE49-F238E27FC236}">
                <a16:creationId xmlns:a16="http://schemas.microsoft.com/office/drawing/2014/main" id="{CD6374E3-E3A3-4165-883B-2098573A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 reconocimiento reciente, apoyado sobre una base normativa más amplia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34">
            <a:extLst xmlns:a="http://schemas.openxmlformats.org/drawingml/2006/main">
              <a:ext uri="{FF2B5EF4-FFF2-40B4-BE49-F238E27FC236}">
                <a16:creationId xmlns:a16="http://schemas.microsoft.com/office/drawing/2014/main" id="{76E2990F-E638-4C6A-8C14-07A23C35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34">
            <a:extLst xmlns:a="http://schemas.openxmlformats.org/drawingml/2006/main">
              <a:ext uri="{FF2B5EF4-FFF2-40B4-BE49-F238E27FC236}">
                <a16:creationId xmlns:a16="http://schemas.microsoft.com/office/drawing/2014/main" id="{0CE23820-008F-465F-95C5-12924A7B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81381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34">
            <a:extLst xmlns:a="http://schemas.openxmlformats.org/drawingml/2006/main">
              <a:ext uri="{FF2B5EF4-FFF2-40B4-BE49-F238E27FC236}">
                <a16:creationId xmlns:a16="http://schemas.microsoft.com/office/drawing/2014/main" id="{89CBFE25-677D-4E4E-96E5-3F51CD58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188720"/>
            <a:ext cx="75895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Ley N.° 6530/2020 — Reconocimiento de la LSPy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34">
            <a:extLst xmlns:a="http://schemas.openxmlformats.org/drawingml/2006/main">
              <a:ext uri="{FF2B5EF4-FFF2-40B4-BE49-F238E27FC236}">
                <a16:creationId xmlns:a16="http://schemas.microsoft.com/office/drawing/2014/main" id="{F1BCE37B-361B-423F-A43A-2B62873A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517904"/>
            <a:ext cx="7626096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Establece la LSPy como medio de comunicación, instrucción y promoción de la identidad cultural de las personas sordas. Obliga a los organismos estatales y privados que prestan servicios públicos a contar con intérpretes.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34">
            <a:extLst xmlns:a="http://schemas.openxmlformats.org/drawingml/2006/main">
              <a:ext uri="{FF2B5EF4-FFF2-40B4-BE49-F238E27FC236}">
                <a16:creationId xmlns:a16="http://schemas.microsoft.com/office/drawing/2014/main" id="{34653350-5706-4D61-819B-06EAB818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39696"/>
            <a:ext cx="7626096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El reconocimiento llegó once años después del primer intento de integrarla en lo educativo.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34">
            <a:extLst xmlns:a="http://schemas.openxmlformats.org/drawingml/2006/main">
              <a:ext uri="{FF2B5EF4-FFF2-40B4-BE49-F238E27FC236}">
                <a16:creationId xmlns:a16="http://schemas.microsoft.com/office/drawing/2014/main" id="{90D3F41F-BB4C-4FF2-9A73-9BA1E9AA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1920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34">
            <a:extLst xmlns:a="http://schemas.openxmlformats.org/drawingml/2006/main">
              <a:ext uri="{FF2B5EF4-FFF2-40B4-BE49-F238E27FC236}">
                <a16:creationId xmlns:a16="http://schemas.microsoft.com/office/drawing/2014/main" id="{A19DAC3A-A653-4138-8C8A-326B3CF7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688336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Res. MEC 43/2009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34">
            <a:extLst xmlns:a="http://schemas.openxmlformats.org/drawingml/2006/main">
              <a:ext uri="{FF2B5EF4-FFF2-40B4-BE49-F238E27FC236}">
                <a16:creationId xmlns:a16="http://schemas.microsoft.com/office/drawing/2014/main" id="{718CDB49-7E09-4A58-B6AF-15C8AE12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980944"/>
            <a:ext cx="1591056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Dispuso el uso de la lengua de señas en instituciones educativas públicas y privadas.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34">
            <a:extLst xmlns:a="http://schemas.openxmlformats.org/drawingml/2006/main">
              <a:ext uri="{FF2B5EF4-FFF2-40B4-BE49-F238E27FC236}">
                <a16:creationId xmlns:a16="http://schemas.microsoft.com/office/drawing/2014/main" id="{1797BE45-AF00-4528-9E28-E386A564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90" y="2560320"/>
            <a:ext cx="1920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34">
            <a:extLst xmlns:a="http://schemas.openxmlformats.org/drawingml/2006/main">
              <a:ext uri="{FF2B5EF4-FFF2-40B4-BE49-F238E27FC236}">
                <a16:creationId xmlns:a16="http://schemas.microsoft.com/office/drawing/2014/main" id="{49A3629C-292D-4389-A1EF-166449CF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182" y="2688336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Ley N.° 3585/2008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34">
            <a:extLst xmlns:a="http://schemas.openxmlformats.org/drawingml/2006/main">
              <a:ext uri="{FF2B5EF4-FFF2-40B4-BE49-F238E27FC236}">
                <a16:creationId xmlns:a16="http://schemas.microsoft.com/office/drawing/2014/main" id="{C21BEBBD-838C-47E2-A4BD-4B7A124C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182" y="2980944"/>
            <a:ext cx="1591056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Fija condiciones de accesibilidad en espacios públicos y privados.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34">
            <a:extLst xmlns:a="http://schemas.openxmlformats.org/drawingml/2006/main">
              <a:ext uri="{FF2B5EF4-FFF2-40B4-BE49-F238E27FC236}">
                <a16:creationId xmlns:a16="http://schemas.microsoft.com/office/drawing/2014/main" id="{D98CFA62-F48F-4B69-8B04-8F43CD4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61" y="2560320"/>
            <a:ext cx="1920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34">
            <a:extLst xmlns:a="http://schemas.openxmlformats.org/drawingml/2006/main">
              <a:ext uri="{FF2B5EF4-FFF2-40B4-BE49-F238E27FC236}">
                <a16:creationId xmlns:a16="http://schemas.microsoft.com/office/drawing/2014/main" id="{8D893CE9-A28F-4E94-93EF-D78714FB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53" y="2688336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Ley N.° 4251/2010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34">
            <a:extLst xmlns:a="http://schemas.openxmlformats.org/drawingml/2006/main">
              <a:ext uri="{FF2B5EF4-FFF2-40B4-BE49-F238E27FC236}">
                <a16:creationId xmlns:a16="http://schemas.microsoft.com/office/drawing/2014/main" id="{2C89653D-D354-43DD-8D6D-7EB205CD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53" y="2980944"/>
            <a:ext cx="1591056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Ley de Lenguas: reconoce la diversidad lingüística del país, incluida la comunicación viso-gestual.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34">
            <a:extLst xmlns:a="http://schemas.openxmlformats.org/drawingml/2006/main">
              <a:ext uri="{FF2B5EF4-FFF2-40B4-BE49-F238E27FC236}">
                <a16:creationId xmlns:a16="http://schemas.microsoft.com/office/drawing/2014/main" id="{2574EFEB-C247-40C3-994B-C1FE355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31" y="2560320"/>
            <a:ext cx="1920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34">
            <a:extLst xmlns:a="http://schemas.openxmlformats.org/drawingml/2006/main">
              <a:ext uri="{FF2B5EF4-FFF2-40B4-BE49-F238E27FC236}">
                <a16:creationId xmlns:a16="http://schemas.microsoft.com/office/drawing/2014/main" id="{F094F906-9BAB-4BF6-ADC4-E1EFF25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523" y="2688336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Ley N.° 2479/2004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34">
            <a:extLst xmlns:a="http://schemas.openxmlformats.org/drawingml/2006/main">
              <a:ext uri="{FF2B5EF4-FFF2-40B4-BE49-F238E27FC236}">
                <a16:creationId xmlns:a16="http://schemas.microsoft.com/office/drawing/2014/main" id="{A53732C4-2C92-4C5A-8A94-E3950134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523" y="2980944"/>
            <a:ext cx="1591056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Estipula un cupo del 2 % en los empleos públicos para personas con discapacidad.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34">
            <a:extLst xmlns:a="http://schemas.openxmlformats.org/drawingml/2006/main">
              <a:ext uri="{FF2B5EF4-FFF2-40B4-BE49-F238E27FC236}">
                <a16:creationId xmlns:a16="http://schemas.microsoft.com/office/drawing/2014/main" id="{373BBDB7-0BD7-40B9-B7CD-C265589A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68496"/>
            <a:ext cx="813816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Hay una brecha entre el reconocimiento legal de la LSPy y la disponibilidad de herramientas que permitan aplicarla en la vida diaria. Esa brecha es el punto de partida de este proyecto.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34">
            <a:extLst xmlns:a="http://schemas.openxmlformats.org/drawingml/2006/main">
              <a:ext uri="{FF2B5EF4-FFF2-40B4-BE49-F238E27FC236}">
                <a16:creationId xmlns:a16="http://schemas.microsoft.com/office/drawing/2014/main" id="{71DC5D4C-02A7-4E12-93EC-6E32AF95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31184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1" name="Google Shape;651;p18">
            <a:extLst xmlns:a="http://schemas.openxmlformats.org/drawingml/2006/main">
              <a:ext uri="{FF2B5EF4-FFF2-40B4-BE49-F238E27FC236}">
                <a16:creationId xmlns:a16="http://schemas.microsoft.com/office/drawing/2014/main" id="{5F8F172A-1165-47FC-BD62-8E4E988E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Stack tecnológico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2" name="Google Shape;652;p18">
            <a:extLst xmlns:a="http://schemas.openxmlformats.org/drawingml/2006/main">
              <a:ext uri="{FF2B5EF4-FFF2-40B4-BE49-F238E27FC236}">
                <a16:creationId xmlns:a16="http://schemas.microsoft.com/office/drawing/2014/main" id="{8F823678-4BF9-46DD-B3C5-DCEDE139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Python 3.10 de punta a punta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01" name="Google Shape;65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ed25d7e80a47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4" name="Google Shape;654;p18">
            <a:extLst xmlns:a="http://schemas.openxmlformats.org/drawingml/2006/main">
              <a:ext uri="{FF2B5EF4-FFF2-40B4-BE49-F238E27FC236}">
                <a16:creationId xmlns:a16="http://schemas.microsoft.com/office/drawing/2014/main" id="{DD24911D-4AAD-4168-9972-99FD23A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5" name="Google Shape;655;p18">
            <a:extLst xmlns:a="http://schemas.openxmlformats.org/drawingml/2006/main">
              <a:ext uri="{FF2B5EF4-FFF2-40B4-BE49-F238E27FC236}">
                <a16:creationId xmlns:a16="http://schemas.microsoft.com/office/drawing/2014/main" id="{779966D6-CDD5-4EDC-A8A4-4300CD38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6" name="Google Shape;656;p18">
            <a:extLst xmlns:a="http://schemas.openxmlformats.org/drawingml/2006/main">
              <a:ext uri="{FF2B5EF4-FFF2-40B4-BE49-F238E27FC236}">
                <a16:creationId xmlns:a16="http://schemas.microsoft.com/office/drawing/2014/main" id="{C11B3B03-6FFA-4BC1-AA26-41A954E3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8138160" cy="46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5" name="Google Shape;65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e34c2041a7451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1216152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8" name="Google Shape;658;p18">
            <a:extLst xmlns:a="http://schemas.openxmlformats.org/drawingml/2006/main">
              <a:ext uri="{FF2B5EF4-FFF2-40B4-BE49-F238E27FC236}">
                <a16:creationId xmlns:a16="http://schemas.microsoft.com/office/drawing/2014/main" id="{0801F949-5A08-443A-B647-7F826C2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97280"/>
            <a:ext cx="19202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Interfaz web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9" name="Google Shape;659;p18">
            <a:extLst xmlns:a="http://schemas.openxmlformats.org/drawingml/2006/main">
              <a:ext uri="{FF2B5EF4-FFF2-40B4-BE49-F238E27FC236}">
                <a16:creationId xmlns:a16="http://schemas.microsoft.com/office/drawing/2014/main" id="{A65EA61D-FE36-4C4A-AA89-E73C24A2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097280"/>
            <a:ext cx="23774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Flask 3.0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0" name="Google Shape;660;p18">
            <a:extLst xmlns:a="http://schemas.openxmlformats.org/drawingml/2006/main">
              <a:ext uri="{FF2B5EF4-FFF2-40B4-BE49-F238E27FC236}">
                <a16:creationId xmlns:a16="http://schemas.microsoft.com/office/drawing/2014/main" id="{74499DEC-AA6B-4AD0-8F01-33EA0D4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097280"/>
            <a:ext cx="301752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Rutas, vistas y streaming de video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1" name="Google Shape;661;p18">
            <a:extLst xmlns:a="http://schemas.openxmlformats.org/drawingml/2006/main">
              <a:ext uri="{FF2B5EF4-FFF2-40B4-BE49-F238E27FC236}">
                <a16:creationId xmlns:a16="http://schemas.microsoft.com/office/drawing/2014/main" id="{61839232-23CF-43A5-83D2-C9470368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95628"/>
            <a:ext cx="8138160" cy="46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10" name="Google Shape;662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e61bd23edc4c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171450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63" name="Google Shape;663;p18">
            <a:extLst xmlns:a="http://schemas.openxmlformats.org/drawingml/2006/main">
              <a:ext uri="{FF2B5EF4-FFF2-40B4-BE49-F238E27FC236}">
                <a16:creationId xmlns:a16="http://schemas.microsoft.com/office/drawing/2014/main" id="{BDD48206-959F-43E7-9C05-F93F3CE8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595628"/>
            <a:ext cx="19202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Base de datos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4" name="Google Shape;664;p18">
            <a:extLst xmlns:a="http://schemas.openxmlformats.org/drawingml/2006/main">
              <a:ext uri="{FF2B5EF4-FFF2-40B4-BE49-F238E27FC236}">
                <a16:creationId xmlns:a16="http://schemas.microsoft.com/office/drawing/2014/main" id="{4DE5DD50-49D3-4215-A74C-BAF95EE6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595628"/>
            <a:ext cx="23774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PostgreSQL + psycopg2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5" name="Google Shape;665;p18">
            <a:extLst xmlns:a="http://schemas.openxmlformats.org/drawingml/2006/main">
              <a:ext uri="{FF2B5EF4-FFF2-40B4-BE49-F238E27FC236}">
                <a16:creationId xmlns:a16="http://schemas.microsoft.com/office/drawing/2014/main" id="{B0BB72AE-B174-4306-815F-57486564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95628"/>
            <a:ext cx="301752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Palabras, muestras y keypoints (JSONB)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6" name="Google Shape;666;p18">
            <a:extLst xmlns:a="http://schemas.openxmlformats.org/drawingml/2006/main">
              <a:ext uri="{FF2B5EF4-FFF2-40B4-BE49-F238E27FC236}">
                <a16:creationId xmlns:a16="http://schemas.microsoft.com/office/drawing/2014/main" id="{CE337BA4-7081-48A7-B958-5CC5F6F2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93976"/>
            <a:ext cx="8138160" cy="46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15" name="Google Shape;66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83de807b4849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212848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68" name="Google Shape;668;p18">
            <a:extLst xmlns:a="http://schemas.openxmlformats.org/drawingml/2006/main">
              <a:ext uri="{FF2B5EF4-FFF2-40B4-BE49-F238E27FC236}">
                <a16:creationId xmlns:a16="http://schemas.microsoft.com/office/drawing/2014/main" id="{CD664440-F04D-483D-9AD5-8E863452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93976"/>
            <a:ext cx="19202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Visión por computadora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9" name="Google Shape;669;p18">
            <a:extLst xmlns:a="http://schemas.openxmlformats.org/drawingml/2006/main">
              <a:ext uri="{FF2B5EF4-FFF2-40B4-BE49-F238E27FC236}">
                <a16:creationId xmlns:a16="http://schemas.microsoft.com/office/drawing/2014/main" id="{76B68E1A-B836-4348-8C9E-62E6F313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93976"/>
            <a:ext cx="23774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MediaPipe 0.10 + OpenCV 4.9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0" name="Google Shape;670;p18">
            <a:extLst xmlns:a="http://schemas.openxmlformats.org/drawingml/2006/main">
              <a:ext uri="{FF2B5EF4-FFF2-40B4-BE49-F238E27FC236}">
                <a16:creationId xmlns:a16="http://schemas.microsoft.com/office/drawing/2014/main" id="{B6538489-422F-4E28-AF6C-7345ECD9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93976"/>
            <a:ext cx="301752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Extracción de puntos clave y procesamiento de video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1" name="Google Shape;671;p18">
            <a:extLst xmlns:a="http://schemas.openxmlformats.org/drawingml/2006/main">
              <a:ext uri="{FF2B5EF4-FFF2-40B4-BE49-F238E27FC236}">
                <a16:creationId xmlns:a16="http://schemas.microsoft.com/office/drawing/2014/main" id="{B80C4930-C948-468E-9C3D-C34CA934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92324"/>
            <a:ext cx="8138160" cy="46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20" name="Google Shape;672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4a549a882a4dd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711196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73" name="Google Shape;673;p18">
            <a:extLst xmlns:a="http://schemas.openxmlformats.org/drawingml/2006/main">
              <a:ext uri="{FF2B5EF4-FFF2-40B4-BE49-F238E27FC236}">
                <a16:creationId xmlns:a16="http://schemas.microsoft.com/office/drawing/2014/main" id="{BC3A6BC1-4ED9-4DE7-A51B-19639C5A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92324"/>
            <a:ext cx="19202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Aprendizaje automático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4" name="Google Shape;674;p18">
            <a:extLst xmlns:a="http://schemas.openxmlformats.org/drawingml/2006/main">
              <a:ext uri="{FF2B5EF4-FFF2-40B4-BE49-F238E27FC236}">
                <a16:creationId xmlns:a16="http://schemas.microsoft.com/office/drawing/2014/main" id="{FE9FBE68-1F81-422A-8D84-3E69809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92324"/>
            <a:ext cx="23774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TensorFlow/Keras + scikit-learn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5" name="Google Shape;675;p18">
            <a:extLst xmlns:a="http://schemas.openxmlformats.org/drawingml/2006/main">
              <a:ext uri="{FF2B5EF4-FFF2-40B4-BE49-F238E27FC236}">
                <a16:creationId xmlns:a16="http://schemas.microsoft.com/office/drawing/2014/main" id="{553B7C75-8400-47F3-8A3F-60F939B8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2324"/>
            <a:ext cx="301752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Arquitectura, entrenamiento y evaluación del LSTM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6" name="Google Shape;676;p18">
            <a:extLst xmlns:a="http://schemas.openxmlformats.org/drawingml/2006/main">
              <a:ext uri="{FF2B5EF4-FFF2-40B4-BE49-F238E27FC236}">
                <a16:creationId xmlns:a16="http://schemas.microsoft.com/office/drawing/2014/main" id="{19B8C5B2-1C3B-421B-978C-F681BEB1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90672"/>
            <a:ext cx="8138160" cy="46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25" name="Google Shape;67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191cb8498e47e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3209544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78" name="Google Shape;678;p18">
            <a:extLst xmlns:a="http://schemas.openxmlformats.org/drawingml/2006/main">
              <a:ext uri="{FF2B5EF4-FFF2-40B4-BE49-F238E27FC236}">
                <a16:creationId xmlns:a16="http://schemas.microsoft.com/office/drawing/2014/main" id="{F70BA486-0CF9-4BB8-A935-5849B482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90672"/>
            <a:ext cx="19202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IA generativa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9" name="Google Shape;679;p18">
            <a:extLst xmlns:a="http://schemas.openxmlformats.org/drawingml/2006/main">
              <a:ext uri="{FF2B5EF4-FFF2-40B4-BE49-F238E27FC236}">
                <a16:creationId xmlns:a16="http://schemas.microsoft.com/office/drawing/2014/main" id="{69608BE8-F194-4213-AC1C-F17B2D1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90672"/>
            <a:ext cx="23774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Gemini 2.5 Flash Lite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0" name="Google Shape;680;p18">
            <a:extLst xmlns:a="http://schemas.openxmlformats.org/drawingml/2006/main">
              <a:ext uri="{FF2B5EF4-FFF2-40B4-BE49-F238E27FC236}">
                <a16:creationId xmlns:a16="http://schemas.microsoft.com/office/drawing/2014/main" id="{BD6119C6-2917-4159-BEA1-50B32ACB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90672"/>
            <a:ext cx="301752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Traducción gramatical bidireccional de frases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1" name="Google Shape;681;p18">
            <a:extLst xmlns:a="http://schemas.openxmlformats.org/drawingml/2006/main">
              <a:ext uri="{FF2B5EF4-FFF2-40B4-BE49-F238E27FC236}">
                <a16:creationId xmlns:a16="http://schemas.microsoft.com/office/drawing/2014/main" id="{546F1BA2-2835-4445-9F85-80490355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9020"/>
            <a:ext cx="8138160" cy="46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30" name="Google Shape;682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2560b2b48845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3707892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3" name="Google Shape;683;p18">
            <a:extLst xmlns:a="http://schemas.openxmlformats.org/drawingml/2006/main">
              <a:ext uri="{FF2B5EF4-FFF2-40B4-BE49-F238E27FC236}">
                <a16:creationId xmlns:a16="http://schemas.microsoft.com/office/drawing/2014/main" id="{A68B78EE-54A7-4D64-BF0F-7FC21DBD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89020"/>
            <a:ext cx="19202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Audio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4" name="Google Shape;684;p18">
            <a:extLst xmlns:a="http://schemas.openxmlformats.org/drawingml/2006/main">
              <a:ext uri="{FF2B5EF4-FFF2-40B4-BE49-F238E27FC236}">
                <a16:creationId xmlns:a16="http://schemas.microsoft.com/office/drawing/2014/main" id="{B96C9592-9E68-449F-A302-BF5530C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589020"/>
            <a:ext cx="23774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pyttsx3 + Web Speech API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5" name="Google Shape;685;p18">
            <a:extLst xmlns:a="http://schemas.openxmlformats.org/drawingml/2006/main">
              <a:ext uri="{FF2B5EF4-FFF2-40B4-BE49-F238E27FC236}">
                <a16:creationId xmlns:a16="http://schemas.microsoft.com/office/drawing/2014/main" id="{73CBE037-23EF-4227-A0AA-74759B5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89020"/>
            <a:ext cx="301752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Texto a voz local; reconocimiento de voz del navegador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6" name="Google Shape;686;p18">
            <a:extLst xmlns:a="http://schemas.openxmlformats.org/drawingml/2006/main">
              <a:ext uri="{FF2B5EF4-FFF2-40B4-BE49-F238E27FC236}">
                <a16:creationId xmlns:a16="http://schemas.microsoft.com/office/drawing/2014/main" id="{F2234B88-B5E8-4452-BA82-B75C13EF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87368"/>
            <a:ext cx="8138160" cy="46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35" name="Google Shape;68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605689752846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420624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8" name="Google Shape;688;p18">
            <a:extLst xmlns:a="http://schemas.openxmlformats.org/drawingml/2006/main">
              <a:ext uri="{FF2B5EF4-FFF2-40B4-BE49-F238E27FC236}">
                <a16:creationId xmlns:a16="http://schemas.microsoft.com/office/drawing/2014/main" id="{31A623D9-7A01-48C8-945B-A85CD4AE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87368"/>
            <a:ext cx="19202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Calidad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9" name="Google Shape;689;p18">
            <a:extLst xmlns:a="http://schemas.openxmlformats.org/drawingml/2006/main">
              <a:ext uri="{FF2B5EF4-FFF2-40B4-BE49-F238E27FC236}">
                <a16:creationId xmlns:a16="http://schemas.microsoft.com/office/drawing/2014/main" id="{42878949-D02C-4AA0-BA14-FA7C5DFF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087368"/>
            <a:ext cx="237744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pytest · black · pyflakes · Sphinx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0" name="Google Shape;690;p18">
            <a:extLst xmlns:a="http://schemas.openxmlformats.org/drawingml/2006/main">
              <a:ext uri="{FF2B5EF4-FFF2-40B4-BE49-F238E27FC236}">
                <a16:creationId xmlns:a16="http://schemas.microsoft.com/office/drawing/2014/main" id="{5B345F22-6F21-47AE-932A-FE8991D7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87368"/>
            <a:ext cx="301752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Pruebas automatizadas, formateo y documentación técnica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3884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6" name="Google Shape;696;p19">
            <a:extLst xmlns:a="http://schemas.openxmlformats.org/drawingml/2006/main">
              <a:ext uri="{FF2B5EF4-FFF2-40B4-BE49-F238E27FC236}">
                <a16:creationId xmlns:a16="http://schemas.microsoft.com/office/drawing/2014/main" id="{212980B9-D466-4938-82BD-90A768E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Modelo de datos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7" name="Google Shape;697;p19">
            <a:extLst xmlns:a="http://schemas.openxmlformats.org/drawingml/2006/main">
              <a:ext uri="{FF2B5EF4-FFF2-40B4-BE49-F238E27FC236}">
                <a16:creationId xmlns:a16="http://schemas.microsoft.com/office/drawing/2014/main" id="{3A1ADC78-A706-44AA-9EA4-D853E51E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Una categoría agrupa palabras, cada palabra tiene muestras y cada muestra tiene frames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36" name="Google Shape;69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00797d0cec4de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99" name="Google Shape;699;p19">
            <a:extLst xmlns:a="http://schemas.openxmlformats.org/drawingml/2006/main">
              <a:ext uri="{FF2B5EF4-FFF2-40B4-BE49-F238E27FC236}">
                <a16:creationId xmlns:a16="http://schemas.microsoft.com/office/drawing/2014/main" id="{156B9528-A3CC-428F-A480-6625927A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0" name="Google Shape;700;p19">
            <a:extLst xmlns:a="http://schemas.openxmlformats.org/drawingml/2006/main">
              <a:ext uri="{FF2B5EF4-FFF2-40B4-BE49-F238E27FC236}">
                <a16:creationId xmlns:a16="http://schemas.microsoft.com/office/drawing/2014/main" id="{232B25D3-0A03-4D7F-A055-3208B9F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2" name="Google Shape;702;p19">
            <a:extLst xmlns:a="http://schemas.openxmlformats.org/drawingml/2006/main">
              <a:ext uri="{FF2B5EF4-FFF2-40B4-BE49-F238E27FC236}">
                <a16:creationId xmlns:a16="http://schemas.microsoft.com/office/drawing/2014/main" id="{3043CEFA-6F22-4D9B-9680-21BE6795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097280"/>
            <a:ext cx="18288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 w="12700" cmpd="sng">
            <a:solidFill>
              <a:srgbClr val="F3F4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3" name="Google Shape;703;p19">
            <a:extLst xmlns:a="http://schemas.openxmlformats.org/drawingml/2006/main">
              <a:ext uri="{FF2B5EF4-FFF2-40B4-BE49-F238E27FC236}">
                <a16:creationId xmlns:a16="http://schemas.microsoft.com/office/drawing/2014/main" id="{F1A34F51-2F87-4EBC-BA31-E8D61AA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17043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312E81"/>
                </a:solidFill>
                <a:latin typeface="Courier New"/>
                <a:ea typeface="Courier New"/>
                <a:cs typeface="Courier New"/>
              </a:rPr>
              <a:t>categories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4" name="Google Shape;704;p19">
            <a:extLst xmlns:a="http://schemas.openxmlformats.org/drawingml/2006/main">
              <a:ext uri="{FF2B5EF4-FFF2-40B4-BE49-F238E27FC236}">
                <a16:creationId xmlns:a16="http://schemas.microsoft.com/office/drawing/2014/main" id="{D984511A-C846-4979-BBFF-294C0332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072" y="1444752"/>
            <a:ext cx="168249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categorías temáticas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6" name="Google Shape;706;p19">
            <a:extLst xmlns:a="http://schemas.openxmlformats.org/drawingml/2006/main">
              <a:ext uri="{FF2B5EF4-FFF2-40B4-BE49-F238E27FC236}">
                <a16:creationId xmlns:a16="http://schemas.microsoft.com/office/drawing/2014/main" id="{894CD3F7-DEE8-48D5-9D0E-81BE8004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1720" y="1097280"/>
            <a:ext cx="2743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1:N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7" name="Google Shape;707;p19">
            <a:extLst xmlns:a="http://schemas.openxmlformats.org/drawingml/2006/main">
              <a:ext uri="{FF2B5EF4-FFF2-40B4-BE49-F238E27FC236}">
                <a16:creationId xmlns:a16="http://schemas.microsoft.com/office/drawing/2014/main" id="{F95BCE96-B020-433D-A506-2F28E0D4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6040" y="1097280"/>
            <a:ext cx="18288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8" name="Google Shape;708;p19">
            <a:extLst xmlns:a="http://schemas.openxmlformats.org/drawingml/2006/main">
              <a:ext uri="{FF2B5EF4-FFF2-40B4-BE49-F238E27FC236}">
                <a16:creationId xmlns:a16="http://schemas.microsoft.com/office/drawing/2014/main" id="{D5C528EE-B434-4D51-A9BA-68D362AC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6040" y="117043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312E81"/>
                </a:solidFill>
                <a:latin typeface="Courier New"/>
                <a:ea typeface="Courier New"/>
                <a:cs typeface="Courier New"/>
              </a:rPr>
              <a:t>words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9" name="Google Shape;709;p19">
            <a:extLst xmlns:a="http://schemas.openxmlformats.org/drawingml/2006/main">
              <a:ext uri="{FF2B5EF4-FFF2-40B4-BE49-F238E27FC236}">
                <a16:creationId xmlns:a16="http://schemas.microsoft.com/office/drawing/2014/main" id="{274A8536-C828-46E0-A534-ED04A19B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79192" y="1444752"/>
            <a:ext cx="168249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word_id = SHA-256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1" name="Google Shape;711;p19">
            <a:extLst xmlns:a="http://schemas.openxmlformats.org/drawingml/2006/main">
              <a:ext uri="{FF2B5EF4-FFF2-40B4-BE49-F238E27FC236}">
                <a16:creationId xmlns:a16="http://schemas.microsoft.com/office/drawing/2014/main" id="{23B42F39-8FAE-4413-A042-B17C47D5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4840" y="1097280"/>
            <a:ext cx="2743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1:N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2" name="Google Shape;712;p19">
            <a:extLst xmlns:a="http://schemas.openxmlformats.org/drawingml/2006/main">
              <a:ext uri="{FF2B5EF4-FFF2-40B4-BE49-F238E27FC236}">
                <a16:creationId xmlns:a16="http://schemas.microsoft.com/office/drawing/2014/main" id="{7EA6986D-E524-4A27-8835-C2660A2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9160" y="1097280"/>
            <a:ext cx="18288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3" name="Google Shape;713;p19">
            <a:extLst xmlns:a="http://schemas.openxmlformats.org/drawingml/2006/main">
              <a:ext uri="{FF2B5EF4-FFF2-40B4-BE49-F238E27FC236}">
                <a16:creationId xmlns:a16="http://schemas.microsoft.com/office/drawing/2014/main" id="{53A7EDF4-FB7D-4B5B-A099-828173C3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9160" y="117043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312E81"/>
                </a:solidFill>
                <a:latin typeface="Courier New"/>
                <a:ea typeface="Courier New"/>
                <a:cs typeface="Courier New"/>
              </a:rPr>
              <a:t>samples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4" name="Google Shape;714;p19">
            <a:extLst xmlns:a="http://schemas.openxmlformats.org/drawingml/2006/main">
              <a:ext uri="{FF2B5EF4-FFF2-40B4-BE49-F238E27FC236}">
                <a16:creationId xmlns:a16="http://schemas.microsoft.com/office/drawing/2014/main" id="{0EBBEC12-0AB1-4B18-BBC2-C7506CA3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2312" y="1444752"/>
            <a:ext cx="168249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una fila por grabación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7" name="Google Shape;717;p19">
            <a:extLst xmlns:a="http://schemas.openxmlformats.org/drawingml/2006/main">
              <a:ext uri="{FF2B5EF4-FFF2-40B4-BE49-F238E27FC236}">
                <a16:creationId xmlns:a16="http://schemas.microsoft.com/office/drawing/2014/main" id="{4F9F3B85-7679-43A6-BCA5-02CF4938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7960" y="1097280"/>
            <a:ext cx="2743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99B4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9599B4"/>
                </a:solidFill>
                <a:latin typeface="Calibri"/>
                <a:ea typeface="Calibri"/>
                <a:cs typeface="Calibri"/>
              </a:rPr>
              <a:t>1:N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8" name="Google Shape;718;p19">
            <a:extLst xmlns:a="http://schemas.openxmlformats.org/drawingml/2006/main">
              <a:ext uri="{FF2B5EF4-FFF2-40B4-BE49-F238E27FC236}">
                <a16:creationId xmlns:a16="http://schemas.microsoft.com/office/drawing/2014/main" id="{8D199849-B175-43DC-B636-ACF1C67C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2280" y="1097280"/>
            <a:ext cx="18288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9" name="Google Shape;719;p19">
            <a:extLst xmlns:a="http://schemas.openxmlformats.org/drawingml/2006/main">
              <a:ext uri="{FF2B5EF4-FFF2-40B4-BE49-F238E27FC236}">
                <a16:creationId xmlns:a16="http://schemas.microsoft.com/office/drawing/2014/main" id="{FC4F4430-9A8C-4FA6-803A-84946EA6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2280" y="117043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312E81"/>
                </a:solidFill>
                <a:latin typeface="Courier New"/>
                <a:ea typeface="Courier New"/>
                <a:cs typeface="Courier New"/>
              </a:rPr>
              <a:t>keypoints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0" name="Google Shape;720;p19">
            <a:extLst xmlns:a="http://schemas.openxmlformats.org/drawingml/2006/main">
              <a:ext uri="{FF2B5EF4-FFF2-40B4-BE49-F238E27FC236}">
                <a16:creationId xmlns:a16="http://schemas.microsoft.com/office/drawing/2014/main" id="{07BC7D97-F4D8-44DE-B1F5-CB05B37E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5432" y="1444752"/>
            <a:ext cx="168249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 frame por fila (JSONB)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1" name="Google Shape;721;p19">
            <a:extLst xmlns:a="http://schemas.openxmlformats.org/drawingml/2006/main">
              <a:ext uri="{FF2B5EF4-FFF2-40B4-BE49-F238E27FC236}">
                <a16:creationId xmlns:a16="http://schemas.microsoft.com/office/drawing/2014/main" id="{774AD38C-BFEF-4145-BE51-9CEC18F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1883664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Una relación uno a muchos en cadena: borrar una palabra arrastra sus muestras y sus keypoints.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3" name="Google Shape;723;p19">
            <a:extLst xmlns:a="http://schemas.openxmlformats.org/drawingml/2006/main">
              <a:ext uri="{FF2B5EF4-FFF2-40B4-BE49-F238E27FC236}">
                <a16:creationId xmlns:a16="http://schemas.microsoft.com/office/drawing/2014/main" id="{27DA56DB-CD80-411A-9008-2A676FE3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" y="2331720"/>
            <a:ext cx="397764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6" name="Google Shape;724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1367cda38446d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2376" y="252374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25" name="Google Shape;725;p19">
            <a:extLst xmlns:a="http://schemas.openxmlformats.org/drawingml/2006/main">
              <a:ext uri="{FF2B5EF4-FFF2-40B4-BE49-F238E27FC236}">
                <a16:creationId xmlns:a16="http://schemas.microsoft.com/office/drawing/2014/main" id="{A83A868D-BD45-4284-90CC-C1ACDF64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487168"/>
            <a:ext cx="32004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Identificadores determinísticos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6" name="Google Shape;726;p19">
            <a:extLst xmlns:a="http://schemas.openxmlformats.org/drawingml/2006/main">
              <a:ext uri="{FF2B5EF4-FFF2-40B4-BE49-F238E27FC236}">
                <a16:creationId xmlns:a16="http://schemas.microsoft.com/office/drawing/2014/main" id="{15147889-8681-49B4-805E-AABA7EBB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76" y="2926080"/>
            <a:ext cx="3538728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El word_id es el hash SHA-256 de la palabra: "mamá" produce siempre el mismo identificador en cualquier computadora. Eso permitió exportar e importar muestras entre las bases de los dos integrantes sin reconciliar IDs.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7" name="Google Shape;727;p19">
            <a:extLst xmlns:a="http://schemas.openxmlformats.org/drawingml/2006/main">
              <a:ext uri="{FF2B5EF4-FFF2-40B4-BE49-F238E27FC236}">
                <a16:creationId xmlns:a16="http://schemas.microsoft.com/office/drawing/2014/main" id="{5238BB07-571B-447B-8EB1-3627DC77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40" y="2331720"/>
            <a:ext cx="397764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0" name="Google Shape;72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6290b1fdd64a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82896" y="2523744"/>
            <a:ext cx="274320" cy="274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29" name="Google Shape;729;p19">
            <a:extLst xmlns:a="http://schemas.openxmlformats.org/drawingml/2006/main">
              <a:ext uri="{FF2B5EF4-FFF2-40B4-BE49-F238E27FC236}">
                <a16:creationId xmlns:a16="http://schemas.microsoft.com/office/drawing/2014/main" id="{71E16F2F-A597-4287-AE00-44FA2876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0" y="2487168"/>
            <a:ext cx="32004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Privacidad por diseño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0" name="Google Shape;730;p19">
            <a:extLst xmlns:a="http://schemas.openxmlformats.org/drawingml/2006/main">
              <a:ext uri="{FF2B5EF4-FFF2-40B4-BE49-F238E27FC236}">
                <a16:creationId xmlns:a16="http://schemas.microsoft.com/office/drawing/2014/main" id="{16DD7A25-AC09-4A25-96CB-4C8E31F9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2896" y="2926080"/>
            <a:ext cx="3538728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Tras extraer los puntos clave, los videos se eliminan: la base solo guarda coordenadas numéricas, de las que no se puede reconstruir el rostro ni la apariencia de nadie.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325619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04" name="Google Shape;108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6c5bcd0dcf43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1" name="Shape 902">
            <a:extLst xmlns:a="http://schemas.openxmlformats.org/drawingml/2006/main">
              <a:ext uri="{FF2B5EF4-FFF2-40B4-BE49-F238E27FC236}">
                <a16:creationId xmlns:a16="http://schemas.microsoft.com/office/drawing/2014/main" id="{18856192-4823-4D0E-B830-03C657AA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Capa 1 — LSTM de 48 unidades</a:t>
            </a:r>
            <a:endParaRPr sz="260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3" name="Shape 904">
            <a:extLst xmlns:a="http://schemas.openxmlformats.org/drawingml/2006/main">
              <a:ext uri="{FF2B5EF4-FFF2-40B4-BE49-F238E27FC236}">
                <a16:creationId xmlns:a16="http://schemas.microsoft.com/office/drawing/2014/main" id="{F84EE69A-E999-4D1F-B4B6-D794F187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Lee la seña frame por frame y resume cada frame en 48 rasgos de movimiento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" name="Shape 906">
            <a:extLst xmlns:a="http://schemas.openxmlformats.org/drawingml/2006/main">
              <a:ext uri="{FF2B5EF4-FFF2-40B4-BE49-F238E27FC236}">
                <a16:creationId xmlns:a16="http://schemas.microsoft.com/office/drawing/2014/main" id="{C84DB209-C7F4-4E01-9561-7150157C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" name="Shape 908">
            <a:extLst xmlns:a="http://schemas.openxmlformats.org/drawingml/2006/main">
              <a:ext uri="{FF2B5EF4-FFF2-40B4-BE49-F238E27FC236}">
                <a16:creationId xmlns:a16="http://schemas.microsoft.com/office/drawing/2014/main" id="{8ACB9E1D-29EC-45CA-8DBE-0D1AC6DA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23317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9" name="Shape 910">
            <a:extLst xmlns:a="http://schemas.openxmlformats.org/drawingml/2006/main">
              <a:ext uri="{FF2B5EF4-FFF2-40B4-BE49-F238E27FC236}">
                <a16:creationId xmlns:a16="http://schemas.microsoft.com/office/drawing/2014/main" id="{9A4001E6-1333-441D-BABC-16B7423E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78992"/>
            <a:ext cx="23317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Recibe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1" name="Shape 912">
            <a:extLst xmlns:a="http://schemas.openxmlformats.org/drawingml/2006/main">
              <a:ext uri="{FF2B5EF4-FFF2-40B4-BE49-F238E27FC236}">
                <a16:creationId xmlns:a16="http://schemas.microsoft.com/office/drawing/2014/main" id="{1617E3E8-8AFA-48AC-9C78-BD334178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16736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ourier New"/>
              <a:buNone/>
            </a:pPr>
            <a:r>
              <a:rPr sz="1250" b="1" i="0" u="none" cap="none">
                <a:solidFill>
                  <a:srgbClr val="312E81"/>
                </a:solidFill>
                <a:latin typeface="Courier New"/>
                <a:ea typeface="Courier New"/>
                <a:cs typeface="Courier New"/>
              </a:rPr>
              <a:t>15 × 1.662</a:t>
            </a:r>
            <a:endParaRPr sz="125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13" name="Shape 914">
            <a:extLst xmlns:a="http://schemas.openxmlformats.org/drawingml/2006/main">
              <a:ext uri="{FF2B5EF4-FFF2-40B4-BE49-F238E27FC236}">
                <a16:creationId xmlns:a16="http://schemas.microsoft.com/office/drawing/2014/main" id="{CA840639-A0EF-4F47-B082-96BC4E70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024128"/>
            <a:ext cx="4572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5" name="Shape 916">
            <a:extLst xmlns:a="http://schemas.openxmlformats.org/drawingml/2006/main">
              <a:ext uri="{FF2B5EF4-FFF2-40B4-BE49-F238E27FC236}">
                <a16:creationId xmlns:a16="http://schemas.microsoft.com/office/drawing/2014/main" id="{A90B97D1-F2A2-4D89-B173-39B18C5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024128"/>
            <a:ext cx="2377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9525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7" name="Shape 918">
            <a:extLst xmlns:a="http://schemas.openxmlformats.org/drawingml/2006/main">
              <a:ext uri="{FF2B5EF4-FFF2-40B4-BE49-F238E27FC236}">
                <a16:creationId xmlns:a16="http://schemas.microsoft.com/office/drawing/2014/main" id="{0F723B94-34F4-49FC-8ABB-1C3183D8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024128"/>
            <a:ext cx="23774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LSTM de 48 unidades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9" name="Shape 920">
            <a:extLst xmlns:a="http://schemas.openxmlformats.org/drawingml/2006/main">
              <a:ext uri="{FF2B5EF4-FFF2-40B4-BE49-F238E27FC236}">
                <a16:creationId xmlns:a16="http://schemas.microsoft.com/office/drawing/2014/main" id="{30DBC7D4-C60F-4258-898A-73FC2AED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1024128"/>
            <a:ext cx="4572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1" name="Shape 922">
            <a:extLst xmlns:a="http://schemas.openxmlformats.org/drawingml/2006/main">
              <a:ext uri="{FF2B5EF4-FFF2-40B4-BE49-F238E27FC236}">
                <a16:creationId xmlns:a16="http://schemas.microsoft.com/office/drawing/2014/main" id="{88E5F0FE-641B-4D18-B320-9BAF6108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24128"/>
            <a:ext cx="23317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3" name="Shape 924">
            <a:extLst xmlns:a="http://schemas.openxmlformats.org/drawingml/2006/main">
              <a:ext uri="{FF2B5EF4-FFF2-40B4-BE49-F238E27FC236}">
                <a16:creationId xmlns:a16="http://schemas.microsoft.com/office/drawing/2014/main" id="{F8557D66-3C38-4389-8D17-61DFD322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78992"/>
            <a:ext cx="23317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Entrega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5" name="Shape 926">
            <a:extLst xmlns:a="http://schemas.openxmlformats.org/drawingml/2006/main">
              <a:ext uri="{FF2B5EF4-FFF2-40B4-BE49-F238E27FC236}">
                <a16:creationId xmlns:a16="http://schemas.microsoft.com/office/drawing/2014/main" id="{C18B483B-54CF-42D4-AE9A-904AD1AA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16736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ourier New"/>
              <a:buNone/>
            </a:pPr>
            <a:r>
              <a:rPr sz="1250" b="1" i="0" u="none" cap="none">
                <a:solidFill>
                  <a:srgbClr val="4F46E5"/>
                </a:solidFill>
                <a:latin typeface="Courier New"/>
                <a:ea typeface="Courier New"/>
                <a:cs typeface="Courier New"/>
              </a:rPr>
              <a:t>15 × 48</a:t>
            </a:r>
            <a:endParaRPr sz="125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27" name="Shape 928">
            <a:extLst xmlns:a="http://schemas.openxmlformats.org/drawingml/2006/main">
              <a:ext uri="{FF2B5EF4-FFF2-40B4-BE49-F238E27FC236}">
                <a16:creationId xmlns:a16="http://schemas.microsoft.com/office/drawing/2014/main" id="{E18BE704-6EFE-40EE-97EA-0D39CCA1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83664"/>
            <a:ext cx="813816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9" name="Shape 930">
            <a:extLst xmlns:a="http://schemas.openxmlformats.org/drawingml/2006/main">
              <a:ext uri="{FF2B5EF4-FFF2-40B4-BE49-F238E27FC236}">
                <a16:creationId xmlns:a16="http://schemas.microsoft.com/office/drawing/2014/main" id="{7F56752C-B858-40BD-8EDF-209A520F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11680"/>
            <a:ext cx="75895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Qué hace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1" name="Shape 932">
            <a:extLst xmlns:a="http://schemas.openxmlformats.org/drawingml/2006/main">
              <a:ext uri="{FF2B5EF4-FFF2-40B4-BE49-F238E27FC236}">
                <a16:creationId xmlns:a16="http://schemas.microsoft.com/office/drawing/2014/main" id="{27147795-FC8E-4207-BB25-4C93A66B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86000"/>
            <a:ext cx="7626096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Recorre los quince frames en orden, aplicando en cada paso las tres compuertas que vimos: qué olvidar, qué incorporar y qué pasar al frame siguiente. Comprime las 1.662 coordenadas crudas de cada frame a 48 valores que describen el movimiento en ese instante.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3" name="Shape 934">
            <a:extLst xmlns:a="http://schemas.openxmlformats.org/drawingml/2006/main">
              <a:ext uri="{FF2B5EF4-FFF2-40B4-BE49-F238E27FC236}">
                <a16:creationId xmlns:a16="http://schemas.microsoft.com/office/drawing/2014/main" id="{0929C43E-26E2-470A-96E0-A897E221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18688"/>
            <a:ext cx="5074920" cy="1170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5" name="Shape 936">
            <a:extLst xmlns:a="http://schemas.openxmlformats.org/drawingml/2006/main">
              <a:ext uri="{FF2B5EF4-FFF2-40B4-BE49-F238E27FC236}">
                <a16:creationId xmlns:a16="http://schemas.microsoft.com/office/drawing/2014/main" id="{9705AD50-5A1E-4FF5-9A08-6083CE59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34670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Por qué así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7" name="Shape 938">
            <a:extLst xmlns:a="http://schemas.openxmlformats.org/drawingml/2006/main">
              <a:ext uri="{FF2B5EF4-FFF2-40B4-BE49-F238E27FC236}">
                <a16:creationId xmlns:a16="http://schemas.microsoft.com/office/drawing/2014/main" id="{50215A7E-4424-42B5-9691-D0E9974D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602736"/>
            <a:ext cx="4645152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Lleva return_sequences=True: entrega la secuencia completa y no solo el último paso. Tiene que ser así porque su salida alimenta a otra LSTM, que necesita una secuencia para recorrer.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9" name="Shape 940">
            <a:extLst xmlns:a="http://schemas.openxmlformats.org/drawingml/2006/main">
              <a:ext uri="{FF2B5EF4-FFF2-40B4-BE49-F238E27FC236}">
                <a16:creationId xmlns:a16="http://schemas.microsoft.com/office/drawing/2014/main" id="{D973A0A5-20CB-48AC-9798-09DCF9C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218688"/>
            <a:ext cx="28346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1" name="Shape 942">
            <a:extLst xmlns:a="http://schemas.openxmlformats.org/drawingml/2006/main">
              <a:ext uri="{FF2B5EF4-FFF2-40B4-BE49-F238E27FC236}">
                <a16:creationId xmlns:a16="http://schemas.microsoft.com/office/drawing/2014/main" id="{10286FC3-C9E2-481F-BBF0-FF81108A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346704"/>
            <a:ext cx="246888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Regularización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3" name="Shape 944">
            <a:extLst xmlns:a="http://schemas.openxmlformats.org/drawingml/2006/main">
              <a:ext uri="{FF2B5EF4-FFF2-40B4-BE49-F238E27FC236}">
                <a16:creationId xmlns:a16="http://schemas.microsoft.com/office/drawing/2014/main" id="{C832FC0C-295D-4100-A592-911C6937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02736"/>
            <a:ext cx="2450592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dropout 0,25 en las entradas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24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recurrent_dropout 0,15 en la memoria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24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L2 0,003 · luego BN y Dropout 0,3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02" name="Shape 8002">
            <a:extLst xmlns:a="http://schemas.openxmlformats.org/drawingml/2006/main">
              <a:ext uri="{FF2B5EF4-FFF2-40B4-BE49-F238E27FC236}">
                <a16:creationId xmlns:a16="http://schemas.microsoft.com/office/drawing/2014/main" id="{10917AB3-C24F-4826-85BF-B94F602A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37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26647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05" name="Google Shape;108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d66732f3dd46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5" name="Shape 946">
            <a:extLst xmlns:a="http://schemas.openxmlformats.org/drawingml/2006/main">
              <a:ext uri="{FF2B5EF4-FFF2-40B4-BE49-F238E27FC236}">
                <a16:creationId xmlns:a16="http://schemas.microsoft.com/office/drawing/2014/main" id="{B3E05A41-AD09-4E59-A3DE-3EBABB8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Capa 2 — LSTM de 64 unidades</a:t>
            </a:r>
            <a:endParaRPr sz="260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47" name="Shape 948">
            <a:extLst xmlns:a="http://schemas.openxmlformats.org/drawingml/2006/main">
              <a:ext uri="{FF2B5EF4-FFF2-40B4-BE49-F238E27FC236}">
                <a16:creationId xmlns:a16="http://schemas.microsoft.com/office/drawing/2014/main" id="{8ABDAFA1-AC49-43EF-9710-A4CAD5F0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Condensa toda la secuencia en un único vector: acá desaparece el tiempo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9" name="Shape 950">
            <a:extLst xmlns:a="http://schemas.openxmlformats.org/drawingml/2006/main">
              <a:ext uri="{FF2B5EF4-FFF2-40B4-BE49-F238E27FC236}">
                <a16:creationId xmlns:a16="http://schemas.microsoft.com/office/drawing/2014/main" id="{F8162900-D3B0-4C2F-8EC9-39B65979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1" name="Shape 952">
            <a:extLst xmlns:a="http://schemas.openxmlformats.org/drawingml/2006/main">
              <a:ext uri="{FF2B5EF4-FFF2-40B4-BE49-F238E27FC236}">
                <a16:creationId xmlns:a16="http://schemas.microsoft.com/office/drawing/2014/main" id="{1AE4A8CF-BA40-41E3-9942-8E6F27F3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23317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3" name="Shape 954">
            <a:extLst xmlns:a="http://schemas.openxmlformats.org/drawingml/2006/main">
              <a:ext uri="{FF2B5EF4-FFF2-40B4-BE49-F238E27FC236}">
                <a16:creationId xmlns:a16="http://schemas.microsoft.com/office/drawing/2014/main" id="{9005BC9E-2805-4881-9B07-6A58FC3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78992"/>
            <a:ext cx="23317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Recibe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5" name="Shape 956">
            <a:extLst xmlns:a="http://schemas.openxmlformats.org/drawingml/2006/main">
              <a:ext uri="{FF2B5EF4-FFF2-40B4-BE49-F238E27FC236}">
                <a16:creationId xmlns:a16="http://schemas.microsoft.com/office/drawing/2014/main" id="{901D94B0-3007-481D-8679-33B62CF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16736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ourier New"/>
              <a:buNone/>
            </a:pPr>
            <a:r>
              <a:rPr sz="1250" b="1" i="0" u="none" cap="none">
                <a:solidFill>
                  <a:srgbClr val="312E81"/>
                </a:solidFill>
                <a:latin typeface="Courier New"/>
                <a:ea typeface="Courier New"/>
                <a:cs typeface="Courier New"/>
              </a:rPr>
              <a:t>15 × 48</a:t>
            </a:r>
            <a:endParaRPr sz="125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57" name="Shape 958">
            <a:extLst xmlns:a="http://schemas.openxmlformats.org/drawingml/2006/main">
              <a:ext uri="{FF2B5EF4-FFF2-40B4-BE49-F238E27FC236}">
                <a16:creationId xmlns:a16="http://schemas.microsoft.com/office/drawing/2014/main" id="{BA88861B-6E96-4B52-B393-096353F3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024128"/>
            <a:ext cx="4572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9" name="Shape 960">
            <a:extLst xmlns:a="http://schemas.openxmlformats.org/drawingml/2006/main">
              <a:ext uri="{FF2B5EF4-FFF2-40B4-BE49-F238E27FC236}">
                <a16:creationId xmlns:a16="http://schemas.microsoft.com/office/drawing/2014/main" id="{6DCB862D-D4AE-4AF0-836F-50E19330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024128"/>
            <a:ext cx="2377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9525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1" name="Shape 962">
            <a:extLst xmlns:a="http://schemas.openxmlformats.org/drawingml/2006/main">
              <a:ext uri="{FF2B5EF4-FFF2-40B4-BE49-F238E27FC236}">
                <a16:creationId xmlns:a16="http://schemas.microsoft.com/office/drawing/2014/main" id="{B025468F-40F6-42A0-B2CE-B718FB2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024128"/>
            <a:ext cx="23774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LSTM de 64 unidades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3" name="Shape 964">
            <a:extLst xmlns:a="http://schemas.openxmlformats.org/drawingml/2006/main">
              <a:ext uri="{FF2B5EF4-FFF2-40B4-BE49-F238E27FC236}">
                <a16:creationId xmlns:a16="http://schemas.microsoft.com/office/drawing/2014/main" id="{D15A95F2-9F7F-487D-962E-5C6B7B75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1024128"/>
            <a:ext cx="4572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5" name="Shape 966">
            <a:extLst xmlns:a="http://schemas.openxmlformats.org/drawingml/2006/main">
              <a:ext uri="{FF2B5EF4-FFF2-40B4-BE49-F238E27FC236}">
                <a16:creationId xmlns:a16="http://schemas.microsoft.com/office/drawing/2014/main" id="{868C3DE6-0210-4CF8-8ED8-6D9AC391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24128"/>
            <a:ext cx="23317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7" name="Shape 968">
            <a:extLst xmlns:a="http://schemas.openxmlformats.org/drawingml/2006/main">
              <a:ext uri="{FF2B5EF4-FFF2-40B4-BE49-F238E27FC236}">
                <a16:creationId xmlns:a16="http://schemas.microsoft.com/office/drawing/2014/main" id="{4F6EF58E-EB31-4B65-A857-90EB9FC5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78992"/>
            <a:ext cx="23317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Entrega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9" name="Shape 970">
            <a:extLst xmlns:a="http://schemas.openxmlformats.org/drawingml/2006/main">
              <a:ext uri="{FF2B5EF4-FFF2-40B4-BE49-F238E27FC236}">
                <a16:creationId xmlns:a16="http://schemas.microsoft.com/office/drawing/2014/main" id="{AE3CB05D-10D2-49E9-8868-A0660017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16736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ourier New"/>
              <a:buNone/>
            </a:pPr>
            <a:r>
              <a:rPr sz="1250" b="1" i="0" u="none" cap="none">
                <a:solidFill>
                  <a:srgbClr val="4F46E5"/>
                </a:solidFill>
                <a:latin typeface="Courier New"/>
                <a:ea typeface="Courier New"/>
                <a:cs typeface="Courier New"/>
              </a:rPr>
              <a:t>64</a:t>
            </a:r>
            <a:endParaRPr sz="125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71" name="Shape 972">
            <a:extLst xmlns:a="http://schemas.openxmlformats.org/drawingml/2006/main">
              <a:ext uri="{FF2B5EF4-FFF2-40B4-BE49-F238E27FC236}">
                <a16:creationId xmlns:a16="http://schemas.microsoft.com/office/drawing/2014/main" id="{7294A3B2-2EDE-4842-A7A6-D619006F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83664"/>
            <a:ext cx="813816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3" name="Shape 974">
            <a:extLst xmlns:a="http://schemas.openxmlformats.org/drawingml/2006/main">
              <a:ext uri="{FF2B5EF4-FFF2-40B4-BE49-F238E27FC236}">
                <a16:creationId xmlns:a16="http://schemas.microsoft.com/office/drawing/2014/main" id="{009ED5A1-4776-4BEB-BFCA-9299CD4D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11680"/>
            <a:ext cx="75895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Qué hace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5" name="Shape 976">
            <a:extLst xmlns:a="http://schemas.openxmlformats.org/drawingml/2006/main">
              <a:ext uri="{FF2B5EF4-FFF2-40B4-BE49-F238E27FC236}">
                <a16:creationId xmlns:a16="http://schemas.microsoft.com/office/drawing/2014/main" id="{76395152-3755-44A3-AD15-549727E9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86000"/>
            <a:ext cx="7626096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Vuelve a recorrer la secuencia, ahora sobre los rasgos que resumió la capa anterior, y entrega solamente el estado del último paso. Ese vector de 64 valores ya no representa un frame: representa la seña completa, con su trayectoria.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7" name="Shape 978">
            <a:extLst xmlns:a="http://schemas.openxmlformats.org/drawingml/2006/main">
              <a:ext uri="{FF2B5EF4-FFF2-40B4-BE49-F238E27FC236}">
                <a16:creationId xmlns:a16="http://schemas.microsoft.com/office/drawing/2014/main" id="{D38D4033-8924-4B4E-BFF9-1C13A15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18688"/>
            <a:ext cx="5074920" cy="1170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9" name="Shape 980">
            <a:extLst xmlns:a="http://schemas.openxmlformats.org/drawingml/2006/main">
              <a:ext uri="{FF2B5EF4-FFF2-40B4-BE49-F238E27FC236}">
                <a16:creationId xmlns:a16="http://schemas.microsoft.com/office/drawing/2014/main" id="{9E339C9C-1C2D-4CED-95D0-B6A268B5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34670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Por qué así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1" name="Shape 982">
            <a:extLst xmlns:a="http://schemas.openxmlformats.org/drawingml/2006/main">
              <a:ext uri="{FF2B5EF4-FFF2-40B4-BE49-F238E27FC236}">
                <a16:creationId xmlns:a16="http://schemas.microsoft.com/office/drawing/2014/main" id="{98C4AE45-DE34-474F-9F78-A927B35B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602736"/>
            <a:ext cx="4645152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Lleva return_sequences=False porque es la última capa que trabaja sobre el tiempo. Tiene más unidades que la primera porque debe describir la seña entera, no un solo frame.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3" name="Shape 984">
            <a:extLst xmlns:a="http://schemas.openxmlformats.org/drawingml/2006/main">
              <a:ext uri="{FF2B5EF4-FFF2-40B4-BE49-F238E27FC236}">
                <a16:creationId xmlns:a16="http://schemas.microsoft.com/office/drawing/2014/main" id="{0ECE432E-0E05-4A01-9D57-3D56A12A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218688"/>
            <a:ext cx="28346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5" name="Shape 986">
            <a:extLst xmlns:a="http://schemas.openxmlformats.org/drawingml/2006/main">
              <a:ext uri="{FF2B5EF4-FFF2-40B4-BE49-F238E27FC236}">
                <a16:creationId xmlns:a16="http://schemas.microsoft.com/office/drawing/2014/main" id="{FE2B5A8E-1F3F-4D1A-B15C-6D904BE4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346704"/>
            <a:ext cx="246888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Regularización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7" name="Shape 988">
            <a:extLst xmlns:a="http://schemas.openxmlformats.org/drawingml/2006/main">
              <a:ext uri="{FF2B5EF4-FFF2-40B4-BE49-F238E27FC236}">
                <a16:creationId xmlns:a16="http://schemas.microsoft.com/office/drawing/2014/main" id="{55013819-D0F6-46AC-A83B-5665CFD6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02736"/>
            <a:ext cx="2450592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dropout 0,25 en las entradas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24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recurrent_dropout 0,15 en la memoria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24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L2 0,003 · luego BN y Dropout 0,35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03" name="Shape 8003">
            <a:extLst xmlns:a="http://schemas.openxmlformats.org/drawingml/2006/main">
              <a:ext uri="{FF2B5EF4-FFF2-40B4-BE49-F238E27FC236}">
                <a16:creationId xmlns:a16="http://schemas.microsoft.com/office/drawing/2014/main" id="{D8789999-6D01-4914-A5E4-84E0900A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38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48164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07" name="Google Shape;108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4637d45ffd422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3" name="Shape 1034">
            <a:extLst xmlns:a="http://schemas.openxmlformats.org/drawingml/2006/main">
              <a:ext uri="{FF2B5EF4-FFF2-40B4-BE49-F238E27FC236}">
                <a16:creationId xmlns:a16="http://schemas.microsoft.com/office/drawing/2014/main" id="{2C76BDD2-CE1A-474A-B225-220FFFEF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Capa 4 — Dense de 32 neuronas, y la salida</a:t>
            </a:r>
            <a:endParaRPr sz="2600" b="0" i="0" u="none" cap="none">
              <a:solidFill>
                <a:schemeClr val="dk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035" name="Shape 1036">
            <a:extLst xmlns:a="http://schemas.openxmlformats.org/drawingml/2006/main">
              <a:ext uri="{FF2B5EF4-FFF2-40B4-BE49-F238E27FC236}">
                <a16:creationId xmlns:a16="http://schemas.microsoft.com/office/drawing/2014/main" id="{78D1ED96-92B6-4F50-B6A8-CFF28C06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Estrecha la representación y la convierte en probabilidades por palabra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7" name="Shape 1038">
            <a:extLst xmlns:a="http://schemas.openxmlformats.org/drawingml/2006/main">
              <a:ext uri="{FF2B5EF4-FFF2-40B4-BE49-F238E27FC236}">
                <a16:creationId xmlns:a16="http://schemas.microsoft.com/office/drawing/2014/main" id="{F4705F78-3DCC-4E91-85BE-B3B52371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9" name="Shape 1040">
            <a:extLst xmlns:a="http://schemas.openxmlformats.org/drawingml/2006/main">
              <a:ext uri="{FF2B5EF4-FFF2-40B4-BE49-F238E27FC236}">
                <a16:creationId xmlns:a16="http://schemas.microsoft.com/office/drawing/2014/main" id="{E20D5D65-F5C6-46FF-83B5-3C26202A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23317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1" name="Shape 1042">
            <a:extLst xmlns:a="http://schemas.openxmlformats.org/drawingml/2006/main">
              <a:ext uri="{FF2B5EF4-FFF2-40B4-BE49-F238E27FC236}">
                <a16:creationId xmlns:a16="http://schemas.microsoft.com/office/drawing/2014/main" id="{112A5FD4-7AD0-48D5-A517-9CCB629B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78992"/>
            <a:ext cx="23317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Recibe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3" name="Shape 1044">
            <a:extLst xmlns:a="http://schemas.openxmlformats.org/drawingml/2006/main">
              <a:ext uri="{FF2B5EF4-FFF2-40B4-BE49-F238E27FC236}">
                <a16:creationId xmlns:a16="http://schemas.microsoft.com/office/drawing/2014/main" id="{A35A85DC-9C63-435D-8A83-A2BFB481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16736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ourier New"/>
              <a:buNone/>
            </a:pPr>
            <a:r>
              <a:rPr sz="1250" b="1" i="0" u="none" cap="none">
                <a:solidFill>
                  <a:srgbClr val="312E81"/>
                </a:solidFill>
                <a:latin typeface="Courier New"/>
                <a:ea typeface="Courier New"/>
                <a:cs typeface="Courier New"/>
              </a:rPr>
              <a:t>64</a:t>
            </a:r>
            <a:endParaRPr sz="125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45" name="Shape 1046">
            <a:extLst xmlns:a="http://schemas.openxmlformats.org/drawingml/2006/main">
              <a:ext uri="{FF2B5EF4-FFF2-40B4-BE49-F238E27FC236}">
                <a16:creationId xmlns:a16="http://schemas.microsoft.com/office/drawing/2014/main" id="{C4C905A0-920C-4032-83F2-3B29DD91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024128"/>
            <a:ext cx="4572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7" name="Shape 1048">
            <a:extLst xmlns:a="http://schemas.openxmlformats.org/drawingml/2006/main">
              <a:ext uri="{FF2B5EF4-FFF2-40B4-BE49-F238E27FC236}">
                <a16:creationId xmlns:a16="http://schemas.microsoft.com/office/drawing/2014/main" id="{AA75A75D-C1E6-4A0C-ACDD-A0167844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024128"/>
            <a:ext cx="2377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9525" cmpd="sng">
            <a:solidFill>
              <a:srgbClr val="312E8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9" name="Shape 1050">
            <a:extLst xmlns:a="http://schemas.openxmlformats.org/drawingml/2006/main">
              <a:ext uri="{FF2B5EF4-FFF2-40B4-BE49-F238E27FC236}">
                <a16:creationId xmlns:a16="http://schemas.microsoft.com/office/drawing/2014/main" id="{F3B5C923-6673-4F23-8B1E-8C364E5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024128"/>
            <a:ext cx="23774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Dense de 32 neuronas, y la salida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1" name="Shape 1052">
            <a:extLst xmlns:a="http://schemas.openxmlformats.org/drawingml/2006/main">
              <a:ext uri="{FF2B5EF4-FFF2-40B4-BE49-F238E27FC236}">
                <a16:creationId xmlns:a16="http://schemas.microsoft.com/office/drawing/2014/main" id="{CB8B23C2-0C33-44C3-AB20-49522419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1024128"/>
            <a:ext cx="4572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EB2C8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AEB2C8"/>
                </a:solidFill>
                <a:latin typeface="Calibri"/>
                <a:ea typeface="Calibri"/>
                <a:cs typeface="Calibri"/>
              </a:rPr>
              <a:t>→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3" name="Shape 1054">
            <a:extLst xmlns:a="http://schemas.openxmlformats.org/drawingml/2006/main">
              <a:ext uri="{FF2B5EF4-FFF2-40B4-BE49-F238E27FC236}">
                <a16:creationId xmlns:a16="http://schemas.microsoft.com/office/drawing/2014/main" id="{43F6F228-1150-4DB7-BFFA-A25D8508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24128"/>
            <a:ext cx="23317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5" name="Shape 1056">
            <a:extLst xmlns:a="http://schemas.openxmlformats.org/drawingml/2006/main">
              <a:ext uri="{FF2B5EF4-FFF2-40B4-BE49-F238E27FC236}">
                <a16:creationId xmlns:a16="http://schemas.microsoft.com/office/drawing/2014/main" id="{EBD4452A-0704-4420-9B2F-BC6E1955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78992"/>
            <a:ext cx="23317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Entrega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7" name="Shape 1058">
            <a:extLst xmlns:a="http://schemas.openxmlformats.org/drawingml/2006/main">
              <a:ext uri="{FF2B5EF4-FFF2-40B4-BE49-F238E27FC236}">
                <a16:creationId xmlns:a16="http://schemas.microsoft.com/office/drawing/2014/main" id="{72369B64-27B4-4543-8AF4-3250A4E9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16736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ourier New"/>
              <a:buNone/>
            </a:pPr>
            <a:r>
              <a:rPr sz="1250" b="1" i="0" u="none" cap="none">
                <a:solidFill>
                  <a:srgbClr val="4F46E5"/>
                </a:solidFill>
                <a:latin typeface="Courier New"/>
                <a:ea typeface="Courier New"/>
                <a:cs typeface="Courier New"/>
              </a:rPr>
              <a:t>32 → n</a:t>
            </a:r>
            <a:endParaRPr sz="1250" b="0" i="0" u="none" cap="none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59" name="Shape 1060">
            <a:extLst xmlns:a="http://schemas.openxmlformats.org/drawingml/2006/main">
              <a:ext uri="{FF2B5EF4-FFF2-40B4-BE49-F238E27FC236}">
                <a16:creationId xmlns:a16="http://schemas.microsoft.com/office/drawing/2014/main" id="{87CD5022-AA21-4C84-8662-580636B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83664"/>
            <a:ext cx="813816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1" name="Shape 1062">
            <a:extLst xmlns:a="http://schemas.openxmlformats.org/drawingml/2006/main">
              <a:ext uri="{FF2B5EF4-FFF2-40B4-BE49-F238E27FC236}">
                <a16:creationId xmlns:a16="http://schemas.microsoft.com/office/drawing/2014/main" id="{C85131DC-12D0-4412-AB1E-2C9FA88E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11680"/>
            <a:ext cx="758952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Qué hace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3" name="Shape 1064">
            <a:extLst xmlns:a="http://schemas.openxmlformats.org/drawingml/2006/main">
              <a:ext uri="{FF2B5EF4-FFF2-40B4-BE49-F238E27FC236}">
                <a16:creationId xmlns:a16="http://schemas.microsoft.com/office/drawing/2014/main" id="{E90BCC18-634B-4358-B3ED-B38057FA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86000"/>
            <a:ext cx="7626096" cy="7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Reduce de 64 a 32 valores: es un embudo que obliga a la red a quedarse solo con lo que sirve para decidir. De ahí pasa a la capa de salida, que tiene una neurona por cada palabra del vocabulario y aplica softmax, la función que convierte esos números en probabilidades que suman uno.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5" name="Shape 1066">
            <a:extLst xmlns:a="http://schemas.openxmlformats.org/drawingml/2006/main">
              <a:ext uri="{FF2B5EF4-FFF2-40B4-BE49-F238E27FC236}">
                <a16:creationId xmlns:a16="http://schemas.microsoft.com/office/drawing/2014/main" id="{9A036FF9-EE46-46AE-870A-91E7573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18688"/>
            <a:ext cx="5074920" cy="1170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7" name="Shape 1068">
            <a:extLst xmlns:a="http://schemas.openxmlformats.org/drawingml/2006/main">
              <a:ext uri="{FF2B5EF4-FFF2-40B4-BE49-F238E27FC236}">
                <a16:creationId xmlns:a16="http://schemas.microsoft.com/office/drawing/2014/main" id="{39709FF7-2D93-4FBC-B4D8-328842AE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346704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Por qué así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9" name="Shape 1070">
            <a:extLst xmlns:a="http://schemas.openxmlformats.org/drawingml/2006/main">
              <a:ext uri="{FF2B5EF4-FFF2-40B4-BE49-F238E27FC236}">
                <a16:creationId xmlns:a16="http://schemas.microsoft.com/office/drawing/2014/main" id="{13D024C3-5CEA-4330-8878-58841C68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602736"/>
            <a:ext cx="4645152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Es la última capa antes de la salida, por eso ya no lleva dropout: apagar neuronas justo antes de decidir agregaría ruido a la predicción en lugar de evitar la memorización.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1" name="Shape 1072">
            <a:extLst xmlns:a="http://schemas.openxmlformats.org/drawingml/2006/main">
              <a:ext uri="{FF2B5EF4-FFF2-40B4-BE49-F238E27FC236}">
                <a16:creationId xmlns:a16="http://schemas.microsoft.com/office/drawing/2014/main" id="{A79C584E-879A-4D27-A0C6-8CE4C2B5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218688"/>
            <a:ext cx="28346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buNone/>
            </a:pP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3" name="Shape 1074">
            <a:extLst xmlns:a="http://schemas.openxmlformats.org/drawingml/2006/main">
              <a:ext uri="{FF2B5EF4-FFF2-40B4-BE49-F238E27FC236}">
                <a16:creationId xmlns:a16="http://schemas.microsoft.com/office/drawing/2014/main" id="{E7DFC2AD-4416-4522-8826-4215B08B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346704"/>
            <a:ext cx="246888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Regularización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5" name="Shape 1076">
            <a:extLst xmlns:a="http://schemas.openxmlformats.org/drawingml/2006/main">
              <a:ext uri="{FF2B5EF4-FFF2-40B4-BE49-F238E27FC236}">
                <a16:creationId xmlns:a16="http://schemas.microsoft.com/office/drawing/2014/main" id="{61B74259-34B9-46B1-87E6-39176DEC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02736"/>
            <a:ext cx="2450592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L2 0,003 en los pesos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24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Sin dropout ni BN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02000"/>
              </a:lnSpc>
              <a:spcBef>
                <a:spcPts val="240"/>
              </a:spcBef>
              <a:spcAft>
                <a:spcPts val="0"/>
              </a:spcAft>
              <a:buClr>
                <a:srgbClr val="222235"/>
              </a:buClr>
              <a:buSzPts val="1050"/>
              <a:buFont typeface="Calibri"/>
              <a:buChar char="•"/>
            </a:pPr>
            <a:r>
              <a:rPr sz="10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Salida: softmax sobre n palabras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05" name="Shape 8005">
            <a:extLst xmlns:a="http://schemas.openxmlformats.org/drawingml/2006/main">
              <a:ext uri="{FF2B5EF4-FFF2-40B4-BE49-F238E27FC236}">
                <a16:creationId xmlns:a16="http://schemas.microsoft.com/office/drawing/2014/main" id="{1C28FBCE-66AC-4E00-9D9E-2DD00B48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39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1904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1" name="Google Shape;921;g3f6d8aeb3c0_0_0">
            <a:extLst xmlns:a="http://schemas.openxmlformats.org/drawingml/2006/main">
              <a:ext uri="{FF2B5EF4-FFF2-40B4-BE49-F238E27FC236}">
                <a16:creationId xmlns:a16="http://schemas.microsoft.com/office/drawing/2014/main" id="{800305D6-EE28-40CB-84EA-B23E55A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"/>
            <a:ext cx="758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312E81"/>
                </a:solidFill>
                <a:latin typeface="Cambria"/>
                <a:ea typeface="Cambria"/>
                <a:cs typeface="Cambria"/>
              </a:rPr>
              <a:t>Accuracy del Modelo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2" name="Google Shape;922;g3f6d8aeb3c0_0_0">
            <a:extLst xmlns:a="http://schemas.openxmlformats.org/drawingml/2006/main">
              <a:ext uri="{FF2B5EF4-FFF2-40B4-BE49-F238E27FC236}">
                <a16:creationId xmlns:a16="http://schemas.microsoft.com/office/drawing/2014/main" id="{B0E3936D-C738-4CA4-B2D0-9B0C3D4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75894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6B7086"/>
                </a:solidFill>
                <a:latin typeface="Calibri"/>
                <a:ea typeface="Calibri"/>
                <a:cs typeface="Calibri"/>
              </a:rPr>
              <a:t>Caso de estudio cuantitativo — Capítulo 6 de la tesis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57" name="Google Shape;923;g3f6d8aeb3c0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8b808065654b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57032" y="182880"/>
            <a:ext cx="365760" cy="548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4" name="Google Shape;924;g3f6d8aeb3c0_0_0">
            <a:extLst xmlns:a="http://schemas.openxmlformats.org/drawingml/2006/main">
              <a:ext uri="{FF2B5EF4-FFF2-40B4-BE49-F238E27FC236}">
                <a16:creationId xmlns:a16="http://schemas.microsoft.com/office/drawing/2014/main" id="{84806CED-C622-4607-8876-F1228E41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3712"/>
            <a:ext cx="6402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5B60A0"/>
              </a:buClr>
              <a:buSzPts val="1800"/>
              <a:buFont typeface="Calibri"/>
              <a:buNone/>
            </a:pPr>
            <a:r>
              <a:rPr sz="1800" b="1" i="0" u="none" cap="none">
                <a:solidFill>
                  <a:srgbClr val="5B60A0"/>
                </a:solidFill>
                <a:latin typeface="Calibri"/>
                <a:ea typeface="Calibri"/>
                <a:cs typeface="Calibri"/>
              </a:rPr>
              <a:t>40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5" name="Google Shape;925;g3f6d8aeb3c0_0_0">
            <a:extLst xmlns:a="http://schemas.openxmlformats.org/drawingml/2006/main">
              <a:ext uri="{FF2B5EF4-FFF2-40B4-BE49-F238E27FC236}">
                <a16:creationId xmlns:a16="http://schemas.microsoft.com/office/drawing/2014/main" id="{5A63C0B6-D9FE-44F4-8D22-C9E83B4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1148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C4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A6AAC4"/>
                </a:solidFill>
                <a:latin typeface="Calibri"/>
                <a:ea typeface="Calibri"/>
                <a:cs typeface="Calibri"/>
              </a:rPr>
              <a:t>Pojoaju  ·  Trabajo Final de Grado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6" name="Google Shape;926;g3f6d8aeb3c0_0_0">
            <a:extLst xmlns:a="http://schemas.openxmlformats.org/drawingml/2006/main">
              <a:ext uri="{FF2B5EF4-FFF2-40B4-BE49-F238E27FC236}">
                <a16:creationId xmlns:a16="http://schemas.microsoft.com/office/drawing/2014/main" id="{D435E614-49F9-4199-8ECF-A7712212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50" y="1118025"/>
            <a:ext cx="8138100" cy="76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3D7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7" name="Google Shape;927;g3f6d8aeb3c0_0_0">
            <a:extLst xmlns:a="http://schemas.openxmlformats.org/drawingml/2006/main">
              <a:ext uri="{FF2B5EF4-FFF2-40B4-BE49-F238E27FC236}">
                <a16:creationId xmlns:a16="http://schemas.microsoft.com/office/drawing/2014/main" id="{57AC5967-BA86-42EB-8016-DFE4562E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02" y="1202805"/>
            <a:ext cx="7589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12E81"/>
                </a:solidFill>
                <a:latin typeface="Calibri"/>
                <a:ea typeface="Calibri"/>
                <a:cs typeface="Calibri"/>
              </a:rPr>
              <a:t>Objetivo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8" name="Google Shape;928;g3f6d8aeb3c0_0_0">
            <a:extLst xmlns:a="http://schemas.openxmlformats.org/drawingml/2006/main">
              <a:ext uri="{FF2B5EF4-FFF2-40B4-BE49-F238E27FC236}">
                <a16:creationId xmlns:a16="http://schemas.microsoft.com/office/drawing/2014/main" id="{A177C2A9-ADC5-4B0B-9535-7C318232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00" y="1495418"/>
            <a:ext cx="7626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22235"/>
                </a:solidFill>
                <a:latin typeface="Calibri"/>
                <a:ea typeface="Calibri"/>
                <a:cs typeface="Calibri"/>
              </a:rPr>
              <a:t>Medir qué tan bien reconoce el modelo las señas sobre datos no utilizados directamente para el entrenamiento.</a:t>
            </a:r>
            <a:endParaRPr sz="1150" b="0" i="0" u="none" cap="none">
              <a:solidFill>
                <a:srgbClr val="22223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63" name="Google Shape;929;g3f6d8aeb3c0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80b76203934d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2950" y="2214793"/>
            <a:ext cx="25717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964" name="Google Shape;930;g3f6d8aeb3c0_0_0"/>
          <p:cNvCxnSpPr>
            <a:stCxn xmlns:a="http://schemas.openxmlformats.org/drawingml/2006/main" id="929" idx="3"/>
          </p:cNvCxnSpPr>
          <p:nvPr/>
        </p:nvCxnSpPr>
        <p:spPr>
          <a:xfrm xmlns:a="http://schemas.openxmlformats.org/drawingml/2006/main">
            <a:off x="3074700" y="2443393"/>
            <a:ext cx="653400" cy="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5B60A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965" name="Google Shape;931;g3f6d8aeb3c0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83019e31ac4a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71700" y="2214799"/>
            <a:ext cx="1580034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966" name="Google Shape;932;g3f6d8aeb3c0_0_0"/>
          <p:cNvCxnSpPr/>
          <p:nvPr/>
        </p:nvCxnSpPr>
        <p:spPr>
          <a:xfrm xmlns:a="http://schemas.openxmlformats.org/drawingml/2006/main">
            <a:off x="5451725" y="2443393"/>
            <a:ext cx="653400" cy="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5B60A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967" name="Google Shape;933;g3f6d8aeb3c0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1515b6103746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8725" y="2192074"/>
            <a:ext cx="1523167" cy="502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34" name="Google Shape;934;g3f6d8aeb3c0_0_0">
            <a:extLst xmlns:a="http://schemas.openxmlformats.org/drawingml/2006/main">
              <a:ext uri="{FF2B5EF4-FFF2-40B4-BE49-F238E27FC236}">
                <a16:creationId xmlns:a16="http://schemas.microsoft.com/office/drawing/2014/main" id="{38B40E86-6917-4A9E-8AE5-21FC5E0F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50" y="2863275"/>
            <a:ext cx="8138100" cy="115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016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mbria"/>
              <a:buChar char="●"/>
            </a:pPr>
            <a:r>
              <a:rPr sz="1150" b="0" i="1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TP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 — True Positive: el video realmente era “</a:t>
            </a:r>
            <a:r>
              <a:rPr sz="11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HOLA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” y el modelo predijo “</a:t>
            </a:r>
            <a:r>
              <a:rPr sz="11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HOLA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”. </a:t>
            </a:r>
            <a:endParaRPr sz="1150" b="0" i="0" u="none" cap="none">
              <a:solidFill>
                <a:srgbClr val="222235"/>
              </a:solidFill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marR="0" lvl="0" indent="-3016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mbria"/>
              <a:buChar char="●"/>
            </a:pPr>
            <a:r>
              <a:rPr sz="1150" b="0" i="1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FP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 — False Positive: el video realmente era “</a:t>
            </a:r>
            <a:r>
              <a:rPr sz="11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CASA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”, pero el modelo dijo “</a:t>
            </a:r>
            <a:r>
              <a:rPr sz="11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HOLA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”. </a:t>
            </a:r>
            <a:endParaRPr sz="1150" b="0" i="0" u="none" cap="none">
              <a:solidFill>
                <a:srgbClr val="222235"/>
              </a:solidFill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marR="0" lvl="0" indent="-3016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mbria"/>
              <a:buChar char="●"/>
            </a:pPr>
            <a:r>
              <a:rPr sz="1150" b="0" i="1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FN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 — False Negative : el video realmente era “</a:t>
            </a:r>
            <a:r>
              <a:rPr sz="11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HOLA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”, pero el modelo dijo “</a:t>
            </a:r>
            <a:r>
              <a:rPr sz="11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CASA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”. </a:t>
            </a:r>
            <a:endParaRPr sz="1150" b="0" i="0" u="none" cap="none">
              <a:solidFill>
                <a:srgbClr val="222235"/>
              </a:solidFill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marR="0" lvl="0" indent="-3016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35"/>
              </a:buClr>
              <a:buSzPts val="1150"/>
              <a:buFont typeface="Cambria"/>
              <a:buChar char="●"/>
            </a:pPr>
            <a:r>
              <a:rPr sz="1150" b="0" i="1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TN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 — True Negative: el video no era “</a:t>
            </a:r>
            <a:r>
              <a:rPr sz="1150" b="0" i="1" u="none" cap="none">
                <a:solidFill>
                  <a:srgbClr val="222235"/>
                </a:solidFill>
                <a:latin typeface="Georgia"/>
                <a:ea typeface="Georgia"/>
                <a:cs typeface="Georgia"/>
              </a:rPr>
              <a:t>HOLA</a:t>
            </a:r>
            <a:r>
              <a:rPr sz="1150" b="0" i="0" u="none" cap="none">
                <a:solidFill>
                  <a:srgbClr val="222235"/>
                </a:solidFill>
                <a:latin typeface="Cambria"/>
                <a:ea typeface="Cambria"/>
                <a:cs typeface="Cambria"/>
              </a:rPr>
              <a:t>” y el modelo correctamente predijo otra seña.</a:t>
            </a:r>
            <a:endParaRPr sz="1150" b="0" i="0" u="none" cap="none">
              <a:solidFill>
                <a:srgbClr val="222235"/>
              </a:solidFill>
              <a:latin typeface="Cambria"/>
              <a:ea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580488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2026-08-21T02:14:20.0920000Z</dcterms:created>
  <dcterms:modified xsi:type="dcterms:W3CDTF">2026-08-21T02:14:20.0920000Z</dcterms:modified>
</coreProperties>
</file>